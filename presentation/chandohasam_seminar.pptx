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d1ac60b-28e4-b1f0-dce8-e948b1d3ece2}">
          <p14:sldIdLst>
            <p14:sldId id="256"/>
          </p14:sldIdLst>
        </p14:section>
        <p14:section name="Problem" id="{acc5eec8-e165-d0a3-7e2a-313fdea76194}">
          <p14:sldIdLst>
            <p14:sldId id="257"/>
            <p14:sldId id="258"/>
            <p14:sldId id="259"/>
            <p14:sldId id="260"/>
            <p14:sldId id="261"/>
          </p14:sldIdLst>
        </p14:section>
        <p14:section name="Chandassu" id="{66feea68-a656-f24b-79de-10bd1133b13d}">
          <p14:sldIdLst>
            <p14:sldId id="262"/>
            <p14:sldId id="263"/>
          </p14:sldIdLst>
        </p14:section>
        <p14:section name="Controller" id="{9b5ff890-3749-c41b-b926-d82d8dfdf952}">
          <p14:sldIdLst>
            <p14:sldId id="264"/>
            <p14:sldId id="267"/>
            <p14:sldId id="268"/>
            <p14:sldId id="269"/>
            <p14:sldId id="270"/>
          </p14:sldIdLst>
        </p14:section>
        <p14:section name="Data" id="{b62468f1-419b-5fcd-8cb3-86813cfb2117}">
          <p14:sldIdLst>
            <p14:sldId id="265"/>
            <p14:sldId id="266"/>
          </p14:sldIdLst>
        </p14:section>
        <p14:section name="Results" id="{28f62d63-2674-5189-f021-4e3e75c2d139}">
          <p14:sldIdLst>
            <p14:sldId id="271"/>
            <p14:sldId id="272"/>
          </p14:sldIdLst>
        </p14:section>
        <p14:section name="Pretraining" id="{6eb80da5-8495-f68b-8f71-7b64d5c7da0d}">
          <p14:sldIdLst>
            <p14:sldId id="273"/>
            <p14:sldId id="274"/>
          </p14:sldIdLst>
        </p14:section>
        <p14:section name="Evaluation" id="{deb14fac-1b0e-2067-0bb8-37170e707a6c}">
          <p14:sldIdLst>
            <p14:sldId id="275"/>
            <p14:sldId id="276"/>
            <p14:sldId id="277"/>
            <p14:sldId id="278"/>
          </p14:sldIdLst>
        </p14:section>
        <p14:section name="Road ahead" id="{f28efc28-2a20-552e-7ead-843f6c287448}">
          <p14:sldIdLst>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92B"/>
                </a:solidFill>
                <a:latin typeface="+mj-lt"/>
              </a:defRPr>
            </a:pPr>
            <a:r>
              <a:rPr sz="1300" b="0" i="0" u="none" strike="noStrike">
                <a:solidFill>
                  <a:srgbClr val="22192B"/>
                </a:solidFill>
                <a:latin typeface="+mj-lt"/>
              </a:rPr>
              <a:t>LaBSE Te–En gate (cosine ≥ 0.65): poems passing, %</a:t>
            </a:r>
          </a:p>
        </c:rich>
      </c:tx>
      <c:layout/>
      <c:overlay val="0"/>
    </c:title>
    <c:autoTitleDeleted val="0"/>
    <c:plotArea>
      <c:layout/>
      <c:barChart>
        <c:barDir val="col"/>
        <c:grouping val="clustered"/>
        <c:varyColors val="0"/>
        <c:ser>
          <c:idx val="0"/>
          <c:order val="0"/>
          <c:tx>
            <c:strRef>
              <c:f>Sheet1!$B$1</c:f>
              <c:strCache>
                <c:ptCount val="1"/>
                <c:pt idx="0">
                  <c:v>real pair</c:v>
                </c:pt>
              </c:strCache>
            </c:strRef>
          </c:tx>
          <c:spPr>
            <a:solidFill>
              <a:srgbClr val="7B2D43"/>
            </a:solidFill>
            <a:effectLst/>
          </c:spPr>
          <c:invertIfNegative val="0"/>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cat>
            <c:multiLvlStrRef>
              <c:f>Sheet1!$A$2:$A$5</c:f>
              <c:multiLvlStrCache>
                <c:ptCount val="4"/>
                <c:lvl>
                  <c:pt idx="0">
                    <c:v>Bhāgavatamu</c:v>
                  </c:pt>
                  <c:pt idx="1">
                    <c:v>Vemana</c:v>
                  </c:pt>
                  <c:pt idx="2">
                    <c:v>Kuchimanchi</c:v>
                  </c:pt>
                  <c:pt idx="3">
                    <c:v>Chandassu</c:v>
                  </c:pt>
                </c:lvl>
              </c:multiLvlStrCache>
            </c:multiLvlStrRef>
          </c:cat>
          <c:val>
            <c:numRef>
              <c:f>Sheet1!$B$2:$B$5</c:f>
              <c:numCache>
                <c:formatCode>General</c:formatCode>
                <c:ptCount val="4"/>
                <c:pt idx="0">
                  <c:v>90.2</c:v>
                </c:pt>
                <c:pt idx="1">
                  <c:v>98.4</c:v>
                </c:pt>
                <c:pt idx="2">
                  <c:v>97.7</c:v>
                </c:pt>
                <c:pt idx="3">
                  <c:v>96.4</c:v>
                </c:pt>
              </c:numCache>
            </c:numRef>
          </c:val>
        </c:ser>
        <c:ser>
          <c:idx val="1"/>
          <c:order val="1"/>
          <c:tx>
            <c:strRef>
              <c:f>Sheet1!$C$1</c:f>
              <c:strCache>
                <c:ptCount val="1"/>
                <c:pt idx="0">
                  <c:v>shuffled pair</c:v>
                </c:pt>
              </c:strCache>
            </c:strRef>
          </c:tx>
          <c:spPr>
            <a:solidFill>
              <a:srgbClr val="8E8797"/>
            </a:solidFill>
            <a:effectLst/>
          </c:spPr>
          <c:invertIfNegative val="0"/>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cat>
            <c:multiLvlStrRef>
              <c:f>Sheet1!$A$2:$A$5</c:f>
              <c:multiLvlStrCache>
                <c:ptCount val="4"/>
                <c:lvl>
                  <c:pt idx="0">
                    <c:v>Bhāgavatamu</c:v>
                  </c:pt>
                  <c:pt idx="1">
                    <c:v>Vemana</c:v>
                  </c:pt>
                  <c:pt idx="2">
                    <c:v>Kuchimanchi</c:v>
                  </c:pt>
                  <c:pt idx="3">
                    <c:v>Chandassu</c:v>
                  </c:pt>
                </c:lvl>
              </c:multiLvlStrCache>
            </c:multiLvlStrRef>
          </c:cat>
          <c:val>
            <c:numRef>
              <c:f>Sheet1!$C$2:$C$5</c:f>
              <c:numCache>
                <c:formatCode>General</c:formatCode>
                <c:ptCount val="4"/>
                <c:pt idx="0">
                  <c:v>0</c:v>
                </c:pt>
                <c:pt idx="1">
                  <c:v>0.1</c:v>
                </c:pt>
                <c:pt idx="2">
                  <c:v>0</c:v>
                </c:pt>
                <c:pt idx="3">
                  <c:v>0</c:v>
                </c:pt>
              </c:numCache>
            </c:numRef>
          </c:val>
        </c:ser>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3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1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366"/>
                </a:solidFill>
                <a:latin typeface="+mn-lt"/>
              </a:defRPr>
            </a:pPr>
            <a:endParaRPr lang="en-US"/>
          </a:p>
        </c:txPr>
        <c:crossAx val="2094734554"/>
        <c:crosses val="autoZero"/>
        <c:crossBetween val="between"/>
        <c:majorUnit val="25"/>
      </c:valAx>
      <c:spPr>
        <a:noFill/>
        <a:ln>
          <a:noFill/>
        </a:ln>
        <a:effectLst/>
      </c:spPr>
    </c:plotArea>
    <c:legend>
      <c:legendPos val="r"/>
      <c:overlay val="0"/>
      <c:txPr>
        <a:bodyPr/>
        <a:lstStyle/>
        <a:p>
          <a:pPr>
            <a:defRPr sz="1100">
              <a:solidFill>
                <a:srgbClr val="5C53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92B"/>
                </a:solidFill>
                <a:latin typeface="+mj-lt"/>
              </a:defRPr>
            </a:pPr>
            <a:r>
              <a:rPr sz="1300" b="0" i="0" u="none" strike="noStrike">
                <a:solidFill>
                  <a:srgbClr val="22192B"/>
                </a:solidFill>
                <a:latin typeface="+mj-lt"/>
              </a:rPr>
              <a:t>Length-ratio gate (meaning / verse in [0.8, 2.5]): poems passing, %</a:t>
            </a:r>
          </a:p>
        </c:rich>
      </c:tx>
      <c:layout/>
      <c:overlay val="0"/>
    </c:title>
    <c:autoTitleDeleted val="0"/>
    <c:plotArea>
      <c:layout/>
      <c:barChart>
        <c:barDir val="col"/>
        <c:grouping val="clustered"/>
        <c:varyColors val="0"/>
        <c:ser>
          <c:idx val="0"/>
          <c:order val="0"/>
          <c:tx>
            <c:strRef>
              <c:f>Sheet1!$B$1</c:f>
              <c:strCache>
                <c:ptCount val="1"/>
                <c:pt idx="0">
                  <c:v>real pair</c:v>
                </c:pt>
              </c:strCache>
            </c:strRef>
          </c:tx>
          <c:spPr>
            <a:solidFill>
              <a:srgbClr val="2D6E73"/>
            </a:solidFill>
            <a:effectLst/>
          </c:spPr>
          <c:invertIfNegative val="0"/>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cat>
            <c:multiLvlStrRef>
              <c:f>Sheet1!$A$2:$A$5</c:f>
              <c:multiLvlStrCache>
                <c:ptCount val="4"/>
                <c:lvl>
                  <c:pt idx="0">
                    <c:v>Bhāgavatamu</c:v>
                  </c:pt>
                  <c:pt idx="1">
                    <c:v>Vemana</c:v>
                  </c:pt>
                  <c:pt idx="2">
                    <c:v>Kuchimanchi</c:v>
                  </c:pt>
                  <c:pt idx="3">
                    <c:v>Chandassu</c:v>
                  </c:pt>
                </c:lvl>
              </c:multiLvlStrCache>
            </c:multiLvlStrRef>
          </c:cat>
          <c:val>
            <c:numRef>
              <c:f>Sheet1!$B$2:$B$5</c:f>
              <c:numCache>
                <c:formatCode>General</c:formatCode>
                <c:ptCount val="4"/>
                <c:pt idx="0">
                  <c:v>96.2</c:v>
                </c:pt>
                <c:pt idx="1">
                  <c:v>84.5</c:v>
                </c:pt>
                <c:pt idx="2">
                  <c:v>98.1</c:v>
                </c:pt>
                <c:pt idx="3">
                  <c:v>97.6</c:v>
                </c:pt>
              </c:numCache>
            </c:numRef>
          </c:val>
        </c:ser>
        <c:ser>
          <c:idx val="1"/>
          <c:order val="1"/>
          <c:tx>
            <c:strRef>
              <c:f>Sheet1!$C$1</c:f>
              <c:strCache>
                <c:ptCount val="1"/>
                <c:pt idx="0">
                  <c:v>shuffled pair</c:v>
                </c:pt>
              </c:strCache>
            </c:strRef>
          </c:tx>
          <c:spPr>
            <a:solidFill>
              <a:srgbClr val="8E8797"/>
            </a:solidFill>
            <a:effectLst/>
          </c:spPr>
          <c:invertIfNegative val="0"/>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cat>
            <c:multiLvlStrRef>
              <c:f>Sheet1!$A$2:$A$5</c:f>
              <c:multiLvlStrCache>
                <c:ptCount val="4"/>
                <c:lvl>
                  <c:pt idx="0">
                    <c:v>Bhāgavatamu</c:v>
                  </c:pt>
                  <c:pt idx="1">
                    <c:v>Vemana</c:v>
                  </c:pt>
                  <c:pt idx="2">
                    <c:v>Kuchimanchi</c:v>
                  </c:pt>
                  <c:pt idx="3">
                    <c:v>Chandassu</c:v>
                  </c:pt>
                </c:lvl>
              </c:multiLvlStrCache>
            </c:multiLvlStrRef>
          </c:cat>
          <c:val>
            <c:numRef>
              <c:f>Sheet1!$C$2:$C$5</c:f>
              <c:numCache>
                <c:formatCode>General</c:formatCode>
                <c:ptCount val="4"/>
                <c:pt idx="0">
                  <c:v>62.3</c:v>
                </c:pt>
                <c:pt idx="1">
                  <c:v>82.6</c:v>
                </c:pt>
                <c:pt idx="2">
                  <c:v>66.6</c:v>
                </c:pt>
                <c:pt idx="3">
                  <c:v>67.3</c:v>
                </c:pt>
              </c:numCache>
            </c:numRef>
          </c:val>
        </c:ser>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3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1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366"/>
                </a:solidFill>
                <a:latin typeface="+mn-lt"/>
              </a:defRPr>
            </a:pPr>
            <a:endParaRPr lang="en-US"/>
          </a:p>
        </c:txPr>
        <c:crossAx val="2094734554"/>
        <c:crosses val="autoZero"/>
        <c:crossBetween val="between"/>
        <c:majorUnit val="25"/>
      </c:valAx>
      <c:spPr>
        <a:noFill/>
        <a:ln>
          <a:noFill/>
        </a:ln>
        <a:effectLst/>
      </c:spPr>
    </c:plotArea>
    <c:legend>
      <c:legendPos val="r"/>
      <c:overlay val="0"/>
      <c:txPr>
        <a:bodyPr/>
        <a:lstStyle/>
        <a:p>
          <a:pPr>
            <a:defRPr sz="1100">
              <a:solidFill>
                <a:srgbClr val="5C53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92B"/>
                </a:solidFill>
                <a:latin typeface="+mj-lt"/>
              </a:defRPr>
            </a:pPr>
            <a:r>
              <a:rPr sz="1300" b="0" i="0" u="none" strike="noStrike">
                <a:solidFill>
                  <a:srgbClr val="22192B"/>
                </a:solidFill>
                <a:latin typeface="+mj-lt"/>
              </a:rPr>
              <a:t>Attested words (%) by decoding mode</a:t>
            </a:r>
          </a:p>
        </c:rich>
      </c:tx>
      <c:layout/>
      <c:overlay val="0"/>
    </c:title>
    <c:autoTitleDeleted val="0"/>
    <c:plotArea>
      <c:layout/>
      <c:barChart>
        <c:barDir val="col"/>
        <c:grouping val="clustered"/>
        <c:varyColors val="0"/>
        <c:ser>
          <c:idx val="0"/>
          <c:order val="0"/>
          <c:tx>
            <c:strRef>
              <c:f>Sheet1!$B$1</c:f>
              <c:strCache>
                <c:ptCount val="1"/>
                <c:pt idx="0">
                  <c:v>free</c:v>
                </c:pt>
              </c:strCache>
            </c:strRef>
          </c:tx>
          <c:spPr>
            <a:solidFill>
              <a:srgbClr val="8E8797"/>
            </a:solidFill>
            <a:effectLst/>
          </c:spPr>
          <c:invertIfNegative val="0"/>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cat>
            <c:multiLvlStrRef>
              <c:f>Sheet1!$A$2:$A$5</c:f>
              <c:multiLvlStrCache>
                <c:ptCount val="4"/>
                <c:lvl>
                  <c:pt idx="0">
                    <c:v>Gemma E4B</c:v>
                  </c:pt>
                  <c:pt idx="1">
                    <c:v>Gemma 26B</c:v>
                  </c:pt>
                  <c:pt idx="2">
                    <c:v>DiffGemma 26B</c:v>
                  </c:pt>
                  <c:pt idx="3">
                    <c:v>Ours 120M</c:v>
                  </c:pt>
                </c:lvl>
              </c:multiLvlStrCache>
            </c:multiLvlStrRef>
          </c:cat>
          <c:val>
            <c:numRef>
              <c:f>Sheet1!$B$2:$B$5</c:f>
              <c:numCache>
                <c:formatCode>General</c:formatCode>
                <c:ptCount val="4"/>
                <c:pt idx="0">
                  <c:v>33.7</c:v>
                </c:pt>
                <c:pt idx="1">
                  <c:v>37.2</c:v>
                </c:pt>
                <c:pt idx="2">
                  <c:v>34.4</c:v>
                </c:pt>
                <c:pt idx="3">
                  <c:v>17.9</c:v>
                </c:pt>
              </c:numCache>
            </c:numRef>
          </c:val>
        </c:ser>
        <c:ser>
          <c:idx val="1"/>
          <c:order val="1"/>
          <c:tx>
            <c:strRef>
              <c:f>Sheet1!$C$1</c:f>
              <c:strCache>
                <c:ptCount val="1"/>
                <c:pt idx="0">
                  <c:v>constrained</c:v>
                </c:pt>
              </c:strCache>
            </c:strRef>
          </c:tx>
          <c:spPr>
            <a:solidFill>
              <a:srgbClr val="7B2D43"/>
            </a:solidFill>
            <a:effectLst/>
          </c:spPr>
          <c:invertIfNegative val="0"/>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cat>
            <c:multiLvlStrRef>
              <c:f>Sheet1!$A$2:$A$5</c:f>
              <c:multiLvlStrCache>
                <c:ptCount val="4"/>
                <c:lvl>
                  <c:pt idx="0">
                    <c:v>Gemma E4B</c:v>
                  </c:pt>
                  <c:pt idx="1">
                    <c:v>Gemma 26B</c:v>
                  </c:pt>
                  <c:pt idx="2">
                    <c:v>DiffGemma 26B</c:v>
                  </c:pt>
                  <c:pt idx="3">
                    <c:v>Ours 120M</c:v>
                  </c:pt>
                </c:lvl>
              </c:multiLvlStrCache>
            </c:multiLvlStrRef>
          </c:cat>
          <c:val>
            <c:numRef>
              <c:f>Sheet1!$C$2:$C$5</c:f>
              <c:numCache>
                <c:formatCode>General</c:formatCode>
                <c:ptCount val="4"/>
                <c:pt idx="0">
                  <c:v>10.7</c:v>
                </c:pt>
                <c:pt idx="1">
                  <c:v>16.9</c:v>
                </c:pt>
                <c:pt idx="2">
                  <c:v>11.5</c:v>
                </c:pt>
                <c:pt idx="3">
                  <c:v>36.9</c:v>
                </c:pt>
              </c:numCache>
            </c:numRef>
          </c:val>
        </c:ser>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366"/>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6E1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366"/>
                </a:solidFill>
                <a:latin typeface="+mn-lt"/>
              </a:defRPr>
            </a:pPr>
            <a:endParaRPr lang="en-US"/>
          </a:p>
        </c:txPr>
        <c:crossAx val="2094734554"/>
        <c:crosses val="autoZero"/>
        <c:crossBetween val="between"/>
        <c:majorUnit val="10"/>
      </c:valAx>
      <c:spPr>
        <a:noFill/>
        <a:ln>
          <a:noFill/>
        </a:ln>
        <a:effectLst/>
      </c:spPr>
    </c:plotArea>
    <c:legend>
      <c:legendPos val="r"/>
      <c:overlay val="0"/>
      <c:txPr>
        <a:bodyPr/>
        <a:lstStyle/>
        <a:p>
          <a:pPr>
            <a:defRPr sz="1100">
              <a:solidFill>
                <a:srgbClr val="5C53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192B"/>
                </a:solidFill>
                <a:latin typeface="+mj-lt"/>
              </a:defRPr>
            </a:pPr>
            <a:r>
              <a:rPr sz="1300" b="0" i="0" u="none" strike="noStrike">
                <a:solidFill>
                  <a:srgbClr val="22192B"/>
                </a:solidFill>
                <a:latin typeface="+mj-lt"/>
              </a:rPr>
              <a:t>Poems rated obscure (%); real verse: 10.0%</a:t>
            </a:r>
          </a:p>
        </c:rich>
      </c:tx>
      <c:layout/>
      <c:overlay val="0"/>
    </c:title>
    <c:autoTitleDeleted val="0"/>
    <c:plotArea>
      <c:layout/>
      <c:barChart>
        <c:barDir val="col"/>
        <c:grouping val="clustered"/>
        <c:varyColors val="0"/>
        <c:ser>
          <c:idx val="0"/>
          <c:order val="0"/>
          <c:tx>
            <c:strRef>
              <c:f>Sheet1!$B$1</c:f>
              <c:strCache>
                <c:ptCount val="1"/>
                <c:pt idx="0">
                  <c:v>free</c:v>
                </c:pt>
              </c:strCache>
            </c:strRef>
          </c:tx>
          <c:spPr>
            <a:solidFill>
              <a:srgbClr val="8E8797"/>
            </a:solidFill>
            <a:effectLst/>
          </c:spPr>
          <c:invertIfNegative val="0"/>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cat>
            <c:multiLvlStrRef>
              <c:f>Sheet1!$A$2:$A$5</c:f>
              <c:multiLvlStrCache>
                <c:ptCount val="4"/>
                <c:lvl>
                  <c:pt idx="0">
                    <c:v>Gemma E4B</c:v>
                  </c:pt>
                  <c:pt idx="1">
                    <c:v>Gemma 26B</c:v>
                  </c:pt>
                  <c:pt idx="2">
                    <c:v>DiffGemma 26B</c:v>
                  </c:pt>
                  <c:pt idx="3">
                    <c:v>Ours 120M</c:v>
                  </c:pt>
                </c:lvl>
              </c:multiLvlStrCache>
            </c:multiLvlStrRef>
          </c:cat>
          <c:val>
            <c:numRef>
              <c:f>Sheet1!$B$2:$B$5</c:f>
              <c:numCache>
                <c:formatCode>General</c:formatCode>
                <c:ptCount val="4"/>
                <c:pt idx="0">
                  <c:v>2.2</c:v>
                </c:pt>
                <c:pt idx="1">
                  <c:v>0.9</c:v>
                </c:pt>
                <c:pt idx="2">
                  <c:v>30.3</c:v>
                </c:pt>
                <c:pt idx="3">
                  <c:v>45.9</c:v>
                </c:pt>
              </c:numCache>
            </c:numRef>
          </c:val>
        </c:ser>
        <c:ser>
          <c:idx val="1"/>
          <c:order val="1"/>
          <c:tx>
            <c:strRef>
              <c:f>Sheet1!$C$1</c:f>
              <c:strCache>
                <c:ptCount val="1"/>
                <c:pt idx="0">
                  <c:v>constrained</c:v>
                </c:pt>
              </c:strCache>
            </c:strRef>
          </c:tx>
          <c:spPr>
            <a:solidFill>
              <a:srgbClr val="7B2D43"/>
            </a:solidFill>
            <a:effectLst/>
          </c:spPr>
          <c:invertIfNegative val="0"/>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cat>
            <c:multiLvlStrRef>
              <c:f>Sheet1!$A$2:$A$5</c:f>
              <c:multiLvlStrCache>
                <c:ptCount val="4"/>
                <c:lvl>
                  <c:pt idx="0">
                    <c:v>Gemma E4B</c:v>
                  </c:pt>
                  <c:pt idx="1">
                    <c:v>Gemma 26B</c:v>
                  </c:pt>
                  <c:pt idx="2">
                    <c:v>DiffGemma 26B</c:v>
                  </c:pt>
                  <c:pt idx="3">
                    <c:v>Ours 120M</c:v>
                  </c:pt>
                </c:lvl>
              </c:multiLvlStrCache>
            </c:multiLvlStrRef>
          </c:cat>
          <c:val>
            <c:numRef>
              <c:f>Sheet1!$C$2:$C$5</c:f>
              <c:numCache>
                <c:formatCode>General</c:formatCode>
                <c:ptCount val="4"/>
                <c:pt idx="0">
                  <c:v>91.4</c:v>
                </c:pt>
                <c:pt idx="1">
                  <c:v>91</c:v>
                </c:pt>
                <c:pt idx="2">
                  <c:v>98.9</c:v>
                </c:pt>
                <c:pt idx="3">
                  <c:v>62.9</c:v>
                </c:pt>
              </c:numCache>
            </c:numRef>
          </c:val>
        </c:ser>
        <c:dLbls>
          <c:numFmt formatCode="0.0" sourceLinked="0"/>
          <c:txPr>
            <a:bodyPr/>
            <a:lstStyle/>
            <a:p>
              <a:pPr>
                <a:defRPr b="0" i="0" strike="noStrike" sz="1000" u="none">
                  <a:solidFill>
                    <a:srgbClr val="2219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3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1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366"/>
                </a:solidFill>
                <a:latin typeface="+mn-lt"/>
              </a:defRPr>
            </a:pPr>
            <a:endParaRPr lang="en-US"/>
          </a:p>
        </c:txPr>
        <c:crossAx val="2094734554"/>
        <c:crosses val="autoZero"/>
        <c:crossBetween val="between"/>
        <c:majorUnit val="25"/>
      </c:valAx>
      <c:spPr>
        <a:noFill/>
        <a:ln>
          <a:noFill/>
        </a:ln>
        <a:effectLst/>
      </c:spPr>
    </c:plotArea>
    <c:legend>
      <c:legendPos val="r"/>
      <c:overlay val="0"/>
      <c:txPr>
        <a:bodyPr/>
        <a:lstStyle/>
        <a:p>
          <a:pPr>
            <a:defRPr sz="1100">
              <a:solidFill>
                <a:srgbClr val="5C536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Welcome; this seminar reports the progress of Chandohasam, strictly as written up in the mid-submission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movements. 1: the problem, a padyaṃ must balance sound and sense. 2: what chandassu asks of every line. 3: the benchmark and its audit. 4: the deterministic controller (DAWG) and constrained decoding. 5: the results with four generators and our own 120M diffusion model. 6: how to measure poetry, the final architecture and the plan. The story: form is now guaranteed by construction; meaning under form is the open problem and the rest of the project attacks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(paper, abstract and §1): compose Telugu padyaṃs that are metrically accurate and genuinely meaningful at the same time. Three requirements, all at once: strict metre (gaṇa, yati, prāsa), coherent meaning for a given bhāvaṃ, and poetic expression (figures of sound and of meaning). Prior work struggles to satisfy the joint requirement. Our answer is a constrained text-diffusion framework: a deterministic metrical controller guarantees form, the generator supplies words and meaning, a poetry evaluation suite and a semantic coherence metric measure what the controller cannot, and RLVR uses them as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§1. A poem must do far more than make surface sense. The left circle is the sound side: gaṇa, yati, prāsa, and the figures of sound. The right circle is the meaning side: coherent ideas, contextual fit, and the figures of meaning. The padyaṃ lives in the overlap, which the classical tradition calls śabdārtha samanvaya, sound and sense in equivalence. Pull one way and you get metrically perfect nonsense; pull the other and you get prose. The intertwined constraints make Telugu poetry harder than conventional text generation and than poetry generation in English, Chinese or Hindi.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§2. Two routes. The soft route steers a model and discards failures: Deep-speare (English sonnets), SongNet (Chinese SongCi), PoeLM (control codes, generate many, keep what passes a scansion check; Spanish and Basque), and a Bangla adaptation with rhyme, matra-count, word-count and line-boundary tokens that follows the requested structure over 90% of the time. But those constraints are aggregates, and the authors report semantic drift when several control tokens apply at once. The hard route guarantees form at decode time (Ghazvininejad 2016, NeuroLogic 2021, grammar-constrained decoding 2023). For Sanskrit, Chandomitra and PINGALA reach near-perfect Anushtubh metre with greedy decoding, yet human raters score coherence at 2.1 to 2.7 out of 5. PoetryDiffusion aims at both with text diffusion and a BERT-based metrical controller. Our position: keep a deterministic controller inside the decoding loop and work on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§1 to §2 and §4.2. Four reasons. One: every line carries three simultaneous constraints, gaṇa, yati and prāsa, which are positional, not aggregates like a matra total or an end rhyme. Two: 37 metres in three families, including class-based (jāti) metres whose gaṇas are chosen from classes, and composite (upajāti) metres. Three: the alpha-syllabary script. The weight of an akṣara stays pending until the next onset is known, because a following conjunct makes it heavy, and sandhi can hide a yati seat; a general subword tokenizer spends 1.2 to 1.4 tokens per akṣara. Four: the evaluation gap. Sanskrit has a deterministic metre identifier; Telugu had only an approximate post-hoc checker; nothing exists for meaning; MAUVE is unvalidated on classical poetry; śabdālaṅkāra identifiers exist only for Sanskrit, and arthālaṅkāras are out of reach for deterministic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Appendix A terms and §4.2. An akṣara is a syllable; it is guru (heavy, U) or laghu (light, I). A gaṇa is a fixed group of weights: bha = UII, ja = IUI, sa = IIU, na = III, ya = IUU, ra = UIU, ta = UUI, ma = UUU, ga = U, va = IU, gaga = UU. A poem has pādas (lines). At a yati seat the akṣara must agree in sound (maitri) with the vaḷi, the first akṣara of the line. By prāsa, the second akṣara of every line repeats the consonant of the second akṣara of line 1. On the right is the controller’s own annotation of pāda 1 of Pothana’s opening verse: scanned into akṣaras with weights, split into gaṇas ma sa ja sa ta ta ga, the yati at akṣara 13 matched to the vaḷi, the prāsa consonant క held across all four lines. Note the pāda-final laghu read as guru. Weights are settled by the following onset, so the annotation is a lattice until the next consonant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Table 6 (the 37 metres). Vṛtta (26): a fixed gaṇa sequence per pāda, e.g. utpalamāla bha ra na bha bha ra va, 20 akṣaras, yati at akṣara 10; śārdūlavikrīḍitamu ma sa ja sa ta ta ga, 19 akṣaras, yati at 13; some have two or three yati seats (sragdhara 8 and 15; mānini 7, 13, 19). Jāti (8): the line is a sequence of gaṇa classes, and each position may take any gaṇa of its class: sūrya = na, ha; indra = bha, ra, ta, nala, naga, sala; kanda = bha, ja, sa, nala, gaga. So the line length varies and the yati sits at the first akṣara of a given gaṇa. Kandamu has two slots, odd lines of 3 kanda gaṇas and even lines of 5. Upajāti (3): sīsamu (6 indra + 2 sūrya, followed by a gīti), āṭaveladi, tēṭagīti; no prāsa, and prāsa-yati is accepted in place of yati. The figure shows the controller’s rule card for kandamu, with the yati seat at gaṇa 4 of the even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§4.1 (viable_prefix, next_symbols) and §4.2. Think of writing the poem as solving a puzzle. Each akṣara placed narrows the set of metres that can still be completed. The chain shows the controller’s own viable_prefix query: after one guru, 28 (metre, slot) hypotheses are alive; after U U, 14; after U U U, 7; after U U U I, 4; after U U U I I U, 3; after U U U I I U I U, only śārdūlavikrīḍitamu remains. A move that leaves no completable metre is simply not offered. Rules of the game: the gaṇa grid masks from the first token; prāsa and yati act once their anchor is written; liveness is exact, so there are no dead ends and every finished poem is valid; the language model chooses among allowed moves, the controller never writes the poem; and meaning has no closed-form check, it is left to the generator and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§3 and Table 1. Sources: Pothana’s Āndhra Mahābhāgavatamu from an online compilation with word glosses and meanings (the golden set: largest, edition meanings); Vemana’s śatakam; Kuchimanchi Timmakavi’s acca-telugu Rāmāyaṇamu and three śatakams; and the Chandassu dataset of Pavan and Sree (2025) from its Kaggle release. Meanings for the last three are LLM-generated (Gemini), and every English meaning is a machine translation of the Telugu bhāvaṃ. Table 1 gives the validity rates the controller measures: gaṇa 95.3% overall (99.85% on Bhāgavatamu), prāsa 99.2% relaxed and 95.9% strict, yati 91.5% relaxed and 90.6% strict. Chandassu and Vemana are the noisiest on gaṇa, 85.0% and 87.2%.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§3 and Table 2. Two gates compare each poem with its own meaning against a shuffled pairing. The length-ratio gate (meaning length over verse length in [0.8, 2.5]) separates real from shuffled in three files, 96 to 98% against 62 to 67%, but not in Vemana, whose machine meanings are of uniform length (84.5% against 82.6%). The LaBSE Telugu–English gate (cosine at or above 0.65) passes 90 to 98% of real pairs and none of the shuffled, but it measures translation consistency since the English is a translation of the Telugu meaning; on the pair that bears on fidelity, poem versus Telugu meaning, LaBSE still ranks the correct pairing first with AUC 0.85 to 0.94. Lexical diversity is similar across files (type–token ratio 0.59 to 0.64). Verbatim duplication is negligible: 13 near-duplicate pairs among 12,704 poems. The remaining repetition is formulaic: refrains recur in 77.1% of Vemana’s poems and 25.3% of Chandassu’s, which raises Vemana’s Yule’s K to 99.9 against 1.4 to 4.1 elsewhere; evaluation splits must keep refrain groups together. A general subword tokenizer (Gemma-4) spends 1.23 to 1.36 tokens per akṣara, which motivates the syllable tokenizer.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§4.1 and Figure 1. Take a toy slot of two gaṇas, each UU, IIU or UII. It has 9 legal lines. Stored as a trie, that is 29 states, because the three ways of finishing gaṇa 1 each carry their own copy of gaṇa 2. A DAWG, a minimal deterministic acyclic automaton, merges states with equal futures: the three ways to finish gaṇa 1 meet in one state and gaṇa 2 is stored once, 11 states and 14 edges for the same 9 lines. The decoder’s question is: after the prefix U I, what may follow? Here only I. Construction follows Daciuk et al. (2000) and the full catalogue builds in under half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§4.1 and Algorithm 1. The rules are data: YAML specifications of 37 metres and their gaṇa classes, with 64 prāsa and 92 yati rules derived from Kakanuri Appakavi’s Appakavīyaṃ. Each metre is a prosodic grammar, poem → lines → gaṇa classes → gaṇas → U/I. The grammar is flattened into one right-linear grammar per line slot (a vṛtta has one slot; kandamu has two, its odd and even lines), turned into an automaton per slot, united, made deterministic into a DFA of 1,573 states whose accepting states carry their (metre, slot) labels, and then minimised while preserving labels into the DAWG: 1,431 states, 2,514 edges, exactly the 370,315 legal lines, built in under half a second. Three queries: identify walks a poem’s scansion lattice and returns every accepting metre and slot and the point at which each rejected metre became impossible; viable_prefix and next_symbols return what can still lead to a completed slot; segment returns gaṇa divisions and yati positions. Validation, independent of generation: of 7,366 Bhāgavatamu poems with catalogue metres, 7,355 are identified with their labelled metre (99.85%), none as a wrong metre, and 10 are rejected as unclassified.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§4.2 and Algorithm 2. The DAWG is a hard constraint, not a post-hoc validator. The enforcer keeps a state with four parts: the live automaton states of the chosen metre, the last akṣaras whose weight is still open, the prāsa register (the consonant of line 1’s second akṣara) and the yati register (the line’s first akṣara, the vaḷi). For each new akṣara: settle the open weights by its first consonant; move every live state along the settled weights and drop those with no move; if it is the second akṣara of a line and breaks the prāsa, DEAD; drop the states whose gaṇa division puts it on a yati seat where it is not in maitri with the vaḷi; if no state can still reach the end of the poem, DEAD. A token is allowed when the state stays alive after all of its akṣaras, cached per state. Because liveness is exact, a valid decoding path cannot reach a dead end, and every completed poem satisfies the selected metre and its structural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§4.2, §4.3 and Algorithm 3. Four generators, one controller, applied as ablations so that the effect of the model and the decoding paradigm is isolated with the formal constraints fixed. Autoregressive (gemma-4-E4B-it, gemma-4-26B-A4B-it): the DAWG masks the next-token distribution directly; initial temperature 0.7. Block diffusion (diffusiongemma-26B-A4B-it-NVFP4): the model’s proposals are committed left to right when allowed and sufficiently confident; otherwise decoding selects the first open position, and a backtrack returns committed positions to noise. Masked diffusion (chandohasam 120M, ours): the constraint is applied to the positions being resolved while the committed context the controller needs is preserved; a 512-token canvas with the meaning unmasked, lines decoded left to right within the line. Three strategies: masking only samples from the model after removing invalid tokens (top-p 90%); masking with backtracking saves checkpoints every third step (last 15), rewinds when stuck (fewer than 3 allowed tokens, less than 0.001 of the probability mass, or 4 steps without a new akṣara) and raises the temperature by 0.15 per consecutive backtrack up to 1.2; hybrid walks the allowed tokens by probability (at most 100) collecting those that complete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§5 and Table 5. Every row uses the same grid: 37 metres × 3 topics × 5 seeds = 555 poems per model and decoding mode. A poem is in metre if it is complete and satisfies its canonical gaṇa, strict prāsa and strict yati with no sandhi assumed. Attested: words of two or more akṣaras found in held-out verse (topic words excluded); distinct: distinct attested words; single akṣara: share of words that are one akṣara; strong anuprāsa and obscure: the extreme bands of the poetics metrics; MAUVE against real verse of the same metre mix (120 a side, 5 seeds). Read the table row-pair by row-pair: free decoding never lands in metre; constrained decoding always does; and then look at what the constraint costs each model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§5. Finding 1: unconstrained, no model writes a poem in metre; constrained, all 555 are in metre for every model. Form is guaranteed by the decoder, not learned. Finding 2: for the subword Gemma models the guarantee has a lexical cost: attested words fall from 33.7–37.2% to 10.7–16.9%, 33.7–71.9% of the poems reach a strong anuprāsa that only 2.7% of real verse reaches, and 91.0–98.9% are rated obscure against 10.0% of real verse. Finding 3: Chandohasam 120M, whose tokens are single akṣaras, keeps 36.9% attested words under the same rules, about the subword models’ unconstrained level, with 757 distinct attested words, roughly twice their 323–375; its deficits reflect pretraining without verse: 19.7% single-akṣara words (real 5.6%) and 62.9% obscure. Finding 4: MAUVE confirms that no system yet writes like the corpus; the constraint raises it for every model, but every generated row stays between 0.006 and 0.057 against 0.965 for real verse. Finding 5: layer probes of the Gemma E2B and E4B variants and the recorded token-wise probabilities show that regardless of size all generations underperform equally, so parameter scaling does not have a significant effect on coherence.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§4.4. Why an akṣara tokenizer: the controller reasons in akṣara weights, and an akṣara’s weight is settled by the next onset. A general subword tokenizer spends 1.2 to 1.4 tokens per akṣara (Table 2), so a token can hold part of an akṣara or several, and masking at that granularity is what strips the Gemma models of their vocabulary. We design a syllable-based tokenizer aware of akṣara boundaries: 45,591 tokens that cover 99.8% of the akṣara types in our verse, so the constraint acts on single syllables, the tokens themselves. The model, chandohasam 120M, is a 120M-parameter bidirectional transformer (12 layers, hidden size 768, rotary positions, SwiGLU) trained from scratch as a masked diffusion language model (MDLM, Sahoo et al., 2024). It saw 4.98B tokens of Telugu prose from Sangraha, IndicCorp v2 and Wikipedia on a single 8 GB laptop GPU in 2 days 19 hours. Generation fills a 512-token canvas in which the meaning is given unmasked, and the metre’s lines are decoded left to right within the line. The architecture figure comes from the project write-up and matches the paper’s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§4.4 and the Chandohasam 120M rows of Table 5; the loss curve is from the project write-up and is NOT in the paper (validation NELBO fell from 2.921 at step 1k to 1.747 over 76,000 steps of 65,536 tokens; test NELBO 1.783 nats per token, weighted like the training mix). From the paper: the model trained on prose only, in 2 days 19 hours on an 8 GB GPU. Under the controller it keeps 36.9% attested words, up from 17.9% free, with 757 distinct attested words against 183, and MAUVE 0.035 against 0.006; both the opposite direction from the subword models, for which the constraint removed vocabulary. What it still lacks reflects pretraining without verse: 19.7% of its words are single akṣaras (real verse 5.6%) and 62.9% of its poems are rated obscure (real 10.0%), and MAUVE is still far from the 0.965 of real verse. Fine-tuning on the poetry corpus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§2 (evaluation side) and §4.6. On the sound side, metre identification is solved by the controller, but validity is binary; we also need graded measures of how far a poem is from a metre and of its sound qualities. On the meaning side nothing existed: for Sanskrit the only coherence measure was a human rating (2.1 to 2.7 of 5); MAUVE was built for human-versus-AI detection and is unvalidated on classical poetry; a training loss does not say whether a poem reads like Telugu. The classical treatise Kāvyālaṅkārasaṅgrahamu (16th c., Bhattumurthy) codifies the sound qualities: anuprāsa, mādhurya, ojas, prasāda and the śabdālaṅkāras, and its alpha-syllabary rules transfer from the Sanskrit identifiers. The suite separates hard structural validity from the semantic, stylistic and poetic qualities of a poem, and later becomes the reward for RLVR.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Table 4. Anuprāsa (alliteration): A observed same-sound consonant pairs across different akṣaras within a line, E the expected pairs under corpus unigram frequencies, z = (A − E)/√V with V the chance variance; line levels at z = 1.645, 2.326 and 3.090; the poem score is the mean line level. Mādhurya (euphony): M = I − P, I the mean akṣara weight, P the mean harsh-akṣara run load; harsh below −0.283, leaning harsh to −0.123, balanced to 0.049, leaning soft to 0.156, soft above. Ojas (lexical density): O = (W + J)/2 with W = 100(1 − words/akṣaras) and J = 100 × conjunct-initial akṣaras / akṣaras; light below 39.3 up to dense at or above 47.5. Prasāda (clarity): H, the bits per akṣara of the sequence under a reference akṣara trigram model; clear below 5.12, leaning clear to 5.54, ordinary to 6.33, leaning obscure to 7.06, obscure above. Each quantifies a poetic property independently of metrical validity.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Table 4 and Algorithm 4. Caṃdomiti, the chandas distance, is the minimum number of akṣara edits that make a poem conform to a specified metre, including weight, yati and prāsa constraints: D = Dw + Dy + Dp. Weight edits come from a dynamic programme over the slot’s own automaton: reading an akṣara along an edge costs 0 if the edge’s weight is one the akṣara may take, else 1 (substitution); skipping it costs 1 (deletion); following an edge without reading costs 1 (insertion); a pāda-final laghu may also read as U, and the path gives the nearest legal line. Lines are matched to the metre’s pādas with the fewest edits; a line left over costs its length, a pāda left empty its shortest line. Yati edits: one for each yati seat whose akṣara is not in maitri with the vaḷi. Prāsa edits: the fewest pādas to change so that all the pādas rhyme. An akṣara a weight edit already rewrites is counted once. The rate r = D / max(n, N) is chance-corrected per metre: S = 1 − r / r_chance(m), with r_chance the mean rate of prose cut to the line lengths of m. Rubric: exact (D = 0), slip, partial, weak, unmetered (r at or above the metre-specific chance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§4.6 and §6. Four things are being built next on the evaluation side. A word resolution metric aligned with a compiled Telugu macro-dictionary resolves the lexicon of classical Telugu after sandhi and samāsa splitting, measuring word-level coherence across the poem; in the architecture it also acts as a lexical gate that rejects candidates with no valid segmentation. A semantic coherence metric modelled on expert human acceptability judgements on Telugu metrical poetry, validated against the ratings; it is evaluated apart from the controller because meaning cannot be reduced to formal constraints. Deterministic identifiers for the śabdālaṅkāras, adapted from the Sanskrit yamaka and anuprāsa identifiers. And a euphony index whose weights over sound euphony, alliteration and word density are learned. Arthālaṅkāras stay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Figure 2, §4 and §4.7. The generator is a masked diffusion language model whose canvas length is fixed a priori by the metre; it denoises from noise to a Telugu padyaṃ in akṣara tokens. Below it sits the deterministic metrical DAWG controller, which replaces the learned BERT metrical classifier of PoetryDiffusion: no loss terms, no gradients, an exact verdict with gaṇa, yati and prāsa predictions, plus the edit distance D. A lexical gate backed by the macro-dictionary resolves words after sandhi and samāsa splitting and rejects candidates with no valid segmentation. The sampled padyaṃ is scored by the poetics suite: anuprāsa, mādhurya, ojas, prasāda and caṃdomiti, combined as R = Σ λi ri together with the śabdālaṅkāra checks and the semantic coherence metric, and the policy is updated with RLVR. The DAWG stays active during RLVR generation, so metre, yati and prāsa remain hard constraints and RLVR optimises quality within the valid region. Each model is trained independently and its RLVR variant is compared against its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§6, first paragraph. Established: the dataset of 12,673 labelled poems with its sanity audit; the deterministic metrical controller over 37 metres, validated at 99.85% on the Bhāgavatamu; the poetry evaluation suite of five metrics operationalised from Kāvyālaṅkārasaṅgrahamu; baseline generations in free and constrained settings for four models, 555 poems per model and mode, with MAUVE against real verse; and our own 120M masked-diffusion model pretrained from scratch with an akṣara tokenizer. What remains centres on meaning: evaluating and improving semantic coherence, extending the metrics and modelling the coherence metric against human evaluations.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§6. Seven items. 1 Word resolution metric for word-level coherence inside a poem. 2 Human evaluation on generated and reference poems with the final rubric and a frozen test split. 3 Semantic coherence metric from the human acceptability judgements, validated against the ratings; in parallel, learn the weights of the euphony index. 4 Poetry fine-tuning of the diffusion model on the curated corpus, including the meaning-to-poem setting and ablations. 5 RLVR with the metrical constraints, the evaluation suite and the coherence metric as verifiable rewards, against rejection sampling and other constrained-generation baselines. 6 Final evaluation of all systems and the corpus with the automatic metrics, MAUVE and human evaluations, and an analysis of how automatic metrics relate to human judgements. 7 Final report and release of the controller, benchmark, evaluation suite and human ratings; final paper by 31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cue: run `python3 -m chandohasam --file ../presentation/demo_poem.txt` from meter_engine/ (the four pādas shown), and `python3 -m indic_meter_dawg prefix UUUI` for the narrowing query. The slide shows the tool’s actual output. The controller identifies śārdūlavikrīḍitamu, splits every pāda into ma sa ja sa ta ta ga, confirms yati at akṣara 13 in all four pādas (sound-class matches with the vaḷi: śrī–ciṃ, kṣai–saṃ, drē–ddṛ, nā–naṃ) and prāsa on the consonant క at the second akṣara of every pāda. Note the pāda-final laghu of line 1 read as guru. Then show the prefix query: with each weight the set of completable metres narrows, 28 → 14 → 7 → 4 → 3 → 1, which is exactly what the enforcer uses to mask tokens during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Invite questions; the demonstration can be re-run live from meter_engine/.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219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57400"/>
            <a:ext cx="1069848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200400"/>
            <a:ext cx="10058400" cy="100584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
        <p:nvSpPr>
          <p:cNvPr id="4" name="Text 0"/>
          <p:cNvSpPr/>
          <p:nvPr>
            <p:ph idx="102" type="body" hasCustomPrompt="1"/>
          </p:nvPr>
        </p:nvSpPr>
        <p:spPr>
          <a:xfrm>
            <a:off x="731520" y="4754880"/>
            <a:ext cx="10515600" cy="1188720"/>
          </a:xfrm>
          <a:prstGeom prst="rect">
            <a:avLst/>
          </a:prstGeom>
          <a:noFill/>
          <a:ln/>
        </p:spPr>
        <p:txBody>
          <a:bodyPr wrap="square" rtlCol="0"/>
          <a:lstStyle>
            <a:lvl1pPr algn="l" indent="0" marL="0">
              <a:buNone/>
              <a:defRPr lang="en-US" sz="1500" dirty="0">
                <a:solidFill>
                  <a:schemeClr val="accent5"/>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Chandohasam  ·  progress seminar  ·  IIIT Hyderabad  ·  October 2026</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2219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383280"/>
            <a:ext cx="10515600" cy="18288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57400"/>
            <a:ext cx="10698480" cy="1097280"/>
          </a:xfrm>
          <a:prstGeom prst="rect">
            <a:avLst/>
          </a:prstGeom>
          <a:noFill/>
          <a:ln/>
        </p:spPr>
        <p:txBody>
          <a:bodyPr wrap="square" lIns="0" tIns="0" rIns="0" bIns="0" rtlCol="0"/>
          <a:lstStyle/>
          <a:p>
            <a:pPr algn="l" indent="0" marL="0">
              <a:buNone/>
            </a:pPr>
            <a:r>
              <a:rPr lang="en-US" sz="5400" b="1" dirty="0">
                <a:solidFill>
                  <a:schemeClr val="bg1"/>
                </a:solidFill>
              </a:rPr>
              <a:t>Chandohasam</a:t>
            </a:r>
            <a:endParaRPr lang="en-US" sz="5400" dirty="0"/>
          </a:p>
        </p:txBody>
      </p:sp>
      <p:sp>
        <p:nvSpPr>
          <p:cNvPr id="3" name="Text 0"/>
          <p:cNvSpPr/>
          <p:nvPr>
            <p:ph idx="101" type="body" hasCustomPrompt="1"/>
          </p:nvPr>
        </p:nvSpPr>
        <p:spPr>
          <a:xfrm>
            <a:off x="731520" y="3200400"/>
            <a:ext cx="10058400" cy="1005840"/>
          </a:xfrm>
          <a:prstGeom prst="rect">
            <a:avLst/>
          </a:prstGeom>
          <a:noFill/>
          <a:ln/>
        </p:spPr>
        <p:txBody>
          <a:bodyPr wrap="square" lIns="0" tIns="0" rIns="0" bIns="0" rtlCol="0"/>
          <a:lstStyle/>
          <a:p>
            <a:pPr algn="l" indent="0" marL="0">
              <a:buNone/>
            </a:pPr>
            <a:r>
              <a:rPr lang="en-US" sz="2200" dirty="0">
                <a:solidFill>
                  <a:schemeClr val="accent6"/>
                </a:solidFill>
              </a:rPr>
              <a:t>Towards semantically coherent Telugu metrical poetry generation with text diffusion</a:t>
            </a:r>
            <a:endParaRPr lang="en-US" sz="2200" dirty="0"/>
          </a:p>
        </p:txBody>
      </p:sp>
      <p:sp>
        <p:nvSpPr>
          <p:cNvPr id="4" name="Text 0"/>
          <p:cNvSpPr/>
          <p:nvPr>
            <p:ph idx="102" type="body" hasCustomPrompt="1"/>
          </p:nvPr>
        </p:nvSpPr>
        <p:spPr>
          <a:xfrm>
            <a:off x="731520" y="4754880"/>
            <a:ext cx="10515600" cy="1188720"/>
          </a:xfrm>
          <a:prstGeom prst="rect">
            <a:avLst/>
          </a:prstGeom>
          <a:noFill/>
          <a:ln/>
        </p:spPr>
        <p:txBody>
          <a:bodyPr wrap="square" lIns="0" tIns="0" rIns="0" bIns="0" rtlCol="0"/>
          <a:lstStyle/>
          <a:p>
            <a:pPr algn="l" indent="0" marL="0">
              <a:buNone/>
            </a:pPr>
            <a:r>
              <a:rPr lang="en-US" sz="1500" b="1" dirty="0">
                <a:solidFill>
                  <a:schemeClr val="accent2"/>
                </a:solidFill>
              </a:rPr>
              <a:t>Progress seminar  ·  6 October 2026</a:t>
            </a:r>
            <a:endParaRPr lang="en-US" sz="1500" dirty="0"/>
          </a:p>
          <a:p>
            <a:pPr algn="l" indent="0" marL="0">
              <a:buNone/>
            </a:pPr>
            <a:r>
              <a:rPr lang="en-US" sz="1500" dirty="0">
                <a:solidFill>
                  <a:schemeClr val="accent5"/>
                </a:solidFill>
              </a:rPr>
              <a:t>Samvaran Kashyap Rallabandi  ·  Mahesh Emani  ·  Radhe Shyam Salopanthula</a:t>
            </a:r>
            <a:endParaRPr lang="en-US" sz="1500" dirty="0"/>
          </a:p>
          <a:p>
            <a:pPr algn="l" indent="0" marL="0">
              <a:buNone/>
            </a:pPr>
            <a:r>
              <a:rPr lang="en-US" sz="1500" dirty="0">
                <a:solidFill>
                  <a:schemeClr val="accent5"/>
                </a:solidFill>
              </a:rPr>
              <a:t>IIIT Hyderabad</a:t>
            </a:r>
            <a:endParaRPr lang="en-US" sz="1500" dirty="0"/>
          </a:p>
        </p:txBody>
      </p:sp>
      <p:sp>
        <p:nvSpPr>
          <p:cNvPr id="5" name="Text 3"/>
          <p:cNvSpPr txBox="1"/>
          <p:nvPr/>
        </p:nvSpPr>
        <p:spPr>
          <a:xfrm>
            <a:off x="731520" y="1325880"/>
            <a:ext cx="10058400" cy="457200"/>
          </a:xfrm>
          <a:prstGeom prst="rect">
            <a:avLst/>
          </a:prstGeom>
          <a:noFill/>
          <a:ln/>
        </p:spPr>
        <p:txBody>
          <a:bodyPr wrap="square" lIns="0" tIns="0" rIns="0" bIns="0" rtlCol="0" anchor="t"/>
          <a:lstStyle/>
          <a:p>
            <a:pPr indent="0" marL="0">
              <a:buNone/>
            </a:pPr>
            <a:r>
              <a:rPr lang="en-US" sz="2000" spc="400" kern="0" dirty="0">
                <a:solidFill>
                  <a:schemeClr val="accent2"/>
                </a:solidFill>
                <a:latin typeface="Cambria" pitchFamily="34" charset="0"/>
                <a:ea typeface="Cambria" pitchFamily="34" charset="-122"/>
                <a:cs typeface="Cambria" pitchFamily="34" charset="-120"/>
              </a:rPr>
              <a:t>U U U  I I U  I U I  I I U  U U I  U U I  U</a:t>
            </a:r>
            <a:endParaRPr lang="en-US" sz="2000" dirty="0"/>
          </a:p>
        </p:txBody>
      </p:sp>
      <p:sp>
        <p:nvSpPr>
          <p:cNvPr id="6" name="Text 4"/>
          <p:cNvSpPr txBox="1"/>
          <p:nvPr/>
        </p:nvSpPr>
        <p:spPr>
          <a:xfrm>
            <a:off x="731520" y="1737360"/>
            <a:ext cx="10058400" cy="320040"/>
          </a:xfrm>
          <a:prstGeom prst="rect">
            <a:avLst/>
          </a:prstGeom>
          <a:noFill/>
          <a:ln/>
        </p:spPr>
        <p:txBody>
          <a:bodyPr wrap="square" lIns="0" tIns="0" rIns="0" bIns="0" rtlCol="0" anchor="t"/>
          <a:lstStyle/>
          <a:p>
            <a:pPr indent="0" marL="0">
              <a:buNone/>
            </a:pPr>
            <a:r>
              <a:rPr lang="en-US" sz="1200" i="1" dirty="0">
                <a:solidFill>
                  <a:schemeClr val="accent5"/>
                </a:solidFill>
              </a:rPr>
              <a:t>ma · sa · ja · sa · ta · ta · ga  —  śārdūlavikrīḍitamu, the metre of Pothana’s opening verse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narrative in one page</a:t>
            </a:r>
            <a:endParaRPr lang="en-US" sz="3200" dirty="0"/>
          </a:p>
        </p:txBody>
      </p:sp>
      <p:sp>
        <p:nvSpPr>
          <p:cNvPr id="4" name="card The problem"/>
          <p:cNvSpPr/>
          <p:nvPr/>
        </p:nvSpPr>
        <p:spPr>
          <a:xfrm>
            <a:off x="548640" y="1325880"/>
            <a:ext cx="3515258" cy="2240280"/>
          </a:xfrm>
          <a:prstGeom prst="roundRect">
            <a:avLst>
              <a:gd name="adj" fmla="val 4082"/>
            </a:avLst>
          </a:prstGeom>
          <a:solidFill>
            <a:schemeClr val="bg2"/>
          </a:solidFill>
          <a:ln w="12700">
            <a:solidFill>
              <a:schemeClr val="bg2"/>
            </a:solidFill>
            <a:prstDash val="solid"/>
          </a:ln>
        </p:spPr>
      </p:sp>
      <p:sp>
        <p:nvSpPr>
          <p:cNvPr id="5" name="Shape 2"/>
          <p:cNvSpPr/>
          <p:nvPr/>
        </p:nvSpPr>
        <p:spPr>
          <a:xfrm>
            <a:off x="749808" y="1508760"/>
            <a:ext cx="420624" cy="420624"/>
          </a:xfrm>
          <a:prstGeom prst="ellipse">
            <a:avLst/>
          </a:prstGeom>
          <a:solidFill>
            <a:schemeClr val="accent1"/>
          </a:solidFill>
          <a:ln w="12700">
            <a:solidFill>
              <a:schemeClr val="accent1"/>
            </a:solidFill>
            <a:prstDash val="solid"/>
          </a:ln>
        </p:spPr>
      </p:sp>
      <p:sp>
        <p:nvSpPr>
          <p:cNvPr id="6" name="Text 3"/>
          <p:cNvSpPr txBox="1"/>
          <p:nvPr/>
        </p:nvSpPr>
        <p:spPr>
          <a:xfrm>
            <a:off x="749808"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80160" y="1490472"/>
            <a:ext cx="2600858" cy="457200"/>
          </a:xfrm>
          <a:prstGeom prst="rect">
            <a:avLst/>
          </a:prstGeom>
          <a:noFill/>
          <a:ln/>
        </p:spPr>
        <p:txBody>
          <a:bodyPr wrap="square" lIns="0" tIns="0" rIns="0" bIns="0" rtlCol="0" anchor="ctr"/>
          <a:lstStyle/>
          <a:p>
            <a:pPr indent="0" marL="0">
              <a:buNone/>
            </a:pPr>
            <a:r>
              <a:rPr lang="en-US" sz="1600" b="1" dirty="0">
                <a:solidFill>
                  <a:schemeClr val="accent1"/>
                </a:solidFill>
              </a:rPr>
              <a:t>The problem</a:t>
            </a:r>
            <a:endParaRPr lang="en-US" sz="1600" dirty="0"/>
          </a:p>
        </p:txBody>
      </p:sp>
      <p:sp>
        <p:nvSpPr>
          <p:cNvPr id="8" name="Text 5"/>
          <p:cNvSpPr txBox="1"/>
          <p:nvPr/>
        </p:nvSpPr>
        <p:spPr>
          <a:xfrm>
            <a:off x="749808" y="2057400"/>
            <a:ext cx="3131210" cy="1399032"/>
          </a:xfrm>
          <a:prstGeom prst="rect">
            <a:avLst/>
          </a:prstGeom>
          <a:noFill/>
          <a:ln/>
        </p:spPr>
        <p:txBody>
          <a:bodyPr wrap="square" lIns="0" tIns="0" rIns="0" bIns="0" rtlCol="0" anchor="t"/>
          <a:lstStyle/>
          <a:p>
            <a:pPr indent="0" marL="0">
              <a:buNone/>
            </a:pPr>
            <a:r>
              <a:rPr lang="en-US" sz="1400" dirty="0">
                <a:solidFill>
                  <a:schemeClr val="tx1"/>
                </a:solidFill>
              </a:rPr>
              <a:t>A padyaṃ must balance śabdaṃ (sound) and arthaṃ (meaning); prior work solves one at the expense of the other.</a:t>
            </a:r>
            <a:endParaRPr lang="en-US" sz="1400" dirty="0"/>
          </a:p>
        </p:txBody>
      </p:sp>
      <p:sp>
        <p:nvSpPr>
          <p:cNvPr id="9" name="card Chandassu"/>
          <p:cNvSpPr/>
          <p:nvPr/>
        </p:nvSpPr>
        <p:spPr>
          <a:xfrm>
            <a:off x="4338218" y="1325880"/>
            <a:ext cx="3515258" cy="2240280"/>
          </a:xfrm>
          <a:prstGeom prst="roundRect">
            <a:avLst>
              <a:gd name="adj" fmla="val 4082"/>
            </a:avLst>
          </a:prstGeom>
          <a:solidFill>
            <a:schemeClr val="bg2"/>
          </a:solidFill>
          <a:ln w="12700">
            <a:solidFill>
              <a:schemeClr val="bg2"/>
            </a:solidFill>
            <a:prstDash val="solid"/>
          </a:ln>
        </p:spPr>
      </p:sp>
      <p:sp>
        <p:nvSpPr>
          <p:cNvPr id="10" name="Shape 7"/>
          <p:cNvSpPr/>
          <p:nvPr/>
        </p:nvSpPr>
        <p:spPr>
          <a:xfrm>
            <a:off x="4539386" y="1508760"/>
            <a:ext cx="420624" cy="420624"/>
          </a:xfrm>
          <a:prstGeom prst="ellipse">
            <a:avLst/>
          </a:prstGeom>
          <a:solidFill>
            <a:schemeClr val="accent1"/>
          </a:solidFill>
          <a:ln w="12700">
            <a:solidFill>
              <a:schemeClr val="accent1"/>
            </a:solidFill>
            <a:prstDash val="solid"/>
          </a:ln>
        </p:spPr>
      </p:sp>
      <p:sp>
        <p:nvSpPr>
          <p:cNvPr id="11" name="Text 8"/>
          <p:cNvSpPr txBox="1"/>
          <p:nvPr/>
        </p:nvSpPr>
        <p:spPr>
          <a:xfrm>
            <a:off x="4539386"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5069738" y="1490472"/>
            <a:ext cx="2600858" cy="457200"/>
          </a:xfrm>
          <a:prstGeom prst="rect">
            <a:avLst/>
          </a:prstGeom>
          <a:noFill/>
          <a:ln/>
        </p:spPr>
        <p:txBody>
          <a:bodyPr wrap="square" lIns="0" tIns="0" rIns="0" bIns="0" rtlCol="0" anchor="ctr"/>
          <a:lstStyle/>
          <a:p>
            <a:pPr indent="0" marL="0">
              <a:buNone/>
            </a:pPr>
            <a:r>
              <a:rPr lang="en-US" sz="1600" b="1" dirty="0">
                <a:solidFill>
                  <a:schemeClr val="accent1"/>
                </a:solidFill>
              </a:rPr>
              <a:t>Chandassu</a:t>
            </a:r>
            <a:endParaRPr lang="en-US" sz="1600" dirty="0"/>
          </a:p>
        </p:txBody>
      </p:sp>
      <p:sp>
        <p:nvSpPr>
          <p:cNvPr id="13" name="Text 10"/>
          <p:cNvSpPr txBox="1"/>
          <p:nvPr/>
        </p:nvSpPr>
        <p:spPr>
          <a:xfrm>
            <a:off x="4539386" y="2057400"/>
            <a:ext cx="3131210" cy="1399032"/>
          </a:xfrm>
          <a:prstGeom prst="rect">
            <a:avLst/>
          </a:prstGeom>
          <a:noFill/>
          <a:ln/>
        </p:spPr>
        <p:txBody>
          <a:bodyPr wrap="square" lIns="0" tIns="0" rIns="0" bIns="0" rtlCol="0" anchor="t"/>
          <a:lstStyle/>
          <a:p>
            <a:pPr indent="0" marL="0">
              <a:buNone/>
            </a:pPr>
            <a:r>
              <a:rPr lang="en-US" sz="1400" dirty="0">
                <a:solidFill>
                  <a:schemeClr val="tx1"/>
                </a:solidFill>
              </a:rPr>
              <a:t>Akṣara weights, gaṇas, yati and prāsa; three families of metres; why Telugu is harder than English, Chinese or Sanskrit.</a:t>
            </a:r>
            <a:endParaRPr lang="en-US" sz="1400" dirty="0"/>
          </a:p>
        </p:txBody>
      </p:sp>
      <p:sp>
        <p:nvSpPr>
          <p:cNvPr id="14" name="card The benchmark"/>
          <p:cNvSpPr/>
          <p:nvPr/>
        </p:nvSpPr>
        <p:spPr>
          <a:xfrm>
            <a:off x="8127797" y="1325880"/>
            <a:ext cx="3515258" cy="2240280"/>
          </a:xfrm>
          <a:prstGeom prst="roundRect">
            <a:avLst>
              <a:gd name="adj" fmla="val 4082"/>
            </a:avLst>
          </a:prstGeom>
          <a:solidFill>
            <a:schemeClr val="bg2"/>
          </a:solidFill>
          <a:ln w="12700">
            <a:solidFill>
              <a:schemeClr val="bg2"/>
            </a:solidFill>
            <a:prstDash val="solid"/>
          </a:ln>
        </p:spPr>
      </p:sp>
      <p:sp>
        <p:nvSpPr>
          <p:cNvPr id="15" name="Shape 12"/>
          <p:cNvSpPr/>
          <p:nvPr/>
        </p:nvSpPr>
        <p:spPr>
          <a:xfrm>
            <a:off x="8328965" y="1508760"/>
            <a:ext cx="420624" cy="420624"/>
          </a:xfrm>
          <a:prstGeom prst="ellipse">
            <a:avLst/>
          </a:prstGeom>
          <a:solidFill>
            <a:schemeClr val="accent1"/>
          </a:solidFill>
          <a:ln w="12700">
            <a:solidFill>
              <a:schemeClr val="accent1"/>
            </a:solidFill>
            <a:prstDash val="solid"/>
          </a:ln>
        </p:spPr>
      </p:sp>
      <p:sp>
        <p:nvSpPr>
          <p:cNvPr id="16" name="Text 13"/>
          <p:cNvSpPr txBox="1"/>
          <p:nvPr/>
        </p:nvSpPr>
        <p:spPr>
          <a:xfrm>
            <a:off x="8328965"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859317" y="1490472"/>
            <a:ext cx="2600858" cy="457200"/>
          </a:xfrm>
          <a:prstGeom prst="rect">
            <a:avLst/>
          </a:prstGeom>
          <a:noFill/>
          <a:ln/>
        </p:spPr>
        <p:txBody>
          <a:bodyPr wrap="square" lIns="0" tIns="0" rIns="0" bIns="0" rtlCol="0" anchor="ctr"/>
          <a:lstStyle/>
          <a:p>
            <a:pPr indent="0" marL="0">
              <a:buNone/>
            </a:pPr>
            <a:r>
              <a:rPr lang="en-US" sz="1600" b="1" dirty="0">
                <a:solidFill>
                  <a:schemeClr val="accent1"/>
                </a:solidFill>
              </a:rPr>
              <a:t>The benchmark</a:t>
            </a:r>
            <a:endParaRPr lang="en-US" sz="1600" dirty="0"/>
          </a:p>
        </p:txBody>
      </p:sp>
      <p:sp>
        <p:nvSpPr>
          <p:cNvPr id="18" name="Text 15"/>
          <p:cNvSpPr txBox="1"/>
          <p:nvPr/>
        </p:nvSpPr>
        <p:spPr>
          <a:xfrm>
            <a:off x="8328965" y="2057400"/>
            <a:ext cx="3131210" cy="1399032"/>
          </a:xfrm>
          <a:prstGeom prst="rect">
            <a:avLst/>
          </a:prstGeom>
          <a:noFill/>
          <a:ln/>
        </p:spPr>
        <p:txBody>
          <a:bodyPr wrap="square" lIns="0" tIns="0" rIns="0" bIns="0" rtlCol="0" anchor="t"/>
          <a:lstStyle/>
          <a:p>
            <a:pPr indent="0" marL="0">
              <a:buNone/>
            </a:pPr>
            <a:r>
              <a:rPr lang="en-US" sz="1400" dirty="0">
                <a:solidFill>
                  <a:schemeClr val="tx1"/>
                </a:solidFill>
              </a:rPr>
              <a:t>12,673 labelled poems from four sources, audited for metre, meaning and duplication.</a:t>
            </a:r>
            <a:endParaRPr lang="en-US" sz="1400" dirty="0"/>
          </a:p>
        </p:txBody>
      </p:sp>
      <p:sp>
        <p:nvSpPr>
          <p:cNvPr id="19" name="card The controller"/>
          <p:cNvSpPr/>
          <p:nvPr/>
        </p:nvSpPr>
        <p:spPr>
          <a:xfrm>
            <a:off x="548640" y="3840480"/>
            <a:ext cx="3515258" cy="2240280"/>
          </a:xfrm>
          <a:prstGeom prst="roundRect">
            <a:avLst>
              <a:gd name="adj" fmla="val 4082"/>
            </a:avLst>
          </a:prstGeom>
          <a:solidFill>
            <a:schemeClr val="bg2"/>
          </a:solidFill>
          <a:ln w="12700">
            <a:solidFill>
              <a:schemeClr val="bg2"/>
            </a:solidFill>
            <a:prstDash val="solid"/>
          </a:ln>
        </p:spPr>
      </p:sp>
      <p:sp>
        <p:nvSpPr>
          <p:cNvPr id="20" name="Shape 17"/>
          <p:cNvSpPr/>
          <p:nvPr/>
        </p:nvSpPr>
        <p:spPr>
          <a:xfrm>
            <a:off x="749808" y="4023360"/>
            <a:ext cx="420624" cy="420624"/>
          </a:xfrm>
          <a:prstGeom prst="ellipse">
            <a:avLst/>
          </a:prstGeom>
          <a:solidFill>
            <a:schemeClr val="accent1"/>
          </a:solidFill>
          <a:ln w="12700">
            <a:solidFill>
              <a:schemeClr val="accent1"/>
            </a:solidFill>
            <a:prstDash val="solid"/>
          </a:ln>
        </p:spPr>
      </p:sp>
      <p:sp>
        <p:nvSpPr>
          <p:cNvPr id="21" name="Text 18"/>
          <p:cNvSpPr txBox="1"/>
          <p:nvPr/>
        </p:nvSpPr>
        <p:spPr>
          <a:xfrm>
            <a:off x="749808" y="40233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1280160" y="4005072"/>
            <a:ext cx="2600858" cy="457200"/>
          </a:xfrm>
          <a:prstGeom prst="rect">
            <a:avLst/>
          </a:prstGeom>
          <a:noFill/>
          <a:ln/>
        </p:spPr>
        <p:txBody>
          <a:bodyPr wrap="square" lIns="0" tIns="0" rIns="0" bIns="0" rtlCol="0" anchor="ctr"/>
          <a:lstStyle/>
          <a:p>
            <a:pPr indent="0" marL="0">
              <a:buNone/>
            </a:pPr>
            <a:r>
              <a:rPr lang="en-US" sz="1600" b="1" dirty="0">
                <a:solidFill>
                  <a:schemeClr val="accent1"/>
                </a:solidFill>
              </a:rPr>
              <a:t>The controller</a:t>
            </a:r>
            <a:endParaRPr lang="en-US" sz="1600" dirty="0"/>
          </a:p>
        </p:txBody>
      </p:sp>
      <p:sp>
        <p:nvSpPr>
          <p:cNvPr id="23" name="Text 20"/>
          <p:cNvSpPr txBox="1"/>
          <p:nvPr/>
        </p:nvSpPr>
        <p:spPr>
          <a:xfrm>
            <a:off x="749808" y="4572000"/>
            <a:ext cx="3131210" cy="1399032"/>
          </a:xfrm>
          <a:prstGeom prst="rect">
            <a:avLst/>
          </a:prstGeom>
          <a:noFill/>
          <a:ln/>
        </p:spPr>
        <p:txBody>
          <a:bodyPr wrap="square" lIns="0" tIns="0" rIns="0" bIns="0" rtlCol="0" anchor="t"/>
          <a:lstStyle/>
          <a:p>
            <a:pPr indent="0" marL="0">
              <a:buNone/>
            </a:pPr>
            <a:r>
              <a:rPr lang="en-US" sz="1400" dirty="0">
                <a:solidFill>
                  <a:schemeClr val="tx1"/>
                </a:solidFill>
              </a:rPr>
              <a:t>One DAWG for 37 metres; constrained decoding as a puzzle with no dead ends, for autoregressive and diffusion models.</a:t>
            </a:r>
            <a:endParaRPr lang="en-US" sz="1400" dirty="0"/>
          </a:p>
        </p:txBody>
      </p:sp>
      <p:sp>
        <p:nvSpPr>
          <p:cNvPr id="24" name="card Results"/>
          <p:cNvSpPr/>
          <p:nvPr/>
        </p:nvSpPr>
        <p:spPr>
          <a:xfrm>
            <a:off x="4338218" y="3840480"/>
            <a:ext cx="3515258" cy="2240280"/>
          </a:xfrm>
          <a:prstGeom prst="roundRect">
            <a:avLst>
              <a:gd name="adj" fmla="val 4082"/>
            </a:avLst>
          </a:prstGeom>
          <a:solidFill>
            <a:schemeClr val="bg2"/>
          </a:solidFill>
          <a:ln w="12700">
            <a:solidFill>
              <a:schemeClr val="bg2"/>
            </a:solidFill>
            <a:prstDash val="solid"/>
          </a:ln>
        </p:spPr>
      </p:sp>
      <p:sp>
        <p:nvSpPr>
          <p:cNvPr id="25" name="Shape 22"/>
          <p:cNvSpPr/>
          <p:nvPr/>
        </p:nvSpPr>
        <p:spPr>
          <a:xfrm>
            <a:off x="4539386" y="4023360"/>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4539386" y="40233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5069738" y="4005072"/>
            <a:ext cx="2600858" cy="457200"/>
          </a:xfrm>
          <a:prstGeom prst="rect">
            <a:avLst/>
          </a:prstGeom>
          <a:noFill/>
          <a:ln/>
        </p:spPr>
        <p:txBody>
          <a:bodyPr wrap="square" lIns="0" tIns="0" rIns="0" bIns="0" rtlCol="0" anchor="ctr"/>
          <a:lstStyle/>
          <a:p>
            <a:pPr indent="0" marL="0">
              <a:buNone/>
            </a:pPr>
            <a:r>
              <a:rPr lang="en-US" sz="1600" b="1" dirty="0">
                <a:solidFill>
                  <a:schemeClr val="accent1"/>
                </a:solidFill>
              </a:rPr>
              <a:t>Results</a:t>
            </a:r>
            <a:endParaRPr lang="en-US" sz="1600" dirty="0"/>
          </a:p>
        </p:txBody>
      </p:sp>
      <p:sp>
        <p:nvSpPr>
          <p:cNvPr id="28" name="Text 25"/>
          <p:cNvSpPr txBox="1"/>
          <p:nvPr/>
        </p:nvSpPr>
        <p:spPr>
          <a:xfrm>
            <a:off x="4539386" y="4572000"/>
            <a:ext cx="3131210" cy="1399032"/>
          </a:xfrm>
          <a:prstGeom prst="rect">
            <a:avLst/>
          </a:prstGeom>
          <a:noFill/>
          <a:ln/>
        </p:spPr>
        <p:txBody>
          <a:bodyPr wrap="square" lIns="0" tIns="0" rIns="0" bIns="0" rtlCol="0" anchor="t"/>
          <a:lstStyle/>
          <a:p>
            <a:pPr indent="0" marL="0">
              <a:buNone/>
            </a:pPr>
            <a:r>
              <a:rPr lang="en-US" sz="1400" dirty="0">
                <a:solidFill>
                  <a:schemeClr val="tx1"/>
                </a:solidFill>
              </a:rPr>
              <a:t>Form by construction for every model; the lexical cost of subword tokens; our 120M akṣara-level diffusion model.</a:t>
            </a:r>
            <a:endParaRPr lang="en-US" sz="1400" dirty="0"/>
          </a:p>
        </p:txBody>
      </p:sp>
      <p:sp>
        <p:nvSpPr>
          <p:cNvPr id="29" name="card Measuring poetry"/>
          <p:cNvSpPr/>
          <p:nvPr/>
        </p:nvSpPr>
        <p:spPr>
          <a:xfrm>
            <a:off x="8127797" y="3840480"/>
            <a:ext cx="3515258" cy="2240280"/>
          </a:xfrm>
          <a:prstGeom prst="roundRect">
            <a:avLst>
              <a:gd name="adj" fmla="val 4082"/>
            </a:avLst>
          </a:prstGeom>
          <a:solidFill>
            <a:schemeClr val="bg2"/>
          </a:solidFill>
          <a:ln w="12700">
            <a:solidFill>
              <a:schemeClr val="bg2"/>
            </a:solidFill>
            <a:prstDash val="solid"/>
          </a:ln>
        </p:spPr>
      </p:sp>
      <p:sp>
        <p:nvSpPr>
          <p:cNvPr id="30" name="Shape 27"/>
          <p:cNvSpPr/>
          <p:nvPr/>
        </p:nvSpPr>
        <p:spPr>
          <a:xfrm>
            <a:off x="8328965" y="4023360"/>
            <a:ext cx="420624" cy="420624"/>
          </a:xfrm>
          <a:prstGeom prst="ellipse">
            <a:avLst/>
          </a:prstGeom>
          <a:solidFill>
            <a:schemeClr val="accent1"/>
          </a:solidFill>
          <a:ln w="12700">
            <a:solidFill>
              <a:schemeClr val="accent1"/>
            </a:solidFill>
            <a:prstDash val="solid"/>
          </a:ln>
        </p:spPr>
      </p:sp>
      <p:sp>
        <p:nvSpPr>
          <p:cNvPr id="31" name="Text 28"/>
          <p:cNvSpPr txBox="1"/>
          <p:nvPr/>
        </p:nvSpPr>
        <p:spPr>
          <a:xfrm>
            <a:off x="8328965" y="40233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8859317" y="4005072"/>
            <a:ext cx="2600858" cy="457200"/>
          </a:xfrm>
          <a:prstGeom prst="rect">
            <a:avLst/>
          </a:prstGeom>
          <a:noFill/>
          <a:ln/>
        </p:spPr>
        <p:txBody>
          <a:bodyPr wrap="square" lIns="0" tIns="0" rIns="0" bIns="0" rtlCol="0" anchor="ctr"/>
          <a:lstStyle/>
          <a:p>
            <a:pPr indent="0" marL="0">
              <a:buNone/>
            </a:pPr>
            <a:r>
              <a:rPr lang="en-US" sz="1600" b="1" dirty="0">
                <a:solidFill>
                  <a:schemeClr val="accent1"/>
                </a:solidFill>
              </a:rPr>
              <a:t>Measuring poetry</a:t>
            </a:r>
            <a:endParaRPr lang="en-US" sz="1600" dirty="0"/>
          </a:p>
        </p:txBody>
      </p:sp>
      <p:sp>
        <p:nvSpPr>
          <p:cNvPr id="33" name="Text 30"/>
          <p:cNvSpPr txBox="1"/>
          <p:nvPr/>
        </p:nvSpPr>
        <p:spPr>
          <a:xfrm>
            <a:off x="8328965" y="4572000"/>
            <a:ext cx="3131210" cy="1399032"/>
          </a:xfrm>
          <a:prstGeom prst="rect">
            <a:avLst/>
          </a:prstGeom>
          <a:noFill/>
          <a:ln/>
        </p:spPr>
        <p:txBody>
          <a:bodyPr wrap="square" lIns="0" tIns="0" rIns="0" bIns="0" rtlCol="0" anchor="t"/>
          <a:lstStyle/>
          <a:p>
            <a:pPr indent="0" marL="0">
              <a:buNone/>
            </a:pPr>
            <a:r>
              <a:rPr lang="en-US" sz="1400" dirty="0">
                <a:solidFill>
                  <a:schemeClr val="tx1"/>
                </a:solidFill>
              </a:rPr>
              <a:t>Five deterministic metrics from Kāvyālaṅkārasaṅgrahamu, the metrics in design, the final architecture, next steps.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Problem statement</a:t>
            </a:r>
            <a:endParaRPr lang="en-US" sz="3200" dirty="0"/>
          </a:p>
        </p:txBody>
      </p:sp>
      <p:sp>
        <p:nvSpPr>
          <p:cNvPr id="4" name="Shape 1"/>
          <p:cNvSpPr/>
          <p:nvPr/>
        </p:nvSpPr>
        <p:spPr>
          <a:xfrm>
            <a:off x="548640" y="1325880"/>
            <a:ext cx="11094415" cy="868680"/>
          </a:xfrm>
          <a:prstGeom prst="roundRect">
            <a:avLst>
              <a:gd name="adj" fmla="val 10526"/>
            </a:avLst>
          </a:prstGeom>
          <a:solidFill>
            <a:schemeClr val="accent1"/>
          </a:solidFill>
          <a:ln w="12700">
            <a:solidFill>
              <a:schemeClr val="accent1"/>
            </a:solidFill>
            <a:prstDash val="solid"/>
          </a:ln>
        </p:spPr>
      </p:sp>
      <p:sp>
        <p:nvSpPr>
          <p:cNvPr id="5" name="Text 2"/>
          <p:cNvSpPr txBox="1"/>
          <p:nvPr/>
        </p:nvSpPr>
        <p:spPr>
          <a:xfrm>
            <a:off x="822960" y="1325880"/>
            <a:ext cx="10545775" cy="868680"/>
          </a:xfrm>
          <a:prstGeom prst="rect">
            <a:avLst/>
          </a:prstGeom>
          <a:noFill/>
          <a:ln/>
        </p:spPr>
        <p:txBody>
          <a:bodyPr wrap="square" lIns="0" tIns="0" rIns="0" bIns="0" rtlCol="0" anchor="ctr"/>
          <a:lstStyle/>
          <a:p>
            <a:pPr indent="0" marL="0">
              <a:buNone/>
            </a:pPr>
            <a:r>
              <a:rPr lang="en-US" sz="2000" dirty="0">
                <a:solidFill>
                  <a:schemeClr val="bg1"/>
                </a:solidFill>
                <a:latin typeface="Cambria" pitchFamily="34" charset="0"/>
                <a:ea typeface="Cambria" pitchFamily="34" charset="-122"/>
                <a:cs typeface="Cambria" pitchFamily="34" charset="-120"/>
              </a:rPr>
              <a:t>Compose a Telugu padyaṃ that is metrically exact and genuinely meaningful, from a given meaning (bhāvaṃ).</a:t>
            </a:r>
            <a:endParaRPr lang="en-US" sz="2000" dirty="0"/>
          </a:p>
        </p:txBody>
      </p:sp>
      <p:sp>
        <p:nvSpPr>
          <p:cNvPr id="6" name="card Must be in metre"/>
          <p:cNvSpPr/>
          <p:nvPr/>
        </p:nvSpPr>
        <p:spPr>
          <a:xfrm>
            <a:off x="548640" y="2377440"/>
            <a:ext cx="3515258" cy="2148840"/>
          </a:xfrm>
          <a:prstGeom prst="roundRect">
            <a:avLst>
              <a:gd name="adj" fmla="val 4255"/>
            </a:avLst>
          </a:prstGeom>
          <a:solidFill>
            <a:schemeClr val="bg2"/>
          </a:solidFill>
          <a:ln w="12700">
            <a:solidFill>
              <a:schemeClr val="bg2"/>
            </a:solidFill>
            <a:prstDash val="solid"/>
          </a:ln>
        </p:spPr>
      </p:sp>
      <p:sp>
        <p:nvSpPr>
          <p:cNvPr id="7" name="Text 4"/>
          <p:cNvSpPr txBox="1"/>
          <p:nvPr/>
        </p:nvSpPr>
        <p:spPr>
          <a:xfrm>
            <a:off x="749808" y="2542032"/>
            <a:ext cx="3131210" cy="384048"/>
          </a:xfrm>
          <a:prstGeom prst="rect">
            <a:avLst/>
          </a:prstGeom>
          <a:noFill/>
          <a:ln/>
        </p:spPr>
        <p:txBody>
          <a:bodyPr wrap="square" lIns="0" tIns="0" rIns="0" bIns="0" rtlCol="0" anchor="t"/>
          <a:lstStyle/>
          <a:p>
            <a:pPr indent="0" marL="0">
              <a:buNone/>
            </a:pPr>
            <a:r>
              <a:rPr lang="en-US" sz="1600" b="1" dirty="0">
                <a:solidFill>
                  <a:schemeClr val="accent1"/>
                </a:solidFill>
              </a:rPr>
              <a:t>Must be in metre</a:t>
            </a:r>
            <a:endParaRPr lang="en-US" sz="1600" dirty="0"/>
          </a:p>
        </p:txBody>
      </p:sp>
      <p:sp>
        <p:nvSpPr>
          <p:cNvPr id="8" name="Text 5"/>
          <p:cNvSpPr txBox="1"/>
          <p:nvPr/>
        </p:nvSpPr>
        <p:spPr>
          <a:xfrm>
            <a:off x="749808" y="2962656"/>
            <a:ext cx="3131210" cy="1453896"/>
          </a:xfrm>
          <a:prstGeom prst="rect">
            <a:avLst/>
          </a:prstGeom>
          <a:noFill/>
          <a:ln/>
        </p:spPr>
        <p:txBody>
          <a:bodyPr wrap="square" lIns="0" tIns="0" rIns="0" bIns="0" rtlCol="0" anchor="t"/>
          <a:lstStyle/>
          <a:p>
            <a:pPr marL="342900" indent="-342900">
              <a:spcAft>
                <a:spcPts val="400"/>
              </a:spcAft>
              <a:buSzPct val="100000"/>
              <a:buChar char="•"/>
            </a:pPr>
            <a:r>
              <a:rPr lang="en-US" sz="1350" b="1" dirty="0">
                <a:solidFill>
                  <a:schemeClr val="accent1"/>
                </a:solidFill>
              </a:rPr>
              <a:t>gaṇa: </a:t>
            </a:r>
            <a:r>
              <a:rPr lang="en-US" sz="1350" dirty="0">
                <a:solidFill>
                  <a:schemeClr val="tx1"/>
                </a:solidFill>
              </a:rPr>
              <a:t>the syllable-weight pattern</a:t>
            </a:r>
            <a:endParaRPr lang="en-US" sz="1350" dirty="0"/>
          </a:p>
          <a:p>
            <a:pPr marL="342900" indent="-342900">
              <a:spcAft>
                <a:spcPts val="400"/>
              </a:spcAft>
              <a:buSzPct val="100000"/>
              <a:buChar char="•"/>
            </a:pPr>
            <a:r>
              <a:rPr lang="en-US" sz="1350" b="1" dirty="0">
                <a:solidFill>
                  <a:schemeClr val="accent1"/>
                </a:solidFill>
              </a:rPr>
              <a:t>yati: </a:t>
            </a:r>
            <a:r>
              <a:rPr lang="en-US" sz="1350" dirty="0">
                <a:solidFill>
                  <a:schemeClr val="tx1"/>
                </a:solidFill>
              </a:rPr>
              <a:t>a sound match inside the line</a:t>
            </a:r>
            <a:endParaRPr lang="en-US" sz="1350" dirty="0"/>
          </a:p>
          <a:p>
            <a:pPr marL="342900" indent="-342900">
              <a:spcAft>
                <a:spcPts val="400"/>
              </a:spcAft>
              <a:buSzPct val="100000"/>
              <a:buChar char="•"/>
            </a:pPr>
            <a:r>
              <a:rPr lang="en-US" sz="1350" b="1" dirty="0">
                <a:solidFill>
                  <a:schemeClr val="accent1"/>
                </a:solidFill>
              </a:rPr>
              <a:t>prāsa: </a:t>
            </a:r>
            <a:r>
              <a:rPr lang="en-US" sz="1350" dirty="0">
                <a:solidFill>
                  <a:schemeClr val="tx1"/>
                </a:solidFill>
              </a:rPr>
              <a:t>line-initial rhyme across lines</a:t>
            </a:r>
            <a:endParaRPr lang="en-US" sz="1350" dirty="0"/>
          </a:p>
          <a:p>
            <a:pPr marL="342900" indent="-342900">
              <a:spcAft>
                <a:spcPts val="400"/>
              </a:spcAft>
              <a:buSzPct val="100000"/>
              <a:buChar char="•"/>
            </a:pPr>
            <a:r>
              <a:rPr lang="en-US" sz="1350" dirty="0">
                <a:solidFill>
                  <a:schemeClr val="tx1"/>
                </a:solidFill>
              </a:rPr>
              <a:t>all three at once, not as aggregates</a:t>
            </a:r>
            <a:endParaRPr lang="en-US" sz="1350" dirty="0"/>
          </a:p>
        </p:txBody>
      </p:sp>
      <p:sp>
        <p:nvSpPr>
          <p:cNvPr id="9" name="card Must mean something"/>
          <p:cNvSpPr/>
          <p:nvPr/>
        </p:nvSpPr>
        <p:spPr>
          <a:xfrm>
            <a:off x="4338218" y="2377440"/>
            <a:ext cx="3515258" cy="2148840"/>
          </a:xfrm>
          <a:prstGeom prst="roundRect">
            <a:avLst>
              <a:gd name="adj" fmla="val 4255"/>
            </a:avLst>
          </a:prstGeom>
          <a:solidFill>
            <a:schemeClr val="bg2"/>
          </a:solidFill>
          <a:ln w="12700">
            <a:solidFill>
              <a:schemeClr val="bg2"/>
            </a:solidFill>
            <a:prstDash val="solid"/>
          </a:ln>
        </p:spPr>
      </p:sp>
      <p:sp>
        <p:nvSpPr>
          <p:cNvPr id="10" name="Text 7"/>
          <p:cNvSpPr txBox="1"/>
          <p:nvPr/>
        </p:nvSpPr>
        <p:spPr>
          <a:xfrm>
            <a:off x="4539386" y="2542032"/>
            <a:ext cx="3131210" cy="384048"/>
          </a:xfrm>
          <a:prstGeom prst="rect">
            <a:avLst/>
          </a:prstGeom>
          <a:noFill/>
          <a:ln/>
        </p:spPr>
        <p:txBody>
          <a:bodyPr wrap="square" lIns="0" tIns="0" rIns="0" bIns="0" rtlCol="0" anchor="t"/>
          <a:lstStyle/>
          <a:p>
            <a:pPr indent="0" marL="0">
              <a:buNone/>
            </a:pPr>
            <a:r>
              <a:rPr lang="en-US" sz="1600" b="1" dirty="0">
                <a:solidFill>
                  <a:schemeClr val="accent1"/>
                </a:solidFill>
              </a:rPr>
              <a:t>Must mean something</a:t>
            </a:r>
            <a:endParaRPr lang="en-US" sz="1600" dirty="0"/>
          </a:p>
        </p:txBody>
      </p:sp>
      <p:sp>
        <p:nvSpPr>
          <p:cNvPr id="11" name="Text 8"/>
          <p:cNvSpPr txBox="1"/>
          <p:nvPr/>
        </p:nvSpPr>
        <p:spPr>
          <a:xfrm>
            <a:off x="4539386" y="2962656"/>
            <a:ext cx="3131210" cy="14538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coherent ideas, contextually appropriate</a:t>
            </a:r>
            <a:endParaRPr lang="en-US" sz="1350" dirty="0"/>
          </a:p>
          <a:p>
            <a:pPr marL="342900" indent="-342900">
              <a:spcAft>
                <a:spcPts val="400"/>
              </a:spcAft>
              <a:buSzPct val="100000"/>
              <a:buChar char="•"/>
            </a:pPr>
            <a:r>
              <a:rPr lang="en-US" sz="1350" dirty="0">
                <a:solidFill>
                  <a:schemeClr val="tx1"/>
                </a:solidFill>
              </a:rPr>
              <a:t>the verse must express the given bhāvaṃ</a:t>
            </a:r>
            <a:endParaRPr lang="en-US" sz="1350" dirty="0"/>
          </a:p>
          <a:p>
            <a:pPr marL="342900" indent="-342900">
              <a:spcAft>
                <a:spcPts val="400"/>
              </a:spcAft>
              <a:buSzPct val="100000"/>
              <a:buChar char="•"/>
            </a:pPr>
            <a:r>
              <a:rPr lang="en-US" sz="1350" dirty="0">
                <a:solidFill>
                  <a:schemeClr val="tx1"/>
                </a:solidFill>
              </a:rPr>
              <a:t>no closed-form check exists for this</a:t>
            </a:r>
            <a:endParaRPr lang="en-US" sz="1350" dirty="0"/>
          </a:p>
        </p:txBody>
      </p:sp>
      <p:sp>
        <p:nvSpPr>
          <p:cNvPr id="12" name="card Must be poetic"/>
          <p:cNvSpPr/>
          <p:nvPr/>
        </p:nvSpPr>
        <p:spPr>
          <a:xfrm>
            <a:off x="8127797" y="2377440"/>
            <a:ext cx="3515258" cy="2148840"/>
          </a:xfrm>
          <a:prstGeom prst="roundRect">
            <a:avLst>
              <a:gd name="adj" fmla="val 4255"/>
            </a:avLst>
          </a:prstGeom>
          <a:solidFill>
            <a:schemeClr val="bg2"/>
          </a:solidFill>
          <a:ln w="12700">
            <a:solidFill>
              <a:schemeClr val="bg2"/>
            </a:solidFill>
            <a:prstDash val="solid"/>
          </a:ln>
        </p:spPr>
      </p:sp>
      <p:sp>
        <p:nvSpPr>
          <p:cNvPr id="13" name="Text 10"/>
          <p:cNvSpPr txBox="1"/>
          <p:nvPr/>
        </p:nvSpPr>
        <p:spPr>
          <a:xfrm>
            <a:off x="8328965" y="2542032"/>
            <a:ext cx="3131210" cy="384048"/>
          </a:xfrm>
          <a:prstGeom prst="rect">
            <a:avLst/>
          </a:prstGeom>
          <a:noFill/>
          <a:ln/>
        </p:spPr>
        <p:txBody>
          <a:bodyPr wrap="square" lIns="0" tIns="0" rIns="0" bIns="0" rtlCol="0" anchor="t"/>
          <a:lstStyle/>
          <a:p>
            <a:pPr indent="0" marL="0">
              <a:buNone/>
            </a:pPr>
            <a:r>
              <a:rPr lang="en-US" sz="1600" b="1" dirty="0">
                <a:solidFill>
                  <a:schemeClr val="accent1"/>
                </a:solidFill>
              </a:rPr>
              <a:t>Must be poetic</a:t>
            </a:r>
            <a:endParaRPr lang="en-US" sz="1600" dirty="0"/>
          </a:p>
        </p:txBody>
      </p:sp>
      <p:sp>
        <p:nvSpPr>
          <p:cNvPr id="14" name="Text 11"/>
          <p:cNvSpPr txBox="1"/>
          <p:nvPr/>
        </p:nvSpPr>
        <p:spPr>
          <a:xfrm>
            <a:off x="8328965" y="2962656"/>
            <a:ext cx="3131210" cy="1453896"/>
          </a:xfrm>
          <a:prstGeom prst="rect">
            <a:avLst/>
          </a:prstGeom>
          <a:noFill/>
          <a:ln/>
        </p:spPr>
        <p:txBody>
          <a:bodyPr wrap="square" lIns="0" tIns="0" rIns="0" bIns="0" rtlCol="0" anchor="t"/>
          <a:lstStyle/>
          <a:p>
            <a:pPr marL="342900" indent="-342900">
              <a:spcAft>
                <a:spcPts val="400"/>
              </a:spcAft>
              <a:buSzPct val="100000"/>
              <a:buChar char="•"/>
            </a:pPr>
            <a:r>
              <a:rPr lang="en-US" sz="1350" b="1" dirty="0">
                <a:solidFill>
                  <a:schemeClr val="accent1"/>
                </a:solidFill>
              </a:rPr>
              <a:t>śabdālaṅkāra: </a:t>
            </a:r>
            <a:r>
              <a:rPr lang="en-US" sz="1350" dirty="0">
                <a:solidFill>
                  <a:schemeClr val="tx1"/>
                </a:solidFill>
              </a:rPr>
              <a:t>alliteration, repetition</a:t>
            </a:r>
            <a:endParaRPr lang="en-US" sz="1350" dirty="0"/>
          </a:p>
          <a:p>
            <a:pPr marL="342900" indent="-342900">
              <a:spcAft>
                <a:spcPts val="400"/>
              </a:spcAft>
              <a:buSzPct val="100000"/>
              <a:buChar char="•"/>
            </a:pPr>
            <a:r>
              <a:rPr lang="en-US" sz="1350" b="1" dirty="0">
                <a:solidFill>
                  <a:schemeClr val="accent1"/>
                </a:solidFill>
              </a:rPr>
              <a:t>arthālaṅkāra: </a:t>
            </a:r>
            <a:r>
              <a:rPr lang="en-US" sz="1350" dirty="0">
                <a:solidFill>
                  <a:schemeClr val="tx1"/>
                </a:solidFill>
              </a:rPr>
              <a:t>simile, metaphor, hyperbole, wordplay</a:t>
            </a:r>
            <a:endParaRPr lang="en-US" sz="1350" dirty="0"/>
          </a:p>
          <a:p>
            <a:pPr marL="342900" indent="-342900">
              <a:spcAft>
                <a:spcPts val="400"/>
              </a:spcAft>
              <a:buSzPct val="100000"/>
              <a:buChar char="•"/>
            </a:pPr>
            <a:r>
              <a:rPr lang="en-US" sz="1350" dirty="0">
                <a:solidFill>
                  <a:schemeClr val="tx1"/>
                </a:solidFill>
              </a:rPr>
              <a:t>euphony, density and clarity of diction</a:t>
            </a:r>
            <a:endParaRPr lang="en-US" sz="1350" dirty="0"/>
          </a:p>
        </p:txBody>
      </p:sp>
      <p:sp>
        <p:nvSpPr>
          <p:cNvPr id="15" name="Text 12"/>
          <p:cNvSpPr txBox="1"/>
          <p:nvPr/>
        </p:nvSpPr>
        <p:spPr>
          <a:xfrm>
            <a:off x="548640" y="4709160"/>
            <a:ext cx="3657600" cy="365760"/>
          </a:xfrm>
          <a:prstGeom prst="rect">
            <a:avLst/>
          </a:prstGeom>
          <a:noFill/>
          <a:ln/>
        </p:spPr>
        <p:txBody>
          <a:bodyPr wrap="square" lIns="0" tIns="0" rIns="0" bIns="0" rtlCol="0" anchor="t"/>
          <a:lstStyle/>
          <a:p>
            <a:pPr indent="0" marL="0">
              <a:buNone/>
            </a:pPr>
            <a:r>
              <a:rPr lang="en-US" sz="1600" b="1" dirty="0">
                <a:solidFill>
                  <a:schemeClr val="accent3"/>
                </a:solidFill>
              </a:rPr>
              <a:t>Our answer: Chandohasam</a:t>
            </a:r>
            <a:endParaRPr lang="en-US" sz="1600" dirty="0"/>
          </a:p>
        </p:txBody>
      </p:sp>
      <p:sp>
        <p:nvSpPr>
          <p:cNvPr id="16" name="Shape 13"/>
          <p:cNvSpPr/>
          <p:nvPr/>
        </p:nvSpPr>
        <p:spPr>
          <a:xfrm>
            <a:off x="548640" y="5120640"/>
            <a:ext cx="2567864" cy="1051560"/>
          </a:xfrm>
          <a:prstGeom prst="roundRect">
            <a:avLst>
              <a:gd name="adj" fmla="val 8696"/>
            </a:avLst>
          </a:prstGeom>
          <a:solidFill>
            <a:schemeClr val="bg1"/>
          </a:solidFill>
          <a:ln w="12700">
            <a:solidFill>
              <a:schemeClr val="accent3"/>
            </a:solidFill>
            <a:prstDash val="solid"/>
          </a:ln>
        </p:spPr>
      </p:sp>
      <p:sp>
        <p:nvSpPr>
          <p:cNvPr id="17" name="Text 14"/>
          <p:cNvSpPr txBox="1"/>
          <p:nvPr/>
        </p:nvSpPr>
        <p:spPr>
          <a:xfrm>
            <a:off x="685800" y="5184648"/>
            <a:ext cx="2293544" cy="320040"/>
          </a:xfrm>
          <a:prstGeom prst="rect">
            <a:avLst/>
          </a:prstGeom>
          <a:noFill/>
          <a:ln/>
        </p:spPr>
        <p:txBody>
          <a:bodyPr wrap="square" lIns="0" tIns="0" rIns="0" bIns="0" rtlCol="0" anchor="t"/>
          <a:lstStyle/>
          <a:p>
            <a:pPr indent="0" marL="0">
              <a:buNone/>
            </a:pPr>
            <a:r>
              <a:rPr lang="en-US" sz="1400" b="1" dirty="0">
                <a:solidFill>
                  <a:schemeClr val="accent3"/>
                </a:solidFill>
              </a:rPr>
              <a:t>Deterministic controller</a:t>
            </a:r>
            <a:endParaRPr lang="en-US" sz="1400" dirty="0"/>
          </a:p>
        </p:txBody>
      </p:sp>
      <p:sp>
        <p:nvSpPr>
          <p:cNvPr id="18" name="Text 15"/>
          <p:cNvSpPr txBox="1"/>
          <p:nvPr/>
        </p:nvSpPr>
        <p:spPr>
          <a:xfrm>
            <a:off x="685800" y="5513832"/>
            <a:ext cx="2293544" cy="640080"/>
          </a:xfrm>
          <a:prstGeom prst="rect">
            <a:avLst/>
          </a:prstGeom>
          <a:noFill/>
          <a:ln/>
        </p:spPr>
        <p:txBody>
          <a:bodyPr wrap="square" lIns="0" tIns="0" rIns="0" bIns="0" rtlCol="0" anchor="t"/>
          <a:lstStyle/>
          <a:p>
            <a:pPr indent="0" marL="0">
              <a:buNone/>
            </a:pPr>
            <a:r>
              <a:rPr lang="en-US" sz="1250" dirty="0">
                <a:solidFill>
                  <a:schemeClr val="tx2"/>
                </a:solidFill>
              </a:rPr>
              <a:t>a DAWG over 37 metres, inside the decoding loop</a:t>
            </a:r>
            <a:endParaRPr lang="en-US" sz="1250" dirty="0"/>
          </a:p>
        </p:txBody>
      </p:sp>
      <p:sp>
        <p:nvSpPr>
          <p:cNvPr id="19" name="Shape 16"/>
          <p:cNvSpPr/>
          <p:nvPr/>
        </p:nvSpPr>
        <p:spPr>
          <a:xfrm>
            <a:off x="3390824" y="5120640"/>
            <a:ext cx="2567864" cy="1051560"/>
          </a:xfrm>
          <a:prstGeom prst="roundRect">
            <a:avLst>
              <a:gd name="adj" fmla="val 8696"/>
            </a:avLst>
          </a:prstGeom>
          <a:solidFill>
            <a:schemeClr val="bg1"/>
          </a:solidFill>
          <a:ln w="12700">
            <a:solidFill>
              <a:schemeClr val="accent3"/>
            </a:solidFill>
            <a:prstDash val="solid"/>
          </a:ln>
        </p:spPr>
      </p:sp>
      <p:sp>
        <p:nvSpPr>
          <p:cNvPr id="20" name="Text 17"/>
          <p:cNvSpPr txBox="1"/>
          <p:nvPr/>
        </p:nvSpPr>
        <p:spPr>
          <a:xfrm>
            <a:off x="3527984" y="5184648"/>
            <a:ext cx="2293544" cy="320040"/>
          </a:xfrm>
          <a:prstGeom prst="rect">
            <a:avLst/>
          </a:prstGeom>
          <a:noFill/>
          <a:ln/>
        </p:spPr>
        <p:txBody>
          <a:bodyPr wrap="square" lIns="0" tIns="0" rIns="0" bIns="0" rtlCol="0" anchor="t"/>
          <a:lstStyle/>
          <a:p>
            <a:pPr indent="0" marL="0">
              <a:buNone/>
            </a:pPr>
            <a:r>
              <a:rPr lang="en-US" sz="1400" b="1" dirty="0">
                <a:solidFill>
                  <a:schemeClr val="accent3"/>
                </a:solidFill>
              </a:rPr>
              <a:t>Curated benchmark</a:t>
            </a:r>
            <a:endParaRPr lang="en-US" sz="1400" dirty="0"/>
          </a:p>
        </p:txBody>
      </p:sp>
      <p:sp>
        <p:nvSpPr>
          <p:cNvPr id="21" name="Text 18"/>
          <p:cNvSpPr txBox="1"/>
          <p:nvPr/>
        </p:nvSpPr>
        <p:spPr>
          <a:xfrm>
            <a:off x="3527984" y="5513832"/>
            <a:ext cx="2293544" cy="640080"/>
          </a:xfrm>
          <a:prstGeom prst="rect">
            <a:avLst/>
          </a:prstGeom>
          <a:noFill/>
          <a:ln/>
        </p:spPr>
        <p:txBody>
          <a:bodyPr wrap="square" lIns="0" tIns="0" rIns="0" bIns="0" rtlCol="0" anchor="t"/>
          <a:lstStyle/>
          <a:p>
            <a:pPr indent="0" marL="0">
              <a:buNone/>
            </a:pPr>
            <a:r>
              <a:rPr lang="en-US" sz="1250" dirty="0">
                <a:solidFill>
                  <a:schemeClr val="tx2"/>
                </a:solidFill>
              </a:rPr>
              <a:t>12,673 labelled poems with meanings</a:t>
            </a:r>
            <a:endParaRPr lang="en-US" sz="1250" dirty="0"/>
          </a:p>
        </p:txBody>
      </p:sp>
      <p:sp>
        <p:nvSpPr>
          <p:cNvPr id="22" name="Shape 19"/>
          <p:cNvSpPr/>
          <p:nvPr/>
        </p:nvSpPr>
        <p:spPr>
          <a:xfrm>
            <a:off x="6233008" y="5120640"/>
            <a:ext cx="2567864" cy="1051560"/>
          </a:xfrm>
          <a:prstGeom prst="roundRect">
            <a:avLst>
              <a:gd name="adj" fmla="val 8696"/>
            </a:avLst>
          </a:prstGeom>
          <a:solidFill>
            <a:schemeClr val="bg1"/>
          </a:solidFill>
          <a:ln w="12700">
            <a:solidFill>
              <a:schemeClr val="accent3"/>
            </a:solidFill>
            <a:prstDash val="solid"/>
          </a:ln>
        </p:spPr>
      </p:sp>
      <p:sp>
        <p:nvSpPr>
          <p:cNvPr id="23" name="Text 20"/>
          <p:cNvSpPr txBox="1"/>
          <p:nvPr/>
        </p:nvSpPr>
        <p:spPr>
          <a:xfrm>
            <a:off x="6370168" y="5184648"/>
            <a:ext cx="2293544" cy="320040"/>
          </a:xfrm>
          <a:prstGeom prst="rect">
            <a:avLst/>
          </a:prstGeom>
          <a:noFill/>
          <a:ln/>
        </p:spPr>
        <p:txBody>
          <a:bodyPr wrap="square" lIns="0" tIns="0" rIns="0" bIns="0" rtlCol="0" anchor="t"/>
          <a:lstStyle/>
          <a:p>
            <a:pPr indent="0" marL="0">
              <a:buNone/>
            </a:pPr>
            <a:r>
              <a:rPr lang="en-US" sz="1400" b="1" dirty="0">
                <a:solidFill>
                  <a:schemeClr val="accent3"/>
                </a:solidFill>
              </a:rPr>
              <a:t>Evaluation suite</a:t>
            </a:r>
            <a:endParaRPr lang="en-US" sz="1400" dirty="0"/>
          </a:p>
        </p:txBody>
      </p:sp>
      <p:sp>
        <p:nvSpPr>
          <p:cNvPr id="24" name="Text 21"/>
          <p:cNvSpPr txBox="1"/>
          <p:nvPr/>
        </p:nvSpPr>
        <p:spPr>
          <a:xfrm>
            <a:off x="6370168" y="5513832"/>
            <a:ext cx="2293544" cy="640080"/>
          </a:xfrm>
          <a:prstGeom prst="rect">
            <a:avLst/>
          </a:prstGeom>
          <a:noFill/>
          <a:ln/>
        </p:spPr>
        <p:txBody>
          <a:bodyPr wrap="square" lIns="0" tIns="0" rIns="0" bIns="0" rtlCol="0" anchor="t"/>
          <a:lstStyle/>
          <a:p>
            <a:pPr indent="0" marL="0">
              <a:buNone/>
            </a:pPr>
            <a:r>
              <a:rPr lang="en-US" sz="1250" dirty="0">
                <a:solidFill>
                  <a:schemeClr val="tx2"/>
                </a:solidFill>
              </a:rPr>
              <a:t>operationalised from Kāvyālaṅkārasaṅgrahamu</a:t>
            </a:r>
            <a:endParaRPr lang="en-US" sz="1250" dirty="0"/>
          </a:p>
        </p:txBody>
      </p:sp>
      <p:sp>
        <p:nvSpPr>
          <p:cNvPr id="25" name="Shape 22"/>
          <p:cNvSpPr/>
          <p:nvPr/>
        </p:nvSpPr>
        <p:spPr>
          <a:xfrm>
            <a:off x="9075191" y="5120640"/>
            <a:ext cx="2567864" cy="1051560"/>
          </a:xfrm>
          <a:prstGeom prst="roundRect">
            <a:avLst>
              <a:gd name="adj" fmla="val 8696"/>
            </a:avLst>
          </a:prstGeom>
          <a:solidFill>
            <a:schemeClr val="bg1"/>
          </a:solidFill>
          <a:ln w="12700">
            <a:solidFill>
              <a:schemeClr val="accent3"/>
            </a:solidFill>
            <a:prstDash val="solid"/>
          </a:ln>
        </p:spPr>
      </p:sp>
      <p:sp>
        <p:nvSpPr>
          <p:cNvPr id="26" name="Text 23"/>
          <p:cNvSpPr txBox="1"/>
          <p:nvPr/>
        </p:nvSpPr>
        <p:spPr>
          <a:xfrm>
            <a:off x="9212351" y="5184648"/>
            <a:ext cx="2293544" cy="320040"/>
          </a:xfrm>
          <a:prstGeom prst="rect">
            <a:avLst/>
          </a:prstGeom>
          <a:noFill/>
          <a:ln/>
        </p:spPr>
        <p:txBody>
          <a:bodyPr wrap="square" lIns="0" tIns="0" rIns="0" bIns="0" rtlCol="0" anchor="t"/>
          <a:lstStyle/>
          <a:p>
            <a:pPr indent="0" marL="0">
              <a:buNone/>
            </a:pPr>
            <a:r>
              <a:rPr lang="en-US" sz="1400" b="1" dirty="0">
                <a:solidFill>
                  <a:schemeClr val="accent3"/>
                </a:solidFill>
              </a:rPr>
              <a:t>Coherence metric + RLVR</a:t>
            </a:r>
            <a:endParaRPr lang="en-US" sz="1400" dirty="0"/>
          </a:p>
        </p:txBody>
      </p:sp>
      <p:sp>
        <p:nvSpPr>
          <p:cNvPr id="27" name="Text 24"/>
          <p:cNvSpPr txBox="1"/>
          <p:nvPr/>
        </p:nvSpPr>
        <p:spPr>
          <a:xfrm>
            <a:off x="9212351" y="5513832"/>
            <a:ext cx="2293544" cy="640080"/>
          </a:xfrm>
          <a:prstGeom prst="rect">
            <a:avLst/>
          </a:prstGeom>
          <a:noFill/>
          <a:ln/>
        </p:spPr>
        <p:txBody>
          <a:bodyPr wrap="square" lIns="0" tIns="0" rIns="0" bIns="0" rtlCol="0" anchor="t"/>
          <a:lstStyle/>
          <a:p>
            <a:pPr indent="0" marL="0">
              <a:buNone/>
            </a:pPr>
            <a:r>
              <a:rPr lang="en-US" sz="1250" dirty="0">
                <a:solidFill>
                  <a:schemeClr val="tx2"/>
                </a:solidFill>
              </a:rPr>
              <a:t>from expert judgements; rewards for refinement</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Why poetry is hard: śabdaṃ and arthaṃ in balance</a:t>
            </a:r>
            <a:endParaRPr lang="en-US" sz="3200" dirty="0"/>
          </a:p>
        </p:txBody>
      </p:sp>
      <p:sp>
        <p:nvSpPr>
          <p:cNvPr id="4" name="Shape 1"/>
          <p:cNvSpPr/>
          <p:nvPr/>
        </p:nvSpPr>
        <p:spPr>
          <a:xfrm>
            <a:off x="822960" y="1463040"/>
            <a:ext cx="5852160" cy="3931920"/>
          </a:xfrm>
          <a:prstGeom prst="ellipse">
            <a:avLst/>
          </a:prstGeom>
          <a:solidFill>
            <a:schemeClr val="accent1">
              <a:alpha val="18000"/>
            </a:schemeClr>
          </a:solidFill>
          <a:ln w="19050">
            <a:solidFill>
              <a:schemeClr val="accent1"/>
            </a:solidFill>
            <a:prstDash val="solid"/>
          </a:ln>
        </p:spPr>
      </p:sp>
      <p:sp>
        <p:nvSpPr>
          <p:cNvPr id="5" name="Shape 2"/>
          <p:cNvSpPr/>
          <p:nvPr/>
        </p:nvSpPr>
        <p:spPr>
          <a:xfrm>
            <a:off x="5516575" y="1463040"/>
            <a:ext cx="5852160" cy="3931920"/>
          </a:xfrm>
          <a:prstGeom prst="ellipse">
            <a:avLst/>
          </a:prstGeom>
          <a:solidFill>
            <a:schemeClr val="accent3">
              <a:alpha val="18000"/>
            </a:schemeClr>
          </a:solidFill>
          <a:ln w="19050">
            <a:solidFill>
              <a:schemeClr val="accent3"/>
            </a:solidFill>
            <a:prstDash val="solid"/>
          </a:ln>
        </p:spPr>
      </p:sp>
      <p:sp>
        <p:nvSpPr>
          <p:cNvPr id="6" name="Text 3"/>
          <p:cNvSpPr txBox="1"/>
          <p:nvPr/>
        </p:nvSpPr>
        <p:spPr>
          <a:xfrm>
            <a:off x="1371600" y="1920240"/>
            <a:ext cx="301752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śabdaṃ · sound</a:t>
            </a:r>
            <a:endParaRPr lang="en-US" sz="2200" dirty="0"/>
          </a:p>
        </p:txBody>
      </p:sp>
      <p:sp>
        <p:nvSpPr>
          <p:cNvPr id="7" name="Text 4"/>
          <p:cNvSpPr txBox="1"/>
          <p:nvPr/>
        </p:nvSpPr>
        <p:spPr>
          <a:xfrm>
            <a:off x="1371600" y="246888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accent1"/>
                </a:solidFill>
              </a:rPr>
              <a:t>gaṇa </a:t>
            </a:r>
            <a:r>
              <a:rPr lang="en-US" sz="1400" dirty="0">
                <a:solidFill>
                  <a:schemeClr val="tx1"/>
                </a:solidFill>
              </a:rPr>
              <a:t>syllable-weight patterns</a:t>
            </a:r>
            <a:endParaRPr lang="en-US" sz="1400" dirty="0"/>
          </a:p>
          <a:p>
            <a:pPr marL="342900" indent="-342900">
              <a:spcAft>
                <a:spcPts val="600"/>
              </a:spcAft>
              <a:buSzPct val="100000"/>
              <a:buChar char="•"/>
            </a:pPr>
            <a:r>
              <a:rPr lang="en-US" sz="1400" b="1" dirty="0">
                <a:solidFill>
                  <a:schemeClr val="accent1"/>
                </a:solidFill>
              </a:rPr>
              <a:t>yati </a:t>
            </a:r>
            <a:r>
              <a:rPr lang="en-US" sz="1400" dirty="0">
                <a:solidFill>
                  <a:schemeClr val="tx1"/>
                </a:solidFill>
              </a:rPr>
              <a:t>caesural sound agreement</a:t>
            </a:r>
            <a:endParaRPr lang="en-US" sz="1400" dirty="0"/>
          </a:p>
          <a:p>
            <a:pPr marL="342900" indent="-342900">
              <a:spcAft>
                <a:spcPts val="600"/>
              </a:spcAft>
              <a:buSzPct val="100000"/>
              <a:buChar char="•"/>
            </a:pPr>
            <a:r>
              <a:rPr lang="en-US" sz="1400" b="1" dirty="0">
                <a:solidFill>
                  <a:schemeClr val="accent1"/>
                </a:solidFill>
              </a:rPr>
              <a:t>prāsa </a:t>
            </a:r>
            <a:r>
              <a:rPr lang="en-US" sz="1400" dirty="0">
                <a:solidFill>
                  <a:schemeClr val="tx1"/>
                </a:solidFill>
              </a:rPr>
              <a:t>line-initial rhyme</a:t>
            </a:r>
            <a:endParaRPr lang="en-US" sz="1400" dirty="0"/>
          </a:p>
          <a:p>
            <a:pPr marL="342900" indent="-342900">
              <a:spcAft>
                <a:spcPts val="600"/>
              </a:spcAft>
              <a:buSzPct val="100000"/>
              <a:buChar char="•"/>
            </a:pPr>
            <a:r>
              <a:rPr lang="en-US" sz="1400" b="1" dirty="0">
                <a:solidFill>
                  <a:schemeClr val="accent1"/>
                </a:solidFill>
              </a:rPr>
              <a:t>śabdālaṅkāra </a:t>
            </a:r>
            <a:r>
              <a:rPr lang="en-US" sz="1400" dirty="0">
                <a:solidFill>
                  <a:schemeClr val="tx1"/>
                </a:solidFill>
              </a:rPr>
              <a:t>alliteration, repetition</a:t>
            </a:r>
            <a:endParaRPr lang="en-US" sz="1400" dirty="0"/>
          </a:p>
          <a:p>
            <a:pPr marL="342900" indent="-342900">
              <a:spcAft>
                <a:spcPts val="600"/>
              </a:spcAft>
              <a:buSzPct val="100000"/>
              <a:buChar char="•"/>
            </a:pPr>
            <a:r>
              <a:rPr lang="en-US" sz="1400" dirty="0">
                <a:solidFill>
                  <a:schemeClr val="tx1"/>
                </a:solidFill>
              </a:rPr>
              <a:t>euphony, density, clarity</a:t>
            </a:r>
            <a:endParaRPr lang="en-US" sz="1400" dirty="0"/>
          </a:p>
        </p:txBody>
      </p:sp>
      <p:sp>
        <p:nvSpPr>
          <p:cNvPr id="8" name="Text 5"/>
          <p:cNvSpPr txBox="1"/>
          <p:nvPr/>
        </p:nvSpPr>
        <p:spPr>
          <a:xfrm>
            <a:off x="7802575" y="1920240"/>
            <a:ext cx="3017520" cy="457200"/>
          </a:xfrm>
          <a:prstGeom prst="rect">
            <a:avLst/>
          </a:prstGeom>
          <a:noFill/>
          <a:ln/>
        </p:spPr>
        <p:txBody>
          <a:bodyPr wrap="square" lIns="0" tIns="0" rIns="0" bIns="0" rtlCol="0" anchor="t"/>
          <a:lstStyle/>
          <a:p>
            <a:pPr algn="r" indent="0" marL="0">
              <a:buNone/>
            </a:pPr>
            <a:r>
              <a:rPr lang="en-US" sz="2200" b="1" dirty="0">
                <a:solidFill>
                  <a:schemeClr val="accent3"/>
                </a:solidFill>
                <a:latin typeface="Cambria" pitchFamily="34" charset="0"/>
                <a:ea typeface="Cambria" pitchFamily="34" charset="-122"/>
                <a:cs typeface="Cambria" pitchFamily="34" charset="-120"/>
              </a:rPr>
              <a:t>arthaṃ · meaning</a:t>
            </a:r>
            <a:endParaRPr lang="en-US" sz="2200" dirty="0"/>
          </a:p>
        </p:txBody>
      </p:sp>
      <p:sp>
        <p:nvSpPr>
          <p:cNvPr id="9" name="Text 6"/>
          <p:cNvSpPr txBox="1"/>
          <p:nvPr/>
        </p:nvSpPr>
        <p:spPr>
          <a:xfrm>
            <a:off x="7711135" y="246888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coherent ideas</a:t>
            </a:r>
            <a:endParaRPr lang="en-US" sz="1400" dirty="0"/>
          </a:p>
          <a:p>
            <a:pPr marL="342900" indent="-342900">
              <a:spcAft>
                <a:spcPts val="600"/>
              </a:spcAft>
              <a:buSzPct val="100000"/>
              <a:buChar char="•"/>
            </a:pPr>
            <a:r>
              <a:rPr lang="en-US" sz="1400" dirty="0">
                <a:solidFill>
                  <a:schemeClr val="tx1"/>
                </a:solidFill>
              </a:rPr>
              <a:t>contextually appropriate</a:t>
            </a:r>
            <a:endParaRPr lang="en-US" sz="1400" dirty="0"/>
          </a:p>
          <a:p>
            <a:pPr marL="342900" indent="-342900">
              <a:spcAft>
                <a:spcPts val="600"/>
              </a:spcAft>
              <a:buSzPct val="100000"/>
              <a:buChar char="•"/>
            </a:pPr>
            <a:r>
              <a:rPr lang="en-US" sz="1400" dirty="0">
                <a:solidFill>
                  <a:schemeClr val="tx1"/>
                </a:solidFill>
              </a:rPr>
              <a:t>expresses the given bhāvaṃ</a:t>
            </a:r>
            <a:endParaRPr lang="en-US" sz="1400" dirty="0"/>
          </a:p>
          <a:p>
            <a:pPr marL="342900" indent="-342900">
              <a:spcAft>
                <a:spcPts val="600"/>
              </a:spcAft>
              <a:buSzPct val="100000"/>
              <a:buChar char="•"/>
            </a:pPr>
            <a:r>
              <a:rPr lang="en-US" sz="1400" b="1" dirty="0">
                <a:solidFill>
                  <a:schemeClr val="accent3"/>
                </a:solidFill>
              </a:rPr>
              <a:t>arthālaṅkāra </a:t>
            </a:r>
            <a:r>
              <a:rPr lang="en-US" sz="1400" dirty="0">
                <a:solidFill>
                  <a:schemeClr val="tx1"/>
                </a:solidFill>
              </a:rPr>
              <a:t>simile, metaphor, hyperbole, wordplay</a:t>
            </a:r>
            <a:endParaRPr lang="en-US" sz="1400" dirty="0"/>
          </a:p>
          <a:p>
            <a:pPr marL="342900" indent="-342900">
              <a:spcAft>
                <a:spcPts val="600"/>
              </a:spcAft>
              <a:buSzPct val="100000"/>
              <a:buChar char="•"/>
            </a:pPr>
            <a:r>
              <a:rPr lang="en-US" sz="1400" dirty="0">
                <a:solidFill>
                  <a:schemeClr val="tx1"/>
                </a:solidFill>
              </a:rPr>
              <a:t>hardest to check by machine</a:t>
            </a:r>
            <a:endParaRPr lang="en-US" sz="1400" dirty="0"/>
          </a:p>
        </p:txBody>
      </p:sp>
      <p:sp>
        <p:nvSpPr>
          <p:cNvPr id="10" name="Text 7"/>
          <p:cNvSpPr txBox="1"/>
          <p:nvPr/>
        </p:nvSpPr>
        <p:spPr>
          <a:xfrm>
            <a:off x="4907128" y="2697480"/>
            <a:ext cx="2377440" cy="548640"/>
          </a:xfrm>
          <a:prstGeom prst="rect">
            <a:avLst/>
          </a:prstGeom>
          <a:noFill/>
          <a:ln/>
        </p:spPr>
        <p:txBody>
          <a:bodyPr wrap="square" lIns="0" tIns="0" rIns="0" bIns="0" rtlCol="0" anchor="t"/>
          <a:lstStyle/>
          <a:p>
            <a:pPr algn="ctr" indent="0" marL="0">
              <a:buNone/>
            </a:pPr>
            <a:r>
              <a:rPr lang="en-US" sz="2600" b="1" dirty="0">
                <a:solidFill>
                  <a:schemeClr val="tx1"/>
                </a:solidFill>
                <a:latin typeface="Cambria" pitchFamily="34" charset="0"/>
                <a:ea typeface="Cambria" pitchFamily="34" charset="-122"/>
                <a:cs typeface="Cambria" pitchFamily="34" charset="-120"/>
              </a:rPr>
              <a:t>padyaṃ</a:t>
            </a:r>
            <a:endParaRPr lang="en-US" sz="2600" dirty="0"/>
          </a:p>
        </p:txBody>
      </p:sp>
      <p:sp>
        <p:nvSpPr>
          <p:cNvPr id="11" name="Text 8"/>
          <p:cNvSpPr txBox="1"/>
          <p:nvPr/>
        </p:nvSpPr>
        <p:spPr>
          <a:xfrm>
            <a:off x="4724248" y="3291840"/>
            <a:ext cx="2743200" cy="1188720"/>
          </a:xfrm>
          <a:prstGeom prst="rect">
            <a:avLst/>
          </a:prstGeom>
          <a:noFill/>
          <a:ln/>
        </p:spPr>
        <p:txBody>
          <a:bodyPr wrap="square" lIns="0" tIns="0" rIns="0" bIns="0" rtlCol="0" anchor="t"/>
          <a:lstStyle/>
          <a:p>
            <a:pPr algn="ctr" indent="0" marL="0">
              <a:buNone/>
            </a:pPr>
            <a:r>
              <a:rPr lang="en-US" sz="1250" i="1" dirty="0">
                <a:solidFill>
                  <a:schemeClr val="tx2"/>
                </a:solidFill>
              </a:rPr>
              <a:t>śabdārtha samanvaya</a:t>
            </a:r>
            <a:endParaRPr lang="en-US" sz="1250" dirty="0"/>
          </a:p>
          <a:p>
            <a:pPr algn="ctr" indent="0" marL="0">
              <a:buNone/>
            </a:pPr>
            <a:r>
              <a:rPr lang="en-US" sz="1250" i="1" dirty="0">
                <a:solidFill>
                  <a:schemeClr val="tx2"/>
                </a:solidFill>
              </a:rPr>
              <a:t>sound and sense in equivalence</a:t>
            </a:r>
            <a:endParaRPr lang="en-US" sz="1250" dirty="0"/>
          </a:p>
          <a:p>
            <a:pPr algn="ctr" indent="0" marL="0">
              <a:buNone/>
            </a:pPr>
            <a:r>
              <a:rPr lang="en-US" sz="1250" i="1" dirty="0">
                <a:solidFill>
                  <a:schemeClr val="tx2"/>
                </a:solidFill>
              </a:rPr>
              <a:t>(Kāvyālaṅkārasaṅgrahamu, 16th c.)</a:t>
            </a:r>
            <a:endParaRPr lang="en-US" sz="1250" dirty="0"/>
          </a:p>
        </p:txBody>
      </p:sp>
      <p:sp>
        <p:nvSpPr>
          <p:cNvPr id="12" name="Text 9"/>
          <p:cNvSpPr txBox="1"/>
          <p:nvPr/>
        </p:nvSpPr>
        <p:spPr>
          <a:xfrm>
            <a:off x="548640" y="5577840"/>
            <a:ext cx="11094415" cy="457200"/>
          </a:xfrm>
          <a:prstGeom prst="rect">
            <a:avLst/>
          </a:prstGeom>
          <a:noFill/>
          <a:ln/>
        </p:spPr>
        <p:txBody>
          <a:bodyPr wrap="square" lIns="0" tIns="0" rIns="0" bIns="0" rtlCol="0" anchor="t"/>
          <a:lstStyle/>
          <a:p>
            <a:pPr algn="ctr" indent="0" marL="0">
              <a:buNone/>
            </a:pPr>
            <a:r>
              <a:rPr lang="en-US" sz="1400" dirty="0">
                <a:solidFill>
                  <a:schemeClr val="tx1"/>
                </a:solidFill>
              </a:rPr>
              <a:t>Metre without meaning is noise in perfect rhythm; meaning without metre is prose. Prior work solves one side at the expense of the other.</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Existing methods and their flaws</a:t>
            </a:r>
            <a:endParaRPr lang="en-US" sz="3200" dirty="0"/>
          </a:p>
        </p:txBody>
      </p:sp>
      <p:sp>
        <p:nvSpPr>
          <p:cNvPr id="4" name="card Soft route: steer the model, discard failures"/>
          <p:cNvSpPr/>
          <p:nvPr/>
        </p:nvSpPr>
        <p:spPr>
          <a:xfrm>
            <a:off x="548640" y="1325880"/>
            <a:ext cx="5410048" cy="3246120"/>
          </a:xfrm>
          <a:prstGeom prst="roundRect">
            <a:avLst>
              <a:gd name="adj" fmla="val 2817"/>
            </a:avLst>
          </a:prstGeom>
          <a:solidFill>
            <a:schemeClr val="bg2"/>
          </a:solidFill>
          <a:ln w="12700">
            <a:solidFill>
              <a:schemeClr val="bg2"/>
            </a:solidFill>
            <a:prstDash val="solid"/>
          </a:ln>
        </p:spPr>
      </p:sp>
      <p:sp>
        <p:nvSpPr>
          <p:cNvPr id="5" name="Text 2"/>
          <p:cNvSpPr txBox="1"/>
          <p:nvPr/>
        </p:nvSpPr>
        <p:spPr>
          <a:xfrm>
            <a:off x="749808" y="1490472"/>
            <a:ext cx="5026000" cy="384048"/>
          </a:xfrm>
          <a:prstGeom prst="rect">
            <a:avLst/>
          </a:prstGeom>
          <a:noFill/>
          <a:ln/>
        </p:spPr>
        <p:txBody>
          <a:bodyPr wrap="square" lIns="0" tIns="0" rIns="0" bIns="0" rtlCol="0" anchor="t"/>
          <a:lstStyle/>
          <a:p>
            <a:pPr indent="0" marL="0">
              <a:buNone/>
            </a:pPr>
            <a:r>
              <a:rPr lang="en-US" sz="1600" b="1" dirty="0">
                <a:solidFill>
                  <a:schemeClr val="accent1"/>
                </a:solidFill>
              </a:rPr>
              <a:t>Soft route: steer the model, discard failures</a:t>
            </a:r>
            <a:endParaRPr lang="en-US" sz="1600" dirty="0"/>
          </a:p>
        </p:txBody>
      </p:sp>
      <p:sp>
        <p:nvSpPr>
          <p:cNvPr id="6" name="Text 3"/>
          <p:cNvSpPr txBox="1"/>
          <p:nvPr/>
        </p:nvSpPr>
        <p:spPr>
          <a:xfrm>
            <a:off x="749808" y="1911096"/>
            <a:ext cx="5026000" cy="2551176"/>
          </a:xfrm>
          <a:prstGeom prst="rect">
            <a:avLst/>
          </a:prstGeom>
          <a:noFill/>
          <a:ln/>
        </p:spPr>
        <p:txBody>
          <a:bodyPr wrap="square" lIns="0" tIns="0" rIns="0" bIns="0" rtlCol="0" anchor="t"/>
          <a:lstStyle/>
          <a:p>
            <a:pPr marL="342900" indent="-342900">
              <a:spcAft>
                <a:spcPts val="400"/>
              </a:spcAft>
              <a:buSzPct val="100000"/>
              <a:buChar char="•"/>
            </a:pPr>
            <a:r>
              <a:rPr lang="en-US" sz="1350" b="1" dirty="0">
                <a:solidFill>
                  <a:schemeClr val="accent1"/>
                </a:solidFill>
              </a:rPr>
              <a:t>Deep-speare </a:t>
            </a:r>
            <a:r>
              <a:rPr lang="en-US" sz="1350" dirty="0">
                <a:solidFill>
                  <a:schemeClr val="tx1"/>
                </a:solidFill>
              </a:rPr>
              <a:t>(Lau et al., 2018): meter learnt jointly with language, English sonnets</a:t>
            </a:r>
            <a:endParaRPr lang="en-US" sz="1350" dirty="0"/>
          </a:p>
          <a:p>
            <a:pPr marL="342900" indent="-342900">
              <a:spcAft>
                <a:spcPts val="400"/>
              </a:spcAft>
              <a:buSzPct val="100000"/>
              <a:buChar char="•"/>
            </a:pPr>
            <a:r>
              <a:rPr lang="en-US" sz="1350" b="1" dirty="0">
                <a:solidFill>
                  <a:schemeClr val="accent1"/>
                </a:solidFill>
              </a:rPr>
              <a:t>SongNet </a:t>
            </a:r>
            <a:r>
              <a:rPr lang="en-US" sz="1350" dirty="0">
                <a:solidFill>
                  <a:schemeClr val="tx1"/>
                </a:solidFill>
              </a:rPr>
              <a:t>(Li et al., 2020): rigid formats for Chinese SongCi</a:t>
            </a:r>
            <a:endParaRPr lang="en-US" sz="1350" dirty="0"/>
          </a:p>
          <a:p>
            <a:pPr marL="342900" indent="-342900">
              <a:spcAft>
                <a:spcPts val="400"/>
              </a:spcAft>
              <a:buSzPct val="100000"/>
              <a:buChar char="•"/>
            </a:pPr>
            <a:r>
              <a:rPr lang="en-US" sz="1350" b="1" dirty="0">
                <a:solidFill>
                  <a:schemeClr val="accent1"/>
                </a:solidFill>
              </a:rPr>
              <a:t>PoeLM </a:t>
            </a:r>
            <a:r>
              <a:rPr lang="en-US" sz="1350" dirty="0">
                <a:solidFill>
                  <a:schemeClr val="tx1"/>
                </a:solidFill>
              </a:rPr>
              <a:t>(Ormazabal et al., 2022): control codes, sample many, keep what passes scansion</a:t>
            </a:r>
            <a:endParaRPr lang="en-US" sz="1350" dirty="0"/>
          </a:p>
          <a:p>
            <a:pPr marL="342900" indent="-342900">
              <a:spcAft>
                <a:spcPts val="400"/>
              </a:spcAft>
              <a:buSzPct val="100000"/>
              <a:buChar char="•"/>
            </a:pPr>
            <a:r>
              <a:rPr lang="en-US" sz="1350" b="1" dirty="0">
                <a:solidFill>
                  <a:schemeClr val="accent1"/>
                </a:solidFill>
              </a:rPr>
              <a:t>Bangla </a:t>
            </a:r>
            <a:r>
              <a:rPr lang="en-US" sz="1350" dirty="0">
                <a:solidFill>
                  <a:schemeClr val="tx1"/>
                </a:solidFill>
              </a:rPr>
              <a:t>(Amina et al., 2025): rhyme, matra, word-count tokens; follows the structure &gt; 90%</a:t>
            </a:r>
            <a:endParaRPr lang="en-US" sz="1350" dirty="0"/>
          </a:p>
          <a:p>
            <a:pPr marL="342900" indent="-342900">
              <a:spcAft>
                <a:spcPts val="400"/>
              </a:spcAft>
              <a:buSzPct val="100000"/>
              <a:buChar char="•"/>
            </a:pPr>
            <a:r>
              <a:rPr lang="en-US" sz="1350" b="1" dirty="0">
                <a:solidFill>
                  <a:schemeClr val="accent3"/>
                </a:solidFill>
              </a:rPr>
              <a:t>Flaw: </a:t>
            </a:r>
            <a:r>
              <a:rPr lang="en-US" sz="1350" dirty="0">
                <a:solidFill>
                  <a:schemeClr val="tx1"/>
                </a:solidFill>
              </a:rPr>
              <a:t>constraints are aggregates (a matra total, an end rhyme); semantic drift when several control tokens apply</a:t>
            </a:r>
            <a:endParaRPr lang="en-US" sz="1350" dirty="0"/>
          </a:p>
        </p:txBody>
      </p:sp>
      <p:sp>
        <p:nvSpPr>
          <p:cNvPr id="7" name="card Hard route: guarantee form at decode time"/>
          <p:cNvSpPr/>
          <p:nvPr/>
        </p:nvSpPr>
        <p:spPr>
          <a:xfrm>
            <a:off x="6233008" y="1325880"/>
            <a:ext cx="5410048" cy="3246120"/>
          </a:xfrm>
          <a:prstGeom prst="roundRect">
            <a:avLst>
              <a:gd name="adj" fmla="val 2817"/>
            </a:avLst>
          </a:prstGeom>
          <a:solidFill>
            <a:schemeClr val="bg2"/>
          </a:solidFill>
          <a:ln w="12700">
            <a:solidFill>
              <a:schemeClr val="bg2"/>
            </a:solidFill>
            <a:prstDash val="solid"/>
          </a:ln>
        </p:spPr>
      </p:sp>
      <p:sp>
        <p:nvSpPr>
          <p:cNvPr id="8" name="Text 5"/>
          <p:cNvSpPr txBox="1"/>
          <p:nvPr/>
        </p:nvSpPr>
        <p:spPr>
          <a:xfrm>
            <a:off x="6434176" y="1490472"/>
            <a:ext cx="5026000" cy="384048"/>
          </a:xfrm>
          <a:prstGeom prst="rect">
            <a:avLst/>
          </a:prstGeom>
          <a:noFill/>
          <a:ln/>
        </p:spPr>
        <p:txBody>
          <a:bodyPr wrap="square" lIns="0" tIns="0" rIns="0" bIns="0" rtlCol="0" anchor="t"/>
          <a:lstStyle/>
          <a:p>
            <a:pPr indent="0" marL="0">
              <a:buNone/>
            </a:pPr>
            <a:r>
              <a:rPr lang="en-US" sz="1600" b="1" dirty="0">
                <a:solidFill>
                  <a:schemeClr val="accent1"/>
                </a:solidFill>
              </a:rPr>
              <a:t>Hard route: guarantee form at decode time</a:t>
            </a:r>
            <a:endParaRPr lang="en-US" sz="1600" dirty="0"/>
          </a:p>
        </p:txBody>
      </p:sp>
      <p:sp>
        <p:nvSpPr>
          <p:cNvPr id="9" name="Text 6"/>
          <p:cNvSpPr txBox="1"/>
          <p:nvPr/>
        </p:nvSpPr>
        <p:spPr>
          <a:xfrm>
            <a:off x="6434176" y="1911096"/>
            <a:ext cx="5026000" cy="2551176"/>
          </a:xfrm>
          <a:prstGeom prst="rect">
            <a:avLst/>
          </a:prstGeom>
          <a:noFill/>
          <a:ln/>
        </p:spPr>
        <p:txBody>
          <a:bodyPr wrap="square" lIns="0" tIns="0" rIns="0" bIns="0" rtlCol="0" anchor="t"/>
          <a:lstStyle/>
          <a:p>
            <a:pPr marL="342900" indent="-342900">
              <a:spcAft>
                <a:spcPts val="400"/>
              </a:spcAft>
              <a:buSzPct val="100000"/>
              <a:buChar char="•"/>
            </a:pPr>
            <a:r>
              <a:rPr lang="en-US" sz="1350" b="1" dirty="0">
                <a:solidFill>
                  <a:schemeClr val="accent1"/>
                </a:solidFill>
              </a:rPr>
              <a:t>Constrained decoding </a:t>
            </a:r>
            <a:r>
              <a:rPr lang="en-US" sz="1350" dirty="0">
                <a:solidFill>
                  <a:schemeClr val="tx1"/>
                </a:solidFill>
              </a:rPr>
              <a:t>(Ghazvininejad et al., 2016; Lu et al., 2021; Geng et al., 2023)</a:t>
            </a:r>
            <a:endParaRPr lang="en-US" sz="1350" dirty="0"/>
          </a:p>
          <a:p>
            <a:pPr marL="342900" indent="-342900">
              <a:spcAft>
                <a:spcPts val="400"/>
              </a:spcAft>
              <a:buSzPct val="100000"/>
              <a:buChar char="•"/>
            </a:pPr>
            <a:r>
              <a:rPr lang="en-US" sz="1350" b="1" dirty="0">
                <a:solidFill>
                  <a:schemeClr val="accent1"/>
                </a:solidFill>
              </a:rPr>
              <a:t>Chandomitra, PINGALA </a:t>
            </a:r>
            <a:r>
              <a:rPr lang="en-US" sz="1350" dirty="0">
                <a:solidFill>
                  <a:schemeClr val="tx1"/>
                </a:solidFill>
              </a:rPr>
              <a:t>(Jagadeeshan et al., 2026a, b): near-perfect Anushtubh metre with greedy decoding</a:t>
            </a:r>
            <a:endParaRPr lang="en-US" sz="1350" dirty="0"/>
          </a:p>
          <a:p>
            <a:pPr marL="342900" indent="-342900">
              <a:spcAft>
                <a:spcPts val="400"/>
              </a:spcAft>
              <a:buSzPct val="100000"/>
              <a:buChar char="•"/>
            </a:pPr>
            <a:r>
              <a:rPr lang="en-US" sz="1350" b="1" dirty="0">
                <a:solidFill>
                  <a:schemeClr val="accent3"/>
                </a:solidFill>
              </a:rPr>
              <a:t>Flaw: </a:t>
            </a:r>
            <a:r>
              <a:rPr lang="en-US" sz="1350" dirty="0">
                <a:solidFill>
                  <a:schemeClr val="tx1"/>
                </a:solidFill>
              </a:rPr>
              <a:t>human raters score coherence at 2.1 to 2.7 on a 5-point scale</a:t>
            </a:r>
            <a:endParaRPr lang="en-US" sz="1350" dirty="0"/>
          </a:p>
          <a:p>
            <a:pPr marL="342900" indent="-342900">
              <a:spcAft>
                <a:spcPts val="400"/>
              </a:spcAft>
              <a:buSzPct val="100000"/>
              <a:buChar char="•"/>
            </a:pPr>
            <a:r>
              <a:rPr lang="en-US" sz="1350" b="1" dirty="0">
                <a:solidFill>
                  <a:schemeClr val="accent1"/>
                </a:solidFill>
              </a:rPr>
              <a:t>PoetryDiffusion </a:t>
            </a:r>
            <a:r>
              <a:rPr lang="en-US" sz="1350" dirty="0">
                <a:solidFill>
                  <a:schemeClr val="tx1"/>
                </a:solidFill>
              </a:rPr>
              <a:t>(Hu et al., 2023): text diffusion with a learned BERT metrical controller, aims at both</a:t>
            </a:r>
            <a:endParaRPr lang="en-US" sz="1350" dirty="0"/>
          </a:p>
        </p:txBody>
      </p:sp>
      <p:sp>
        <p:nvSpPr>
          <p:cNvPr id="10" name="Shape 7"/>
          <p:cNvSpPr/>
          <p:nvPr/>
        </p:nvSpPr>
        <p:spPr>
          <a:xfrm>
            <a:off x="548640" y="4846320"/>
            <a:ext cx="11094415" cy="1143000"/>
          </a:xfrm>
          <a:prstGeom prst="roundRect">
            <a:avLst>
              <a:gd name="adj" fmla="val 8000"/>
            </a:avLst>
          </a:prstGeom>
          <a:solidFill>
            <a:schemeClr val="accent1"/>
          </a:solidFill>
          <a:ln w="12700">
            <a:solidFill>
              <a:schemeClr val="accent1"/>
            </a:solidFill>
            <a:prstDash val="solid"/>
          </a:ln>
        </p:spPr>
      </p:sp>
      <p:sp>
        <p:nvSpPr>
          <p:cNvPr id="11" name="Text 8"/>
          <p:cNvSpPr txBox="1"/>
          <p:nvPr/>
        </p:nvSpPr>
        <p:spPr>
          <a:xfrm>
            <a:off x="822960" y="4937760"/>
            <a:ext cx="10545775" cy="96012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Metre is close to solved; meaning under metre is not.</a:t>
            </a:r>
            <a:endParaRPr lang="en-US" sz="1400" dirty="0"/>
          </a:p>
          <a:p>
            <a:pPr indent="0" marL="0">
              <a:buNone/>
            </a:pPr>
            <a:r>
              <a:rPr lang="en-US" sz="1400" dirty="0">
                <a:solidFill>
                  <a:schemeClr val="bg1"/>
                </a:solidFill>
              </a:rPr>
              <a:t>We keep a deterministic metrical controller inside the decoding loop and attack semantic coherence on top of it.</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Why Telugu is different</a:t>
            </a:r>
            <a:endParaRPr lang="en-US" sz="3200" dirty="0"/>
          </a:p>
        </p:txBody>
      </p:sp>
      <p:sp>
        <p:nvSpPr>
          <p:cNvPr id="4" name="card Three constraints on every line, at once"/>
          <p:cNvSpPr/>
          <p:nvPr/>
        </p:nvSpPr>
        <p:spPr>
          <a:xfrm>
            <a:off x="548640" y="1325880"/>
            <a:ext cx="5410048" cy="2331720"/>
          </a:xfrm>
          <a:prstGeom prst="roundRect">
            <a:avLst>
              <a:gd name="adj" fmla="val 3922"/>
            </a:avLst>
          </a:prstGeom>
          <a:solidFill>
            <a:schemeClr val="bg2"/>
          </a:solidFill>
          <a:ln w="12700">
            <a:solidFill>
              <a:schemeClr val="bg2"/>
            </a:solidFill>
            <a:prstDash val="solid"/>
          </a:ln>
        </p:spPr>
      </p:sp>
      <p:sp>
        <p:nvSpPr>
          <p:cNvPr id="5" name="Shape 2"/>
          <p:cNvSpPr/>
          <p:nvPr/>
        </p:nvSpPr>
        <p:spPr>
          <a:xfrm>
            <a:off x="749808" y="1508760"/>
            <a:ext cx="420624" cy="420624"/>
          </a:xfrm>
          <a:prstGeom prst="ellipse">
            <a:avLst/>
          </a:prstGeom>
          <a:solidFill>
            <a:schemeClr val="accent1"/>
          </a:solidFill>
          <a:ln w="12700">
            <a:solidFill>
              <a:schemeClr val="accent1"/>
            </a:solidFill>
            <a:prstDash val="solid"/>
          </a:ln>
        </p:spPr>
      </p:sp>
      <p:sp>
        <p:nvSpPr>
          <p:cNvPr id="6" name="Text 3"/>
          <p:cNvSpPr txBox="1"/>
          <p:nvPr/>
        </p:nvSpPr>
        <p:spPr>
          <a:xfrm>
            <a:off x="749808"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80160" y="1490472"/>
            <a:ext cx="4495648" cy="457200"/>
          </a:xfrm>
          <a:prstGeom prst="rect">
            <a:avLst/>
          </a:prstGeom>
          <a:noFill/>
          <a:ln/>
        </p:spPr>
        <p:txBody>
          <a:bodyPr wrap="square" lIns="0" tIns="0" rIns="0" bIns="0" rtlCol="0" anchor="ctr"/>
          <a:lstStyle/>
          <a:p>
            <a:pPr indent="0" marL="0">
              <a:buNone/>
            </a:pPr>
            <a:r>
              <a:rPr lang="en-US" sz="1600" b="1" dirty="0">
                <a:solidFill>
                  <a:schemeClr val="accent1"/>
                </a:solidFill>
              </a:rPr>
              <a:t>Three constraints on every line, at once</a:t>
            </a:r>
            <a:endParaRPr lang="en-US" sz="1600" dirty="0"/>
          </a:p>
        </p:txBody>
      </p:sp>
      <p:sp>
        <p:nvSpPr>
          <p:cNvPr id="8" name="Text 5"/>
          <p:cNvSpPr txBox="1"/>
          <p:nvPr/>
        </p:nvSpPr>
        <p:spPr>
          <a:xfrm>
            <a:off x="749808" y="2057400"/>
            <a:ext cx="5026000" cy="14904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gaṇa grid from the first akṣara</a:t>
            </a:r>
            <a:endParaRPr lang="en-US" sz="1350" dirty="0"/>
          </a:p>
          <a:p>
            <a:pPr marL="342900" indent="-342900">
              <a:spcAft>
                <a:spcPts val="400"/>
              </a:spcAft>
              <a:buSzPct val="100000"/>
              <a:buChar char="•"/>
            </a:pPr>
            <a:r>
              <a:rPr lang="en-US" sz="1350" dirty="0">
                <a:solidFill>
                  <a:schemeClr val="tx1"/>
                </a:solidFill>
              </a:rPr>
              <a:t>prāsa: second akṣara of every line repeats a consonant</a:t>
            </a:r>
            <a:endParaRPr lang="en-US" sz="1350" dirty="0"/>
          </a:p>
          <a:p>
            <a:pPr marL="342900" indent="-342900">
              <a:spcAft>
                <a:spcPts val="400"/>
              </a:spcAft>
              <a:buSzPct val="100000"/>
              <a:buChar char="•"/>
            </a:pPr>
            <a:r>
              <a:rPr lang="en-US" sz="1350" dirty="0">
                <a:solidFill>
                  <a:schemeClr val="tx1"/>
                </a:solidFill>
              </a:rPr>
              <a:t>yati: a seat inside the line must agree in sound with the line’s first akṣara (vaḷi)</a:t>
            </a:r>
            <a:endParaRPr lang="en-US" sz="1350" dirty="0"/>
          </a:p>
          <a:p>
            <a:pPr marL="342900" indent="-342900">
              <a:spcAft>
                <a:spcPts val="400"/>
              </a:spcAft>
              <a:buSzPct val="100000"/>
              <a:buChar char="•"/>
            </a:pPr>
            <a:r>
              <a:rPr lang="en-US" sz="1350" dirty="0">
                <a:solidFill>
                  <a:schemeClr val="tx1"/>
                </a:solidFill>
              </a:rPr>
              <a:t>positional rules, not aggregates</a:t>
            </a:r>
            <a:endParaRPr lang="en-US" sz="1350" dirty="0"/>
          </a:p>
        </p:txBody>
      </p:sp>
      <p:sp>
        <p:nvSpPr>
          <p:cNvPr id="9" name="card 37 metres in three families"/>
          <p:cNvSpPr/>
          <p:nvPr/>
        </p:nvSpPr>
        <p:spPr>
          <a:xfrm>
            <a:off x="6233008" y="1325880"/>
            <a:ext cx="5410048" cy="2331720"/>
          </a:xfrm>
          <a:prstGeom prst="roundRect">
            <a:avLst>
              <a:gd name="adj" fmla="val 3922"/>
            </a:avLst>
          </a:prstGeom>
          <a:solidFill>
            <a:schemeClr val="bg2"/>
          </a:solidFill>
          <a:ln w="12700">
            <a:solidFill>
              <a:schemeClr val="bg2"/>
            </a:solidFill>
            <a:prstDash val="solid"/>
          </a:ln>
        </p:spPr>
      </p:sp>
      <p:sp>
        <p:nvSpPr>
          <p:cNvPr id="10" name="Shape 7"/>
          <p:cNvSpPr/>
          <p:nvPr/>
        </p:nvSpPr>
        <p:spPr>
          <a:xfrm>
            <a:off x="6434176" y="1508760"/>
            <a:ext cx="420624" cy="420624"/>
          </a:xfrm>
          <a:prstGeom prst="ellipse">
            <a:avLst/>
          </a:prstGeom>
          <a:solidFill>
            <a:schemeClr val="accent1"/>
          </a:solidFill>
          <a:ln w="12700">
            <a:solidFill>
              <a:schemeClr val="accent1"/>
            </a:solidFill>
            <a:prstDash val="solid"/>
          </a:ln>
        </p:spPr>
      </p:sp>
      <p:sp>
        <p:nvSpPr>
          <p:cNvPr id="11" name="Text 8"/>
          <p:cNvSpPr txBox="1"/>
          <p:nvPr/>
        </p:nvSpPr>
        <p:spPr>
          <a:xfrm>
            <a:off x="6434176"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6964528" y="1490472"/>
            <a:ext cx="4495648" cy="457200"/>
          </a:xfrm>
          <a:prstGeom prst="rect">
            <a:avLst/>
          </a:prstGeom>
          <a:noFill/>
          <a:ln/>
        </p:spPr>
        <p:txBody>
          <a:bodyPr wrap="square" lIns="0" tIns="0" rIns="0" bIns="0" rtlCol="0" anchor="ctr"/>
          <a:lstStyle/>
          <a:p>
            <a:pPr indent="0" marL="0">
              <a:buNone/>
            </a:pPr>
            <a:r>
              <a:rPr lang="en-US" sz="1600" b="1" dirty="0">
                <a:solidFill>
                  <a:schemeClr val="accent1"/>
                </a:solidFill>
              </a:rPr>
              <a:t>37 metres in three families</a:t>
            </a:r>
            <a:endParaRPr lang="en-US" sz="1600" dirty="0"/>
          </a:p>
        </p:txBody>
      </p:sp>
      <p:sp>
        <p:nvSpPr>
          <p:cNvPr id="13" name="Text 10"/>
          <p:cNvSpPr txBox="1"/>
          <p:nvPr/>
        </p:nvSpPr>
        <p:spPr>
          <a:xfrm>
            <a:off x="6434176" y="2057400"/>
            <a:ext cx="5026000" cy="14904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26 vṛtta: a fixed gaṇa sequence</a:t>
            </a:r>
            <a:endParaRPr lang="en-US" sz="1350" dirty="0"/>
          </a:p>
          <a:p>
            <a:pPr marL="342900" indent="-342900">
              <a:spcAft>
                <a:spcPts val="400"/>
              </a:spcAft>
              <a:buSzPct val="100000"/>
              <a:buChar char="•"/>
            </a:pPr>
            <a:r>
              <a:rPr lang="en-US" sz="1350" dirty="0">
                <a:solidFill>
                  <a:schemeClr val="tx1"/>
                </a:solidFill>
              </a:rPr>
              <a:t>8 jāti: gaṇa classes, lines of varying length</a:t>
            </a:r>
            <a:endParaRPr lang="en-US" sz="1350" dirty="0"/>
          </a:p>
          <a:p>
            <a:pPr marL="342900" indent="-342900">
              <a:spcAft>
                <a:spcPts val="400"/>
              </a:spcAft>
              <a:buSzPct val="100000"/>
              <a:buChar char="•"/>
            </a:pPr>
            <a:r>
              <a:rPr lang="en-US" sz="1350" dirty="0">
                <a:solidFill>
                  <a:schemeClr val="tx1"/>
                </a:solidFill>
              </a:rPr>
              <a:t>3 upajāti: composite stanzas, no prāsa</a:t>
            </a:r>
            <a:endParaRPr lang="en-US" sz="1350" dirty="0"/>
          </a:p>
          <a:p>
            <a:pPr marL="342900" indent="-342900">
              <a:spcAft>
                <a:spcPts val="400"/>
              </a:spcAft>
              <a:buSzPct val="100000"/>
              <a:buChar char="•"/>
            </a:pPr>
            <a:r>
              <a:rPr lang="en-US" sz="1350" dirty="0">
                <a:solidFill>
                  <a:schemeClr val="tx1"/>
                </a:solidFill>
              </a:rPr>
              <a:t>one controller must serve all of them</a:t>
            </a:r>
            <a:endParaRPr lang="en-US" sz="1350" dirty="0"/>
          </a:p>
        </p:txBody>
      </p:sp>
      <p:sp>
        <p:nvSpPr>
          <p:cNvPr id="14" name="card An alpha-syllabary script"/>
          <p:cNvSpPr/>
          <p:nvPr/>
        </p:nvSpPr>
        <p:spPr>
          <a:xfrm>
            <a:off x="548640" y="3886200"/>
            <a:ext cx="5410048" cy="2331720"/>
          </a:xfrm>
          <a:prstGeom prst="roundRect">
            <a:avLst>
              <a:gd name="adj" fmla="val 3922"/>
            </a:avLst>
          </a:prstGeom>
          <a:solidFill>
            <a:schemeClr val="bg2"/>
          </a:solidFill>
          <a:ln w="12700">
            <a:solidFill>
              <a:schemeClr val="bg2"/>
            </a:solidFill>
            <a:prstDash val="solid"/>
          </a:ln>
        </p:spPr>
      </p:sp>
      <p:sp>
        <p:nvSpPr>
          <p:cNvPr id="15" name="Shape 12"/>
          <p:cNvSpPr/>
          <p:nvPr/>
        </p:nvSpPr>
        <p:spPr>
          <a:xfrm>
            <a:off x="749808" y="4069080"/>
            <a:ext cx="420624" cy="420624"/>
          </a:xfrm>
          <a:prstGeom prst="ellipse">
            <a:avLst/>
          </a:prstGeom>
          <a:solidFill>
            <a:schemeClr val="accent1"/>
          </a:solidFill>
          <a:ln w="12700">
            <a:solidFill>
              <a:schemeClr val="accent1"/>
            </a:solidFill>
            <a:prstDash val="solid"/>
          </a:ln>
        </p:spPr>
      </p:sp>
      <p:sp>
        <p:nvSpPr>
          <p:cNvPr id="16" name="Text 13"/>
          <p:cNvSpPr txBox="1"/>
          <p:nvPr/>
        </p:nvSpPr>
        <p:spPr>
          <a:xfrm>
            <a:off x="749808" y="4069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280160" y="4050792"/>
            <a:ext cx="4495648" cy="457200"/>
          </a:xfrm>
          <a:prstGeom prst="rect">
            <a:avLst/>
          </a:prstGeom>
          <a:noFill/>
          <a:ln/>
        </p:spPr>
        <p:txBody>
          <a:bodyPr wrap="square" lIns="0" tIns="0" rIns="0" bIns="0" rtlCol="0" anchor="ctr"/>
          <a:lstStyle/>
          <a:p>
            <a:pPr indent="0" marL="0">
              <a:buNone/>
            </a:pPr>
            <a:r>
              <a:rPr lang="en-US" sz="1600" b="1" dirty="0">
                <a:solidFill>
                  <a:schemeClr val="accent1"/>
                </a:solidFill>
              </a:rPr>
              <a:t>An alpha-syllabary script</a:t>
            </a:r>
            <a:endParaRPr lang="en-US" sz="1600" dirty="0"/>
          </a:p>
        </p:txBody>
      </p:sp>
      <p:sp>
        <p:nvSpPr>
          <p:cNvPr id="18" name="Text 15"/>
          <p:cNvSpPr txBox="1"/>
          <p:nvPr/>
        </p:nvSpPr>
        <p:spPr>
          <a:xfrm>
            <a:off x="749808" y="4617720"/>
            <a:ext cx="5026000" cy="14904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an akṣara’s weight stays pending until the next onset: a following conjunct makes it heavy</a:t>
            </a:r>
            <a:endParaRPr lang="en-US" sz="1350" dirty="0"/>
          </a:p>
          <a:p>
            <a:pPr marL="342900" indent="-342900">
              <a:spcAft>
                <a:spcPts val="400"/>
              </a:spcAft>
              <a:buSzPct val="100000"/>
              <a:buChar char="•"/>
            </a:pPr>
            <a:r>
              <a:rPr lang="en-US" sz="1350" dirty="0">
                <a:solidFill>
                  <a:schemeClr val="tx1"/>
                </a:solidFill>
              </a:rPr>
              <a:t>sandhi can hide a yati seat</a:t>
            </a:r>
            <a:endParaRPr lang="en-US" sz="1350" dirty="0"/>
          </a:p>
          <a:p>
            <a:pPr marL="342900" indent="-342900">
              <a:spcAft>
                <a:spcPts val="400"/>
              </a:spcAft>
              <a:buSzPct val="100000"/>
              <a:buChar char="•"/>
            </a:pPr>
            <a:r>
              <a:rPr lang="en-US" sz="1350" dirty="0">
                <a:solidFill>
                  <a:schemeClr val="tx1"/>
                </a:solidFill>
              </a:rPr>
              <a:t>subword tokenizers spend 1.2 to 1.4 tokens per akṣara</a:t>
            </a:r>
            <a:endParaRPr lang="en-US" sz="1350" dirty="0"/>
          </a:p>
        </p:txBody>
      </p:sp>
      <p:sp>
        <p:nvSpPr>
          <p:cNvPr id="19" name="card An evaluation gap"/>
          <p:cNvSpPr/>
          <p:nvPr/>
        </p:nvSpPr>
        <p:spPr>
          <a:xfrm>
            <a:off x="6233008" y="3886200"/>
            <a:ext cx="5410048" cy="2331720"/>
          </a:xfrm>
          <a:prstGeom prst="roundRect">
            <a:avLst>
              <a:gd name="adj" fmla="val 3922"/>
            </a:avLst>
          </a:prstGeom>
          <a:solidFill>
            <a:schemeClr val="bg2"/>
          </a:solidFill>
          <a:ln w="12700">
            <a:solidFill>
              <a:schemeClr val="bg2"/>
            </a:solidFill>
            <a:prstDash val="solid"/>
          </a:ln>
        </p:spPr>
      </p:sp>
      <p:sp>
        <p:nvSpPr>
          <p:cNvPr id="20" name="Shape 17"/>
          <p:cNvSpPr/>
          <p:nvPr/>
        </p:nvSpPr>
        <p:spPr>
          <a:xfrm>
            <a:off x="6434176" y="4069080"/>
            <a:ext cx="420624" cy="420624"/>
          </a:xfrm>
          <a:prstGeom prst="ellipse">
            <a:avLst/>
          </a:prstGeom>
          <a:solidFill>
            <a:schemeClr val="accent1"/>
          </a:solidFill>
          <a:ln w="12700">
            <a:solidFill>
              <a:schemeClr val="accent1"/>
            </a:solidFill>
            <a:prstDash val="solid"/>
          </a:ln>
        </p:spPr>
      </p:sp>
      <p:sp>
        <p:nvSpPr>
          <p:cNvPr id="21" name="Text 18"/>
          <p:cNvSpPr txBox="1"/>
          <p:nvPr/>
        </p:nvSpPr>
        <p:spPr>
          <a:xfrm>
            <a:off x="6434176" y="4069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6964528" y="4050792"/>
            <a:ext cx="4495648" cy="457200"/>
          </a:xfrm>
          <a:prstGeom prst="rect">
            <a:avLst/>
          </a:prstGeom>
          <a:noFill/>
          <a:ln/>
        </p:spPr>
        <p:txBody>
          <a:bodyPr wrap="square" lIns="0" tIns="0" rIns="0" bIns="0" rtlCol="0" anchor="ctr"/>
          <a:lstStyle/>
          <a:p>
            <a:pPr indent="0" marL="0">
              <a:buNone/>
            </a:pPr>
            <a:r>
              <a:rPr lang="en-US" sz="1600" b="1" dirty="0">
                <a:solidFill>
                  <a:schemeClr val="accent1"/>
                </a:solidFill>
              </a:rPr>
              <a:t>An evaluation gap</a:t>
            </a:r>
            <a:endParaRPr lang="en-US" sz="1600" dirty="0"/>
          </a:p>
        </p:txBody>
      </p:sp>
      <p:sp>
        <p:nvSpPr>
          <p:cNvPr id="23" name="Text 20"/>
          <p:cNvSpPr txBox="1"/>
          <p:nvPr/>
        </p:nvSpPr>
        <p:spPr>
          <a:xfrm>
            <a:off x="6434176" y="4617720"/>
            <a:ext cx="5026000" cy="14904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metre: a deterministic identifier for Sanskrit, only an approximate checker for Telugu</a:t>
            </a:r>
            <a:endParaRPr lang="en-US" sz="1350" dirty="0"/>
          </a:p>
          <a:p>
            <a:pPr marL="342900" indent="-342900">
              <a:spcAft>
                <a:spcPts val="400"/>
              </a:spcAft>
              <a:buSzPct val="100000"/>
              <a:buChar char="•"/>
            </a:pPr>
            <a:r>
              <a:rPr lang="en-US" sz="1350" dirty="0">
                <a:solidFill>
                  <a:schemeClr val="tx1"/>
                </a:solidFill>
              </a:rPr>
              <a:t>meaning: no metric; MAUVE unvalidated on classical poetry</a:t>
            </a:r>
            <a:endParaRPr lang="en-US" sz="1350" dirty="0"/>
          </a:p>
          <a:p>
            <a:pPr marL="342900" indent="-342900">
              <a:spcAft>
                <a:spcPts val="400"/>
              </a:spcAft>
              <a:buSzPct val="100000"/>
              <a:buChar char="•"/>
            </a:pPr>
            <a:r>
              <a:rPr lang="en-US" sz="1350" dirty="0">
                <a:solidFill>
                  <a:schemeClr val="tx1"/>
                </a:solidFill>
              </a:rPr>
              <a:t>śabdālaṅkāra identifiers exist only for Sanskrit</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Chandassu and the akṣara: what is annotated</a:t>
            </a:r>
            <a:endParaRPr lang="en-US" sz="3200" dirty="0"/>
          </a:p>
        </p:txBody>
      </p:sp>
      <p:sp>
        <p:nvSpPr>
          <p:cNvPr id="4" name="Text 1"/>
          <p:cNvSpPr txBox="1"/>
          <p:nvPr/>
        </p:nvSpPr>
        <p:spPr>
          <a:xfrm>
            <a:off x="548640" y="1325880"/>
            <a:ext cx="4572000" cy="4846320"/>
          </a:xfrm>
          <a:prstGeom prst="rect">
            <a:avLst/>
          </a:prstGeom>
          <a:noFill/>
          <a:ln/>
        </p:spPr>
        <p:txBody>
          <a:bodyPr wrap="square" lIns="0" tIns="0" rIns="0" bIns="0" rtlCol="0" anchor="t"/>
          <a:lstStyle/>
          <a:p>
            <a:pPr marL="342900" indent="-342900">
              <a:spcAft>
                <a:spcPts val="700"/>
              </a:spcAft>
              <a:buSzPct val="100000"/>
              <a:buChar char="•"/>
            </a:pPr>
            <a:r>
              <a:rPr lang="en-US" sz="1400" b="1" dirty="0">
                <a:solidFill>
                  <a:schemeClr val="accent1"/>
                </a:solidFill>
              </a:rPr>
              <a:t>akṣara </a:t>
            </a:r>
            <a:r>
              <a:rPr lang="en-US" sz="1400" dirty="0">
                <a:solidFill>
                  <a:schemeClr val="tx1"/>
                </a:solidFill>
              </a:rPr>
              <a:t>a syllable; guru (heavy, U) or laghu (light, I)</a:t>
            </a:r>
            <a:endParaRPr lang="en-US" sz="1400" dirty="0"/>
          </a:p>
          <a:p>
            <a:pPr marL="342900" indent="-342900">
              <a:spcAft>
                <a:spcPts val="700"/>
              </a:spcAft>
              <a:buSzPct val="100000"/>
              <a:buChar char="•"/>
            </a:pPr>
            <a:r>
              <a:rPr lang="en-US" sz="1400" b="1" dirty="0">
                <a:solidFill>
                  <a:schemeClr val="accent1"/>
                </a:solidFill>
              </a:rPr>
              <a:t>gaṇa </a:t>
            </a:r>
            <a:r>
              <a:rPr lang="en-US" sz="1400" dirty="0">
                <a:solidFill>
                  <a:schemeClr val="tx1"/>
                </a:solidFill>
              </a:rPr>
              <a:t>a fixed group of weights: bha UII, ja IUI, sa IIU, na III, ya IUU, ra UIU, ta UUI, ma UUU, ga U, va IU</a:t>
            </a:r>
            <a:endParaRPr lang="en-US" sz="1400" dirty="0"/>
          </a:p>
          <a:p>
            <a:pPr marL="342900" indent="-342900">
              <a:spcAft>
                <a:spcPts val="700"/>
              </a:spcAft>
              <a:buSzPct val="100000"/>
              <a:buChar char="•"/>
            </a:pPr>
            <a:r>
              <a:rPr lang="en-US" sz="1400" b="1" dirty="0">
                <a:solidFill>
                  <a:schemeClr val="accent1"/>
                </a:solidFill>
              </a:rPr>
              <a:t>pāda </a:t>
            </a:r>
            <a:r>
              <a:rPr lang="en-US" sz="1400" dirty="0">
                <a:solidFill>
                  <a:schemeClr val="tx1"/>
                </a:solidFill>
              </a:rPr>
              <a:t>a line; a slot is a kind of line a metre allows</a:t>
            </a:r>
            <a:endParaRPr lang="en-US" sz="1400" dirty="0"/>
          </a:p>
          <a:p>
            <a:pPr marL="342900" indent="-342900">
              <a:spcAft>
                <a:spcPts val="700"/>
              </a:spcAft>
              <a:buSzPct val="100000"/>
              <a:buChar char="•"/>
            </a:pPr>
            <a:r>
              <a:rPr lang="en-US" sz="1400" b="1" dirty="0">
                <a:solidFill>
                  <a:schemeClr val="accent1"/>
                </a:solidFill>
              </a:rPr>
              <a:t>yati </a:t>
            </a:r>
            <a:r>
              <a:rPr lang="en-US" sz="1400" dirty="0">
                <a:solidFill>
                  <a:schemeClr val="tx1"/>
                </a:solidFill>
              </a:rPr>
              <a:t>at a yati seat the akṣara must agree in sound (maitri) with the line’s first akṣara, the vaḷi</a:t>
            </a:r>
            <a:endParaRPr lang="en-US" sz="1400" dirty="0"/>
          </a:p>
          <a:p>
            <a:pPr marL="342900" indent="-342900">
              <a:spcAft>
                <a:spcPts val="700"/>
              </a:spcAft>
              <a:buSzPct val="100000"/>
              <a:buChar char="•"/>
            </a:pPr>
            <a:r>
              <a:rPr lang="en-US" sz="1400" b="1" dirty="0">
                <a:solidFill>
                  <a:schemeClr val="accent1"/>
                </a:solidFill>
              </a:rPr>
              <a:t>prāsa </a:t>
            </a:r>
            <a:r>
              <a:rPr lang="en-US" sz="1400" dirty="0">
                <a:solidFill>
                  <a:schemeClr val="tx1"/>
                </a:solidFill>
              </a:rPr>
              <a:t>the second akṣara of every line repeats the consonant of line 1’s second akṣara</a:t>
            </a:r>
            <a:endParaRPr lang="en-US" sz="1400" dirty="0"/>
          </a:p>
          <a:p>
            <a:pPr marL="342900" indent="-342900">
              <a:spcAft>
                <a:spcPts val="700"/>
              </a:spcAft>
              <a:buSzPct val="100000"/>
              <a:buChar char="•"/>
            </a:pPr>
            <a:r>
              <a:rPr lang="en-US" sz="1400" b="1" dirty="0">
                <a:solidFill>
                  <a:schemeClr val="accent1"/>
                </a:solidFill>
              </a:rPr>
              <a:t>pending weight </a:t>
            </a:r>
            <a:r>
              <a:rPr lang="en-US" sz="1400" dirty="0">
                <a:solidFill>
                  <a:schemeClr val="tx1"/>
                </a:solidFill>
              </a:rPr>
              <a:t>a light akṣara before a conjunct is heavy, so a weight is settled only by the next onset</a:t>
            </a:r>
            <a:endParaRPr lang="en-US" sz="1400" dirty="0"/>
          </a:p>
        </p:txBody>
      </p:sp>
      <p:sp>
        <p:nvSpPr>
          <p:cNvPr id="5" name="Shape 2"/>
          <p:cNvSpPr/>
          <p:nvPr/>
        </p:nvSpPr>
        <p:spPr>
          <a:xfrm>
            <a:off x="5440680" y="1325880"/>
            <a:ext cx="6202375" cy="4846320"/>
          </a:xfrm>
          <a:prstGeom prst="roundRect">
            <a:avLst>
              <a:gd name="adj" fmla="val 1887"/>
            </a:avLst>
          </a:prstGeom>
          <a:solidFill>
            <a:schemeClr val="bg2"/>
          </a:solidFill>
          <a:ln w="12700">
            <a:solidFill>
              <a:schemeClr val="bg2"/>
            </a:solidFill>
            <a:prstDash val="solid"/>
          </a:ln>
        </p:spPr>
      </p:sp>
      <p:sp>
        <p:nvSpPr>
          <p:cNvPr id="6" name="Text 3"/>
          <p:cNvSpPr txBox="1"/>
          <p:nvPr/>
        </p:nvSpPr>
        <p:spPr>
          <a:xfrm>
            <a:off x="5623560" y="1463040"/>
            <a:ext cx="5836615" cy="365760"/>
          </a:xfrm>
          <a:prstGeom prst="rect">
            <a:avLst/>
          </a:prstGeom>
          <a:noFill/>
          <a:ln/>
        </p:spPr>
        <p:txBody>
          <a:bodyPr wrap="square" lIns="0" tIns="0" rIns="0" bIns="0" rtlCol="0" anchor="t"/>
          <a:lstStyle/>
          <a:p>
            <a:pPr indent="0" marL="0">
              <a:buNone/>
            </a:pPr>
            <a:r>
              <a:rPr lang="en-US" sz="1400" b="1" dirty="0">
                <a:solidFill>
                  <a:schemeClr val="accent1"/>
                </a:solidFill>
              </a:rPr>
              <a:t>Annotated: pāda 1 of Pothana’s opening verse (śārdūlavikrīḍitamu)</a:t>
            </a:r>
            <a:endParaRPr lang="en-US" sz="1400" dirty="0"/>
          </a:p>
        </p:txBody>
      </p:sp>
      <p:sp>
        <p:nvSpPr>
          <p:cNvPr id="7" name="Text 4"/>
          <p:cNvSpPr txBox="1"/>
          <p:nvPr/>
        </p:nvSpPr>
        <p:spPr>
          <a:xfrm>
            <a:off x="5623560" y="1874520"/>
            <a:ext cx="5836615" cy="457200"/>
          </a:xfrm>
          <a:prstGeom prst="rect">
            <a:avLst/>
          </a:prstGeom>
          <a:noFill/>
          <a:ln/>
        </p:spPr>
        <p:txBody>
          <a:bodyPr wrap="square" lIns="0" tIns="0" rIns="0" bIns="0" rtlCol="0" anchor="t"/>
          <a:lstStyle/>
          <a:p>
            <a:pPr indent="0" marL="0">
              <a:buNone/>
            </a:pPr>
            <a:r>
              <a:rPr lang="en-US" sz="1800" dirty="0">
                <a:solidFill>
                  <a:schemeClr val="tx1"/>
                </a:solidFill>
                <a:latin typeface="Nirmala UI" pitchFamily="34" charset="0"/>
                <a:ea typeface="Nirmala UI" pitchFamily="34" charset="-122"/>
                <a:cs typeface="Nirmala UI" pitchFamily="34" charset="-120"/>
              </a:rPr>
              <a:t>శ్రీకైవల్య పదంబుఁ జేరుటకునై చింతించెదన్ లోకర</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23560" y="2423160"/>
          <a:ext cx="5836615" cy="914400"/>
        </p:xfrm>
        <a:graphic>
          <a:graphicData uri="http://schemas.openxmlformats.org/drawingml/2006/table">
            <a:tbl>
              <a:tblPr/>
              <a:tblGrid>
                <a:gridCol w="822960"/>
                <a:gridCol w="914400"/>
                <a:gridCol w="914400"/>
                <a:gridCol w="868680"/>
                <a:gridCol w="960120"/>
                <a:gridCol w="914400"/>
                <a:gridCol w="731520"/>
              </a:tblGrid>
              <a:tr h="320040">
                <a:tc>
                  <a:txBody>
                    <a:bodyPr/>
                    <a:lstStyle/>
                    <a:p>
                      <a:pPr algn="ctr" indent="0" marL="0">
                        <a:buNone/>
                      </a:pPr>
                      <a:r>
                        <a:rPr lang="en-US" sz="1200" b="1" dirty="0">
                          <a:solidFill>
                            <a:srgbClr val="FFFFFF"/>
                          </a:solidFill>
                          <a:latin typeface="Nirmala UI" pitchFamily="34" charset="0"/>
                          <a:ea typeface="Nirmala UI" pitchFamily="34" charset="-122"/>
                          <a:cs typeface="Nirmala UI" pitchFamily="34" charset="-120"/>
                        </a:rPr>
                        <a:t>మ</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Nirmala UI" pitchFamily="34" charset="0"/>
                          <a:ea typeface="Nirmala UI" pitchFamily="34" charset="-122"/>
                          <a:cs typeface="Nirmala UI" pitchFamily="34" charset="-120"/>
                        </a:rPr>
                        <a:t>స</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Nirmala UI" pitchFamily="34" charset="0"/>
                          <a:ea typeface="Nirmala UI" pitchFamily="34" charset="-122"/>
                          <a:cs typeface="Nirmala UI" pitchFamily="34" charset="-120"/>
                        </a:rPr>
                        <a:t>జ</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Nirmala UI" pitchFamily="34" charset="0"/>
                          <a:ea typeface="Nirmala UI" pitchFamily="34" charset="-122"/>
                          <a:cs typeface="Nirmala UI" pitchFamily="34" charset="-120"/>
                        </a:rPr>
                        <a:t>స</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Nirmala UI" pitchFamily="34" charset="0"/>
                          <a:ea typeface="Nirmala UI" pitchFamily="34" charset="-122"/>
                          <a:cs typeface="Nirmala UI" pitchFamily="34" charset="-120"/>
                        </a:rPr>
                        <a:t>త</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Nirmala UI" pitchFamily="34" charset="0"/>
                          <a:ea typeface="Nirmala UI" pitchFamily="34" charset="-122"/>
                          <a:cs typeface="Nirmala UI" pitchFamily="34" charset="-120"/>
                        </a:rPr>
                        <a:t>త</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Nirmala UI" pitchFamily="34" charset="0"/>
                          <a:ea typeface="Nirmala UI" pitchFamily="34" charset="-122"/>
                          <a:cs typeface="Nirmala UI" pitchFamily="34" charset="-120"/>
                        </a:rPr>
                        <a:t>గ</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r>
              <a:tr h="384048">
                <a:tc>
                  <a:txBody>
                    <a:bodyPr/>
                    <a:lstStyle/>
                    <a:p>
                      <a:pPr algn="ctr" indent="0" marL="0">
                        <a:buNone/>
                      </a:pPr>
                      <a:r>
                        <a:rPr lang="en-US" sz="1200" dirty="0">
                          <a:solidFill>
                            <a:srgbClr val="22192B"/>
                          </a:solidFill>
                          <a:latin typeface="Nirmala UI" pitchFamily="34" charset="0"/>
                          <a:ea typeface="Nirmala UI" pitchFamily="34" charset="-122"/>
                          <a:cs typeface="Nirmala UI" pitchFamily="34" charset="-120"/>
                        </a:rPr>
                        <a:t>శ్రీ కై వ</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192B"/>
                          </a:solidFill>
                          <a:latin typeface="Nirmala UI" pitchFamily="34" charset="0"/>
                          <a:ea typeface="Nirmala UI" pitchFamily="34" charset="-122"/>
                          <a:cs typeface="Nirmala UI" pitchFamily="34" charset="-120"/>
                        </a:rPr>
                        <a:t>ల్య ప దం</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192B"/>
                          </a:solidFill>
                          <a:latin typeface="Nirmala UI" pitchFamily="34" charset="0"/>
                          <a:ea typeface="Nirmala UI" pitchFamily="34" charset="-122"/>
                          <a:cs typeface="Nirmala UI" pitchFamily="34" charset="-120"/>
                        </a:rPr>
                        <a:t>బుఁ జే రు</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192B"/>
                          </a:solidFill>
                          <a:latin typeface="Nirmala UI" pitchFamily="34" charset="0"/>
                          <a:ea typeface="Nirmala UI" pitchFamily="34" charset="-122"/>
                          <a:cs typeface="Nirmala UI" pitchFamily="34" charset="-120"/>
                        </a:rPr>
                        <a:t>ట కు నై</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192B"/>
                          </a:solidFill>
                          <a:latin typeface="Nirmala UI" pitchFamily="34" charset="0"/>
                          <a:ea typeface="Nirmala UI" pitchFamily="34" charset="-122"/>
                          <a:cs typeface="Nirmala UI" pitchFamily="34" charset="-120"/>
                        </a:rPr>
                        <a:t>చిం తిం చె</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192B"/>
                          </a:solidFill>
                          <a:latin typeface="Nirmala UI" pitchFamily="34" charset="0"/>
                          <a:ea typeface="Nirmala UI" pitchFamily="34" charset="-122"/>
                          <a:cs typeface="Nirmala UI" pitchFamily="34" charset="-120"/>
                        </a:rPr>
                        <a:t>దన్ లో క</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192B"/>
                          </a:solidFill>
                          <a:latin typeface="Nirmala UI" pitchFamily="34" charset="0"/>
                          <a:ea typeface="Nirmala UI" pitchFamily="34" charset="-122"/>
                          <a:cs typeface="Nirmala UI" pitchFamily="34" charset="-120"/>
                        </a:rPr>
                        <a:t>ర</a:t>
                      </a:r>
                      <a:endParaRPr lang="en-US" sz="12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r>
              <a:tr h="301752">
                <a:tc>
                  <a:txBody>
                    <a:bodyPr/>
                    <a:lstStyle/>
                    <a:p>
                      <a:pPr algn="ctr" indent="0" marL="0">
                        <a:buNone/>
                      </a:pPr>
                      <a:r>
                        <a:rPr lang="en-US" sz="1200" b="1" dirty="0">
                          <a:solidFill>
                            <a:srgbClr val="2D6E73"/>
                          </a:solidFill>
                          <a:latin typeface="Calibri" pitchFamily="34" charset="0"/>
                          <a:ea typeface="Calibri" pitchFamily="34" charset="-122"/>
                          <a:cs typeface="Calibri" pitchFamily="34" charset="-120"/>
                        </a:rPr>
                        <a:t>U U U</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D6E73"/>
                          </a:solidFill>
                          <a:latin typeface="Calibri" pitchFamily="34" charset="0"/>
                          <a:ea typeface="Calibri" pitchFamily="34" charset="-122"/>
                          <a:cs typeface="Calibri" pitchFamily="34" charset="-120"/>
                        </a:rPr>
                        <a:t>I I U</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D6E73"/>
                          </a:solidFill>
                          <a:latin typeface="Calibri" pitchFamily="34" charset="0"/>
                          <a:ea typeface="Calibri" pitchFamily="34" charset="-122"/>
                          <a:cs typeface="Calibri" pitchFamily="34" charset="-120"/>
                        </a:rPr>
                        <a:t>I U I</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D6E73"/>
                          </a:solidFill>
                          <a:latin typeface="Calibri" pitchFamily="34" charset="0"/>
                          <a:ea typeface="Calibri" pitchFamily="34" charset="-122"/>
                          <a:cs typeface="Calibri" pitchFamily="34" charset="-120"/>
                        </a:rPr>
                        <a:t>I I U</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D6E73"/>
                          </a:solidFill>
                          <a:latin typeface="Calibri" pitchFamily="34" charset="0"/>
                          <a:ea typeface="Calibri" pitchFamily="34" charset="-122"/>
                          <a:cs typeface="Calibri" pitchFamily="34" charset="-120"/>
                        </a:rPr>
                        <a:t>U U I</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D6E73"/>
                          </a:solidFill>
                          <a:latin typeface="Calibri" pitchFamily="34" charset="0"/>
                          <a:ea typeface="Calibri" pitchFamily="34" charset="-122"/>
                          <a:cs typeface="Calibri" pitchFamily="34" charset="-120"/>
                        </a:rPr>
                        <a:t>U U I</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D6E73"/>
                          </a:solidFill>
                          <a:latin typeface="Calibri" pitchFamily="34" charset="0"/>
                          <a:ea typeface="Calibri" pitchFamily="34" charset="-122"/>
                          <a:cs typeface="Calibri" pitchFamily="34" charset="-120"/>
                        </a:rPr>
                        <a:t>I → U</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623560" y="3657600"/>
            <a:ext cx="5836615" cy="237744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chemeClr val="accent1"/>
                </a:solidFill>
              </a:rPr>
              <a:t>gaṇas </a:t>
            </a:r>
            <a:r>
              <a:rPr lang="en-US" sz="1300" dirty="0">
                <a:solidFill>
                  <a:schemeClr val="tx1"/>
                </a:solidFill>
              </a:rPr>
              <a:t>ma sa ja sa ta ta ga: 19 akṣaras; the pāda-final laghu (</a:t>
            </a:r>
            <a:r>
              <a:rPr lang="en-US" sz="1300" dirty="0">
                <a:solidFill>
                  <a:schemeClr val="tx1"/>
                </a:solidFill>
                <a:latin typeface="Nirmala UI" pitchFamily="34" charset="0"/>
                <a:ea typeface="Nirmala UI" pitchFamily="34" charset="-122"/>
                <a:cs typeface="Nirmala UI" pitchFamily="34" charset="-120"/>
              </a:rPr>
              <a:t>ర</a:t>
            </a:r>
            <a:r>
              <a:rPr lang="en-US" sz="1300" dirty="0">
                <a:solidFill>
                  <a:schemeClr val="tx1"/>
                </a:solidFill>
              </a:rPr>
              <a:t>) reads as guru</a:t>
            </a:r>
            <a:endParaRPr lang="en-US" sz="1300" dirty="0"/>
          </a:p>
          <a:p>
            <a:pPr marL="342900" indent="-342900">
              <a:spcAft>
                <a:spcPts val="600"/>
              </a:spcAft>
              <a:buSzPct val="100000"/>
              <a:buChar char="•"/>
            </a:pPr>
            <a:r>
              <a:rPr lang="en-US" sz="1300" b="1" dirty="0">
                <a:solidFill>
                  <a:schemeClr val="accent1"/>
                </a:solidFill>
              </a:rPr>
              <a:t>yati 1–13 </a:t>
            </a:r>
            <a:r>
              <a:rPr lang="en-US" sz="1300" dirty="0">
                <a:solidFill>
                  <a:schemeClr val="tx1"/>
                </a:solidFill>
                <a:latin typeface="Nirmala UI" pitchFamily="34" charset="0"/>
                <a:ea typeface="Nirmala UI" pitchFamily="34" charset="-122"/>
                <a:cs typeface="Nirmala UI" pitchFamily="34" charset="-120"/>
              </a:rPr>
              <a:t>శ్రీ – చిం</a:t>
            </a:r>
            <a:r>
              <a:rPr lang="en-US" sz="1300" dirty="0">
                <a:solidFill>
                  <a:schemeClr val="tx1"/>
                </a:solidFill>
              </a:rPr>
              <a:t>: sound-class match with the vaḷi (sarasa yati)</a:t>
            </a:r>
            <a:endParaRPr lang="en-US" sz="1300" dirty="0"/>
          </a:p>
          <a:p>
            <a:pPr marL="342900" indent="-342900">
              <a:spcAft>
                <a:spcPts val="600"/>
              </a:spcAft>
              <a:buSzPct val="100000"/>
              <a:buChar char="•"/>
            </a:pPr>
            <a:r>
              <a:rPr lang="en-US" sz="1300" b="1" dirty="0">
                <a:solidFill>
                  <a:schemeClr val="accent1"/>
                </a:solidFill>
              </a:rPr>
              <a:t>prāsa </a:t>
            </a:r>
            <a:r>
              <a:rPr lang="en-US" sz="1300" dirty="0">
                <a:solidFill>
                  <a:schemeClr val="tx1"/>
                </a:solidFill>
                <a:latin typeface="Nirmala UI" pitchFamily="34" charset="0"/>
                <a:ea typeface="Nirmala UI" pitchFamily="34" charset="-122"/>
                <a:cs typeface="Nirmala UI" pitchFamily="34" charset="-120"/>
              </a:rPr>
              <a:t>క</a:t>
            </a:r>
            <a:r>
              <a:rPr lang="en-US" sz="1300" dirty="0">
                <a:solidFill>
                  <a:schemeClr val="tx1"/>
                </a:solidFill>
              </a:rPr>
              <a:t> in akṣara 2 of all four pādas: </a:t>
            </a:r>
            <a:r>
              <a:rPr lang="en-US" sz="1300" dirty="0">
                <a:solidFill>
                  <a:schemeClr val="tx1"/>
                </a:solidFill>
                <a:latin typeface="Nirmala UI" pitchFamily="34" charset="0"/>
                <a:ea typeface="Nirmala UI" pitchFamily="34" charset="-122"/>
                <a:cs typeface="Nirmala UI" pitchFamily="34" charset="-120"/>
              </a:rPr>
              <a:t>శ్రీ·కై, క్షై·కా, ద్రే·క, నా·కం</a:t>
            </a:r>
            <a:endParaRPr lang="en-US" sz="1300" dirty="0"/>
          </a:p>
          <a:p>
            <a:pPr marL="342900" indent="-342900">
              <a:spcAft>
                <a:spcPts val="600"/>
              </a:spcAft>
              <a:buSzPct val="100000"/>
              <a:buChar char="•"/>
            </a:pPr>
            <a:r>
              <a:rPr lang="en-US" sz="1300" b="1" dirty="0">
                <a:solidFill>
                  <a:schemeClr val="accent1"/>
                </a:solidFill>
              </a:rPr>
              <a:t>scansion </a:t>
            </a:r>
            <a:r>
              <a:rPr lang="en-US" sz="1300" dirty="0">
                <a:solidFill>
                  <a:schemeClr val="tx1"/>
                </a:solidFill>
              </a:rPr>
              <a:t>the controller settles each weight from the following onset; output of python3 -m chandohasam</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Three families of metres: fixed, class-based, composite</a:t>
            </a:r>
            <a:endParaRPr lang="en-US" sz="3200" dirty="0"/>
          </a:p>
        </p:txBody>
      </p:sp>
      <p:sp>
        <p:nvSpPr>
          <p:cNvPr id="4" name="card vṛtta · 26 metres · fixed"/>
          <p:cNvSpPr/>
          <p:nvPr/>
        </p:nvSpPr>
        <p:spPr>
          <a:xfrm>
            <a:off x="548640" y="1325880"/>
            <a:ext cx="3515258" cy="2651760"/>
          </a:xfrm>
          <a:prstGeom prst="roundRect">
            <a:avLst>
              <a:gd name="adj" fmla="val 3448"/>
            </a:avLst>
          </a:prstGeom>
          <a:solidFill>
            <a:schemeClr val="bg2"/>
          </a:solidFill>
          <a:ln w="12700">
            <a:solidFill>
              <a:schemeClr val="bg2"/>
            </a:solidFill>
            <a:prstDash val="solid"/>
          </a:ln>
        </p:spPr>
      </p:sp>
      <p:sp>
        <p:nvSpPr>
          <p:cNvPr id="5" name="Text 2"/>
          <p:cNvSpPr txBox="1"/>
          <p:nvPr/>
        </p:nvSpPr>
        <p:spPr>
          <a:xfrm>
            <a:off x="749808" y="1490472"/>
            <a:ext cx="3131210" cy="384048"/>
          </a:xfrm>
          <a:prstGeom prst="rect">
            <a:avLst/>
          </a:prstGeom>
          <a:noFill/>
          <a:ln/>
        </p:spPr>
        <p:txBody>
          <a:bodyPr wrap="square" lIns="0" tIns="0" rIns="0" bIns="0" rtlCol="0" anchor="t"/>
          <a:lstStyle/>
          <a:p>
            <a:pPr indent="0" marL="0">
              <a:buNone/>
            </a:pPr>
            <a:r>
              <a:rPr lang="en-US" sz="1600" b="1" dirty="0">
                <a:solidFill>
                  <a:schemeClr val="accent1"/>
                </a:solidFill>
              </a:rPr>
              <a:t>vṛtta · 26 metres · fixed</a:t>
            </a:r>
            <a:endParaRPr lang="en-US" sz="1600" dirty="0"/>
          </a:p>
        </p:txBody>
      </p:sp>
      <p:sp>
        <p:nvSpPr>
          <p:cNvPr id="6" name="Text 3"/>
          <p:cNvSpPr txBox="1"/>
          <p:nvPr/>
        </p:nvSpPr>
        <p:spPr>
          <a:xfrm>
            <a:off x="749808" y="1911096"/>
            <a:ext cx="3131210" cy="19568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one gaṇa sequence per pāda, four pādas; prāsa: yes</a:t>
            </a:r>
            <a:endParaRPr lang="en-US" sz="1250" dirty="0"/>
          </a:p>
          <a:p>
            <a:pPr marL="342900" indent="-342900">
              <a:spcAft>
                <a:spcPts val="400"/>
              </a:spcAft>
              <a:buSzPct val="100000"/>
              <a:buChar char="•"/>
            </a:pPr>
            <a:r>
              <a:rPr lang="en-US" sz="1250" b="1" dirty="0">
                <a:solidFill>
                  <a:schemeClr val="accent1"/>
                </a:solidFill>
              </a:rPr>
              <a:t>utpalamāla </a:t>
            </a:r>
            <a:r>
              <a:rPr lang="en-US" sz="1250" dirty="0">
                <a:solidFill>
                  <a:schemeClr val="tx1"/>
                </a:solidFill>
              </a:rPr>
              <a:t>bha ra na bha bha ra va (20), yati 10</a:t>
            </a:r>
            <a:endParaRPr lang="en-US" sz="1250" dirty="0"/>
          </a:p>
          <a:p>
            <a:pPr marL="342900" indent="-342900">
              <a:spcAft>
                <a:spcPts val="400"/>
              </a:spcAft>
              <a:buSzPct val="100000"/>
              <a:buChar char="•"/>
            </a:pPr>
            <a:r>
              <a:rPr lang="en-US" sz="1250" b="1" dirty="0">
                <a:solidFill>
                  <a:schemeClr val="accent1"/>
                </a:solidFill>
              </a:rPr>
              <a:t>śārdūlavikrīḍitamu </a:t>
            </a:r>
            <a:r>
              <a:rPr lang="en-US" sz="1250" dirty="0">
                <a:solidFill>
                  <a:schemeClr val="tx1"/>
                </a:solidFill>
              </a:rPr>
              <a:t>ma sa ja sa ta ta ga (19), yati 13</a:t>
            </a:r>
            <a:endParaRPr lang="en-US" sz="1250" dirty="0"/>
          </a:p>
          <a:p>
            <a:pPr marL="342900" indent="-342900">
              <a:spcAft>
                <a:spcPts val="400"/>
              </a:spcAft>
              <a:buSzPct val="100000"/>
              <a:buChar char="•"/>
            </a:pPr>
            <a:r>
              <a:rPr lang="en-US" sz="1250" b="1" dirty="0">
                <a:solidFill>
                  <a:schemeClr val="accent1"/>
                </a:solidFill>
              </a:rPr>
              <a:t>sragdhara </a:t>
            </a:r>
            <a:r>
              <a:rPr lang="en-US" sz="1250" dirty="0">
                <a:solidFill>
                  <a:schemeClr val="tx1"/>
                </a:solidFill>
              </a:rPr>
              <a:t>ma ra bha na ya ya ya (21), yati 8, 15</a:t>
            </a:r>
            <a:endParaRPr lang="en-US" sz="1250" dirty="0"/>
          </a:p>
        </p:txBody>
      </p:sp>
      <p:sp>
        <p:nvSpPr>
          <p:cNvPr id="7" name="card jāti · 8 metres · class-based"/>
          <p:cNvSpPr/>
          <p:nvPr/>
        </p:nvSpPr>
        <p:spPr>
          <a:xfrm>
            <a:off x="4338218" y="1325880"/>
            <a:ext cx="3515258" cy="2651760"/>
          </a:xfrm>
          <a:prstGeom prst="roundRect">
            <a:avLst>
              <a:gd name="adj" fmla="val 3448"/>
            </a:avLst>
          </a:prstGeom>
          <a:solidFill>
            <a:schemeClr val="bg2"/>
          </a:solidFill>
          <a:ln w="12700">
            <a:solidFill>
              <a:schemeClr val="bg2"/>
            </a:solidFill>
            <a:prstDash val="solid"/>
          </a:ln>
        </p:spPr>
      </p:sp>
      <p:sp>
        <p:nvSpPr>
          <p:cNvPr id="8" name="Text 5"/>
          <p:cNvSpPr txBox="1"/>
          <p:nvPr/>
        </p:nvSpPr>
        <p:spPr>
          <a:xfrm>
            <a:off x="4539386" y="1490472"/>
            <a:ext cx="3131210" cy="384048"/>
          </a:xfrm>
          <a:prstGeom prst="rect">
            <a:avLst/>
          </a:prstGeom>
          <a:noFill/>
          <a:ln/>
        </p:spPr>
        <p:txBody>
          <a:bodyPr wrap="square" lIns="0" tIns="0" rIns="0" bIns="0" rtlCol="0" anchor="t"/>
          <a:lstStyle/>
          <a:p>
            <a:pPr indent="0" marL="0">
              <a:buNone/>
            </a:pPr>
            <a:r>
              <a:rPr lang="en-US" sz="1600" b="1" dirty="0">
                <a:solidFill>
                  <a:schemeClr val="accent3"/>
                </a:solidFill>
              </a:rPr>
              <a:t>jāti · 8 metres · class-based</a:t>
            </a:r>
            <a:endParaRPr lang="en-US" sz="1600" dirty="0"/>
          </a:p>
        </p:txBody>
      </p:sp>
      <p:sp>
        <p:nvSpPr>
          <p:cNvPr id="9" name="Text 6"/>
          <p:cNvSpPr txBox="1"/>
          <p:nvPr/>
        </p:nvSpPr>
        <p:spPr>
          <a:xfrm>
            <a:off x="4539386" y="1911096"/>
            <a:ext cx="3131210" cy="19568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each position takes any gaṇa of its class, so line length varies; prāsa: yes</a:t>
            </a:r>
            <a:endParaRPr lang="en-US" sz="1250" dirty="0"/>
          </a:p>
          <a:p>
            <a:pPr marL="342900" indent="-342900">
              <a:spcAft>
                <a:spcPts val="400"/>
              </a:spcAft>
              <a:buSzPct val="100000"/>
              <a:buChar char="•"/>
            </a:pPr>
            <a:r>
              <a:rPr lang="en-US" sz="1250" b="1" dirty="0">
                <a:solidFill>
                  <a:schemeClr val="accent3"/>
                </a:solidFill>
              </a:rPr>
              <a:t>sūrya </a:t>
            </a:r>
            <a:r>
              <a:rPr lang="en-US" sz="1250" dirty="0">
                <a:solidFill>
                  <a:schemeClr val="tx1"/>
                </a:solidFill>
              </a:rPr>
              <a:t>na, ha</a:t>
            </a:r>
            <a:endParaRPr lang="en-US" sz="1250" dirty="0"/>
          </a:p>
          <a:p>
            <a:pPr marL="342900" indent="-342900">
              <a:spcAft>
                <a:spcPts val="400"/>
              </a:spcAft>
              <a:buSzPct val="100000"/>
              <a:buChar char="•"/>
            </a:pPr>
            <a:r>
              <a:rPr lang="en-US" sz="1250" b="1" dirty="0">
                <a:solidFill>
                  <a:schemeClr val="accent3"/>
                </a:solidFill>
              </a:rPr>
              <a:t>indra </a:t>
            </a:r>
            <a:r>
              <a:rPr lang="en-US" sz="1250" dirty="0">
                <a:solidFill>
                  <a:schemeClr val="tx1"/>
                </a:solidFill>
              </a:rPr>
              <a:t>bha, ra, ta, nala, naga, sala</a:t>
            </a:r>
            <a:endParaRPr lang="en-US" sz="1250" dirty="0"/>
          </a:p>
          <a:p>
            <a:pPr marL="342900" indent="-342900">
              <a:spcAft>
                <a:spcPts val="400"/>
              </a:spcAft>
              <a:buSzPct val="100000"/>
              <a:buChar char="•"/>
            </a:pPr>
            <a:r>
              <a:rPr lang="en-US" sz="1250" b="1" dirty="0">
                <a:solidFill>
                  <a:schemeClr val="accent1"/>
                </a:solidFill>
              </a:rPr>
              <a:t>kandamu </a:t>
            </a:r>
            <a:r>
              <a:rPr lang="en-US" sz="1250" dirty="0">
                <a:solidFill>
                  <a:schemeClr val="tx1"/>
                </a:solidFill>
              </a:rPr>
              <a:t>odd 3, even 5 kanda gaṇas; yati at gaṇa 4</a:t>
            </a:r>
            <a:endParaRPr lang="en-US" sz="1250" dirty="0"/>
          </a:p>
          <a:p>
            <a:pPr marL="342900" indent="-342900">
              <a:spcAft>
                <a:spcPts val="400"/>
              </a:spcAft>
              <a:buSzPct val="100000"/>
              <a:buChar char="•"/>
            </a:pPr>
            <a:r>
              <a:rPr lang="en-US" sz="1250" dirty="0">
                <a:solidFill>
                  <a:schemeClr val="tx1"/>
                </a:solidFill>
              </a:rPr>
              <a:t>yati at the first akṣara of a gaṇa</a:t>
            </a:r>
            <a:endParaRPr lang="en-US" sz="1250" dirty="0"/>
          </a:p>
        </p:txBody>
      </p:sp>
      <p:sp>
        <p:nvSpPr>
          <p:cNvPr id="10" name="card upajāti · 3 metres · composite"/>
          <p:cNvSpPr/>
          <p:nvPr/>
        </p:nvSpPr>
        <p:spPr>
          <a:xfrm>
            <a:off x="8127797" y="1325880"/>
            <a:ext cx="3515258" cy="2651760"/>
          </a:xfrm>
          <a:prstGeom prst="roundRect">
            <a:avLst>
              <a:gd name="adj" fmla="val 3448"/>
            </a:avLst>
          </a:prstGeom>
          <a:solidFill>
            <a:schemeClr val="bg2"/>
          </a:solidFill>
          <a:ln w="12700">
            <a:solidFill>
              <a:schemeClr val="bg2"/>
            </a:solidFill>
            <a:prstDash val="solid"/>
          </a:ln>
        </p:spPr>
      </p:sp>
      <p:sp>
        <p:nvSpPr>
          <p:cNvPr id="11" name="Text 8"/>
          <p:cNvSpPr txBox="1"/>
          <p:nvPr/>
        </p:nvSpPr>
        <p:spPr>
          <a:xfrm>
            <a:off x="8328965" y="1490472"/>
            <a:ext cx="3131210" cy="384048"/>
          </a:xfrm>
          <a:prstGeom prst="rect">
            <a:avLst/>
          </a:prstGeom>
          <a:noFill/>
          <a:ln/>
        </p:spPr>
        <p:txBody>
          <a:bodyPr wrap="square" lIns="0" tIns="0" rIns="0" bIns="0" rtlCol="0" anchor="t"/>
          <a:lstStyle/>
          <a:p>
            <a:pPr indent="0" marL="0">
              <a:buNone/>
            </a:pPr>
            <a:r>
              <a:rPr lang="en-US" sz="1600" b="1" dirty="0">
                <a:solidFill>
                  <a:schemeClr val="accent2"/>
                </a:solidFill>
              </a:rPr>
              <a:t>upajāti · 3 metres · composite</a:t>
            </a:r>
            <a:endParaRPr lang="en-US" sz="1600" dirty="0"/>
          </a:p>
        </p:txBody>
      </p:sp>
      <p:sp>
        <p:nvSpPr>
          <p:cNvPr id="12" name="Text 9"/>
          <p:cNvSpPr txBox="1"/>
          <p:nvPr/>
        </p:nvSpPr>
        <p:spPr>
          <a:xfrm>
            <a:off x="8328965" y="1911096"/>
            <a:ext cx="3131210" cy="1956816"/>
          </a:xfrm>
          <a:prstGeom prst="rect">
            <a:avLst/>
          </a:prstGeom>
          <a:noFill/>
          <a:ln/>
        </p:spPr>
        <p:txBody>
          <a:bodyPr wrap="square" lIns="0" tIns="0" rIns="0" bIns="0" rtlCol="0" anchor="t"/>
          <a:lstStyle/>
          <a:p>
            <a:pPr marL="342900" indent="-342900">
              <a:spcAft>
                <a:spcPts val="400"/>
              </a:spcAft>
              <a:buSzPct val="100000"/>
              <a:buChar char="•"/>
            </a:pPr>
            <a:r>
              <a:rPr lang="en-US" sz="1250" b="1" dirty="0">
                <a:solidFill>
                  <a:schemeClr val="accent1"/>
                </a:solidFill>
              </a:rPr>
              <a:t>sīsamu </a:t>
            </a:r>
            <a:r>
              <a:rPr lang="en-US" sz="1250" dirty="0">
                <a:solidFill>
                  <a:schemeClr val="tx1"/>
                </a:solidFill>
              </a:rPr>
              <a:t>6 indra + 2 sūrya, then a gīti</a:t>
            </a:r>
            <a:endParaRPr lang="en-US" sz="1250" dirty="0"/>
          </a:p>
          <a:p>
            <a:pPr marL="342900" indent="-342900">
              <a:spcAft>
                <a:spcPts val="400"/>
              </a:spcAft>
              <a:buSzPct val="100000"/>
              <a:buChar char="•"/>
            </a:pPr>
            <a:r>
              <a:rPr lang="en-US" sz="1250" b="1" dirty="0">
                <a:solidFill>
                  <a:schemeClr val="accent1"/>
                </a:solidFill>
              </a:rPr>
              <a:t>āṭaveladi </a:t>
            </a:r>
            <a:r>
              <a:rPr lang="en-US" sz="1250" dirty="0">
                <a:solidFill>
                  <a:schemeClr val="tx1"/>
                </a:solidFill>
              </a:rPr>
              <a:t>odd 3 sūrya + 2 indra; even 5 sūrya</a:t>
            </a:r>
            <a:endParaRPr lang="en-US" sz="1250" dirty="0"/>
          </a:p>
          <a:p>
            <a:pPr marL="342900" indent="-342900">
              <a:spcAft>
                <a:spcPts val="400"/>
              </a:spcAft>
              <a:buSzPct val="100000"/>
              <a:buChar char="•"/>
            </a:pPr>
            <a:r>
              <a:rPr lang="en-US" sz="1250" b="1" dirty="0">
                <a:solidFill>
                  <a:schemeClr val="accent1"/>
                </a:solidFill>
              </a:rPr>
              <a:t>tēṭagīti </a:t>
            </a:r>
            <a:r>
              <a:rPr lang="en-US" sz="1250" dirty="0">
                <a:solidFill>
                  <a:schemeClr val="tx1"/>
                </a:solidFill>
              </a:rPr>
              <a:t>1 sūrya + 2 indra + 2 sūrya</a:t>
            </a:r>
            <a:endParaRPr lang="en-US" sz="1250" dirty="0"/>
          </a:p>
          <a:p>
            <a:pPr marL="342900" indent="-342900">
              <a:spcAft>
                <a:spcPts val="400"/>
              </a:spcAft>
              <a:buSzPct val="100000"/>
              <a:buChar char="•"/>
            </a:pPr>
            <a:r>
              <a:rPr lang="en-US" sz="1250" dirty="0">
                <a:solidFill>
                  <a:schemeClr val="tx1"/>
                </a:solidFill>
              </a:rPr>
              <a:t>no prāsa; prāsa-yati accepted in place of yati</a:t>
            </a:r>
            <a:endParaRPr lang="en-US" sz="1250" dirty="0"/>
          </a:p>
        </p:txBody>
      </p:sp>
      <p:pic>
        <p:nvPicPr>
          <p:cNvPr id="13" name="Image 0" descr="/home/samvaran/phd_workspace/anlp_project/presentation/figures/fig_kandamu_slots.png">    </p:cNvPr>
          <p:cNvPicPr>
            <a:picLocks noChangeAspect="1"/>
          </p:cNvPicPr>
          <p:nvPr/>
        </p:nvPicPr>
        <p:blipFill>
          <a:blip r:embed="rId1"/>
          <a:stretch>
            <a:fillRect/>
          </a:stretch>
        </p:blipFill>
        <p:spPr>
          <a:xfrm>
            <a:off x="3143325" y="4160520"/>
            <a:ext cx="5905045" cy="2103120"/>
          </a:xfrm>
          <a:prstGeom prst="rect">
            <a:avLst/>
          </a:prstGeom>
        </p:spPr>
      </p:pic>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Constrained decoding is a puzzle with no dead ends</a:t>
            </a:r>
            <a:endParaRPr lang="en-US" sz="3200" dirty="0"/>
          </a:p>
        </p:txBody>
      </p:sp>
      <p:sp>
        <p:nvSpPr>
          <p:cNvPr id="4" name="Shape 1"/>
          <p:cNvSpPr/>
          <p:nvPr/>
        </p:nvSpPr>
        <p:spPr>
          <a:xfrm>
            <a:off x="655168" y="1463040"/>
            <a:ext cx="1554480" cy="1143000"/>
          </a:xfrm>
          <a:prstGeom prst="roundRect">
            <a:avLst>
              <a:gd name="adj" fmla="val 8000"/>
            </a:avLst>
          </a:prstGeom>
          <a:solidFill>
            <a:schemeClr val="bg2"/>
          </a:solidFill>
          <a:ln w="12700">
            <a:solidFill>
              <a:schemeClr val="bg2"/>
            </a:solidFill>
            <a:prstDash val="solid"/>
          </a:ln>
        </p:spPr>
      </p:sp>
      <p:sp>
        <p:nvSpPr>
          <p:cNvPr id="5" name="Text 2"/>
          <p:cNvSpPr txBox="1"/>
          <p:nvPr/>
        </p:nvSpPr>
        <p:spPr>
          <a:xfrm>
            <a:off x="655168" y="1554480"/>
            <a:ext cx="1554480" cy="320040"/>
          </a:xfrm>
          <a:prstGeom prst="rect">
            <a:avLst/>
          </a:prstGeom>
          <a:noFill/>
          <a:ln/>
        </p:spPr>
        <p:txBody>
          <a:bodyPr wrap="square" lIns="0" tIns="0" rIns="0" bIns="0" rtlCol="0" anchor="t"/>
          <a:lstStyle/>
          <a:p>
            <a:pPr algn="ctr" indent="0" marL="0">
              <a:buNone/>
            </a:pPr>
            <a:r>
              <a:rPr lang="en-US" sz="1200" b="1" dirty="0">
                <a:solidFill>
                  <a:schemeClr val="tx2"/>
                </a:solidFill>
                <a:latin typeface="Cambria" pitchFamily="34" charset="0"/>
                <a:ea typeface="Cambria" pitchFamily="34" charset="-122"/>
                <a:cs typeface="Cambria" pitchFamily="34" charset="-120"/>
              </a:rPr>
              <a:t>U</a:t>
            </a:r>
            <a:endParaRPr lang="en-US" sz="1200" dirty="0"/>
          </a:p>
        </p:txBody>
      </p:sp>
      <p:sp>
        <p:nvSpPr>
          <p:cNvPr id="6" name="Text 3"/>
          <p:cNvSpPr txBox="1"/>
          <p:nvPr/>
        </p:nvSpPr>
        <p:spPr>
          <a:xfrm>
            <a:off x="655168" y="1847088"/>
            <a:ext cx="1554480" cy="502920"/>
          </a:xfrm>
          <a:prstGeom prst="rect">
            <a:avLst/>
          </a:prstGeom>
          <a:noFill/>
          <a:ln/>
        </p:spPr>
        <p:txBody>
          <a:bodyPr wrap="square" lIns="0" tIns="0" rIns="0" bIns="0" rtlCol="0" anchor="ctr"/>
          <a:lstStyle/>
          <a:p>
            <a:pPr algn="ctr" indent="0" marL="0">
              <a:buNone/>
            </a:pPr>
            <a:r>
              <a:rPr lang="en-US" sz="2800" b="1" dirty="0">
                <a:solidFill>
                  <a:schemeClr val="accent1"/>
                </a:solidFill>
                <a:latin typeface="Cambria" pitchFamily="34" charset="0"/>
                <a:ea typeface="Cambria" pitchFamily="34" charset="-122"/>
                <a:cs typeface="Cambria" pitchFamily="34" charset="-120"/>
              </a:rPr>
              <a:t>28</a:t>
            </a:r>
            <a:endParaRPr lang="en-US" sz="2800" dirty="0"/>
          </a:p>
        </p:txBody>
      </p:sp>
      <p:sp>
        <p:nvSpPr>
          <p:cNvPr id="7" name="Text 4"/>
          <p:cNvSpPr txBox="1"/>
          <p:nvPr/>
        </p:nvSpPr>
        <p:spPr>
          <a:xfrm>
            <a:off x="655168" y="2304288"/>
            <a:ext cx="1554480" cy="292608"/>
          </a:xfrm>
          <a:prstGeom prst="rect">
            <a:avLst/>
          </a:prstGeom>
          <a:noFill/>
          <a:ln/>
        </p:spPr>
        <p:txBody>
          <a:bodyPr wrap="square" lIns="0" tIns="0" rIns="0" bIns="0" rtlCol="0" anchor="t"/>
          <a:lstStyle/>
          <a:p>
            <a:pPr algn="ctr" indent="0" marL="0">
              <a:buNone/>
            </a:pPr>
            <a:r>
              <a:rPr lang="en-US" sz="950" dirty="0">
                <a:solidFill>
                  <a:schemeClr val="tx2"/>
                </a:solidFill>
              </a:rPr>
              <a:t>hypotheses alive</a:t>
            </a:r>
            <a:endParaRPr lang="en-US" sz="950" dirty="0"/>
          </a:p>
        </p:txBody>
      </p:sp>
      <p:sp>
        <p:nvSpPr>
          <p:cNvPr id="8" name="Shape 5"/>
          <p:cNvSpPr/>
          <p:nvPr/>
        </p:nvSpPr>
        <p:spPr>
          <a:xfrm>
            <a:off x="2246224" y="2034540"/>
            <a:ext cx="237744" cy="0"/>
          </a:xfrm>
          <a:prstGeom prst="line">
            <a:avLst/>
          </a:prstGeom>
          <a:noFill/>
          <a:ln w="19050">
            <a:solidFill>
              <a:srgbClr val="8E8797"/>
            </a:solidFill>
            <a:prstDash val="solid"/>
            <a:tailEnd type="triangle"/>
          </a:ln>
        </p:spPr>
      </p:sp>
      <p:sp>
        <p:nvSpPr>
          <p:cNvPr id="9" name="Shape 6"/>
          <p:cNvSpPr/>
          <p:nvPr/>
        </p:nvSpPr>
        <p:spPr>
          <a:xfrm>
            <a:off x="2520544" y="1463040"/>
            <a:ext cx="1554480" cy="1143000"/>
          </a:xfrm>
          <a:prstGeom prst="roundRect">
            <a:avLst>
              <a:gd name="adj" fmla="val 8000"/>
            </a:avLst>
          </a:prstGeom>
          <a:solidFill>
            <a:schemeClr val="bg2"/>
          </a:solidFill>
          <a:ln w="12700">
            <a:solidFill>
              <a:schemeClr val="bg2"/>
            </a:solidFill>
            <a:prstDash val="solid"/>
          </a:ln>
        </p:spPr>
      </p:sp>
      <p:sp>
        <p:nvSpPr>
          <p:cNvPr id="10" name="Text 7"/>
          <p:cNvSpPr txBox="1"/>
          <p:nvPr/>
        </p:nvSpPr>
        <p:spPr>
          <a:xfrm>
            <a:off x="2520544" y="1554480"/>
            <a:ext cx="1554480" cy="320040"/>
          </a:xfrm>
          <a:prstGeom prst="rect">
            <a:avLst/>
          </a:prstGeom>
          <a:noFill/>
          <a:ln/>
        </p:spPr>
        <p:txBody>
          <a:bodyPr wrap="square" lIns="0" tIns="0" rIns="0" bIns="0" rtlCol="0" anchor="t"/>
          <a:lstStyle/>
          <a:p>
            <a:pPr algn="ctr" indent="0" marL="0">
              <a:buNone/>
            </a:pPr>
            <a:r>
              <a:rPr lang="en-US" sz="1200" b="1" dirty="0">
                <a:solidFill>
                  <a:schemeClr val="tx2"/>
                </a:solidFill>
                <a:latin typeface="Cambria" pitchFamily="34" charset="0"/>
                <a:ea typeface="Cambria" pitchFamily="34" charset="-122"/>
                <a:cs typeface="Cambria" pitchFamily="34" charset="-120"/>
              </a:rPr>
              <a:t>U U</a:t>
            </a:r>
            <a:endParaRPr lang="en-US" sz="1200" dirty="0"/>
          </a:p>
        </p:txBody>
      </p:sp>
      <p:sp>
        <p:nvSpPr>
          <p:cNvPr id="11" name="Text 8"/>
          <p:cNvSpPr txBox="1"/>
          <p:nvPr/>
        </p:nvSpPr>
        <p:spPr>
          <a:xfrm>
            <a:off x="2520544" y="1847088"/>
            <a:ext cx="1554480" cy="502920"/>
          </a:xfrm>
          <a:prstGeom prst="rect">
            <a:avLst/>
          </a:prstGeom>
          <a:noFill/>
          <a:ln/>
        </p:spPr>
        <p:txBody>
          <a:bodyPr wrap="square" lIns="0" tIns="0" rIns="0" bIns="0" rtlCol="0" anchor="ctr"/>
          <a:lstStyle/>
          <a:p>
            <a:pPr algn="ctr" indent="0" marL="0">
              <a:buNone/>
            </a:pPr>
            <a:r>
              <a:rPr lang="en-US" sz="2800" b="1" dirty="0">
                <a:solidFill>
                  <a:schemeClr val="accent1"/>
                </a:solidFill>
                <a:latin typeface="Cambria" pitchFamily="34" charset="0"/>
                <a:ea typeface="Cambria" pitchFamily="34" charset="-122"/>
                <a:cs typeface="Cambria" pitchFamily="34" charset="-120"/>
              </a:rPr>
              <a:t>14</a:t>
            </a:r>
            <a:endParaRPr lang="en-US" sz="2800" dirty="0"/>
          </a:p>
        </p:txBody>
      </p:sp>
      <p:sp>
        <p:nvSpPr>
          <p:cNvPr id="12" name="Text 9"/>
          <p:cNvSpPr txBox="1"/>
          <p:nvPr/>
        </p:nvSpPr>
        <p:spPr>
          <a:xfrm>
            <a:off x="2520544" y="2304288"/>
            <a:ext cx="1554480" cy="292608"/>
          </a:xfrm>
          <a:prstGeom prst="rect">
            <a:avLst/>
          </a:prstGeom>
          <a:noFill/>
          <a:ln/>
        </p:spPr>
        <p:txBody>
          <a:bodyPr wrap="square" lIns="0" tIns="0" rIns="0" bIns="0" rtlCol="0" anchor="t"/>
          <a:lstStyle/>
          <a:p>
            <a:pPr algn="ctr" indent="0" marL="0">
              <a:buNone/>
            </a:pPr>
            <a:r>
              <a:rPr lang="en-US" sz="950" dirty="0">
                <a:solidFill>
                  <a:schemeClr val="tx2"/>
                </a:solidFill>
              </a:rPr>
              <a:t>hypotheses alive</a:t>
            </a:r>
            <a:endParaRPr lang="en-US" sz="950" dirty="0"/>
          </a:p>
        </p:txBody>
      </p:sp>
      <p:sp>
        <p:nvSpPr>
          <p:cNvPr id="13" name="Shape 10"/>
          <p:cNvSpPr/>
          <p:nvPr/>
        </p:nvSpPr>
        <p:spPr>
          <a:xfrm>
            <a:off x="4111600" y="2034540"/>
            <a:ext cx="237744" cy="0"/>
          </a:xfrm>
          <a:prstGeom prst="line">
            <a:avLst/>
          </a:prstGeom>
          <a:noFill/>
          <a:ln w="19050">
            <a:solidFill>
              <a:srgbClr val="8E8797"/>
            </a:solidFill>
            <a:prstDash val="solid"/>
            <a:tailEnd type="triangle"/>
          </a:ln>
        </p:spPr>
      </p:sp>
      <p:sp>
        <p:nvSpPr>
          <p:cNvPr id="14" name="Shape 11"/>
          <p:cNvSpPr/>
          <p:nvPr/>
        </p:nvSpPr>
        <p:spPr>
          <a:xfrm>
            <a:off x="4385920" y="1463040"/>
            <a:ext cx="1554480" cy="1143000"/>
          </a:xfrm>
          <a:prstGeom prst="roundRect">
            <a:avLst>
              <a:gd name="adj" fmla="val 8000"/>
            </a:avLst>
          </a:prstGeom>
          <a:solidFill>
            <a:schemeClr val="bg2"/>
          </a:solidFill>
          <a:ln w="12700">
            <a:solidFill>
              <a:schemeClr val="bg2"/>
            </a:solidFill>
            <a:prstDash val="solid"/>
          </a:ln>
        </p:spPr>
      </p:sp>
      <p:sp>
        <p:nvSpPr>
          <p:cNvPr id="15" name="Text 12"/>
          <p:cNvSpPr txBox="1"/>
          <p:nvPr/>
        </p:nvSpPr>
        <p:spPr>
          <a:xfrm>
            <a:off x="4385920" y="1554480"/>
            <a:ext cx="1554480" cy="320040"/>
          </a:xfrm>
          <a:prstGeom prst="rect">
            <a:avLst/>
          </a:prstGeom>
          <a:noFill/>
          <a:ln/>
        </p:spPr>
        <p:txBody>
          <a:bodyPr wrap="square" lIns="0" tIns="0" rIns="0" bIns="0" rtlCol="0" anchor="t"/>
          <a:lstStyle/>
          <a:p>
            <a:pPr algn="ctr" indent="0" marL="0">
              <a:buNone/>
            </a:pPr>
            <a:r>
              <a:rPr lang="en-US" sz="1200" b="1" dirty="0">
                <a:solidFill>
                  <a:schemeClr val="tx2"/>
                </a:solidFill>
                <a:latin typeface="Cambria" pitchFamily="34" charset="0"/>
                <a:ea typeface="Cambria" pitchFamily="34" charset="-122"/>
                <a:cs typeface="Cambria" pitchFamily="34" charset="-120"/>
              </a:rPr>
              <a:t>U U U</a:t>
            </a:r>
            <a:endParaRPr lang="en-US" sz="1200" dirty="0"/>
          </a:p>
        </p:txBody>
      </p:sp>
      <p:sp>
        <p:nvSpPr>
          <p:cNvPr id="16" name="Text 13"/>
          <p:cNvSpPr txBox="1"/>
          <p:nvPr/>
        </p:nvSpPr>
        <p:spPr>
          <a:xfrm>
            <a:off x="4385920" y="1847088"/>
            <a:ext cx="1554480" cy="502920"/>
          </a:xfrm>
          <a:prstGeom prst="rect">
            <a:avLst/>
          </a:prstGeom>
          <a:noFill/>
          <a:ln/>
        </p:spPr>
        <p:txBody>
          <a:bodyPr wrap="square" lIns="0" tIns="0" rIns="0" bIns="0" rtlCol="0" anchor="ctr"/>
          <a:lstStyle/>
          <a:p>
            <a:pPr algn="ctr" indent="0" marL="0">
              <a:buNone/>
            </a:pPr>
            <a:r>
              <a:rPr lang="en-US" sz="2800" b="1" dirty="0">
                <a:solidFill>
                  <a:schemeClr val="accent1"/>
                </a:solidFill>
                <a:latin typeface="Cambria" pitchFamily="34" charset="0"/>
                <a:ea typeface="Cambria" pitchFamily="34" charset="-122"/>
                <a:cs typeface="Cambria" pitchFamily="34" charset="-120"/>
              </a:rPr>
              <a:t>7</a:t>
            </a:r>
            <a:endParaRPr lang="en-US" sz="2800" dirty="0"/>
          </a:p>
        </p:txBody>
      </p:sp>
      <p:sp>
        <p:nvSpPr>
          <p:cNvPr id="17" name="Text 14"/>
          <p:cNvSpPr txBox="1"/>
          <p:nvPr/>
        </p:nvSpPr>
        <p:spPr>
          <a:xfrm>
            <a:off x="4385920" y="2304288"/>
            <a:ext cx="1554480" cy="292608"/>
          </a:xfrm>
          <a:prstGeom prst="rect">
            <a:avLst/>
          </a:prstGeom>
          <a:noFill/>
          <a:ln/>
        </p:spPr>
        <p:txBody>
          <a:bodyPr wrap="square" lIns="0" tIns="0" rIns="0" bIns="0" rtlCol="0" anchor="t"/>
          <a:lstStyle/>
          <a:p>
            <a:pPr algn="ctr" indent="0" marL="0">
              <a:buNone/>
            </a:pPr>
            <a:r>
              <a:rPr lang="en-US" sz="950" dirty="0">
                <a:solidFill>
                  <a:schemeClr val="tx2"/>
                </a:solidFill>
              </a:rPr>
              <a:t>hypotheses alive</a:t>
            </a:r>
            <a:endParaRPr lang="en-US" sz="950" dirty="0"/>
          </a:p>
        </p:txBody>
      </p:sp>
      <p:sp>
        <p:nvSpPr>
          <p:cNvPr id="18" name="Shape 15"/>
          <p:cNvSpPr/>
          <p:nvPr/>
        </p:nvSpPr>
        <p:spPr>
          <a:xfrm>
            <a:off x="5976976" y="2034540"/>
            <a:ext cx="237744" cy="0"/>
          </a:xfrm>
          <a:prstGeom prst="line">
            <a:avLst/>
          </a:prstGeom>
          <a:noFill/>
          <a:ln w="19050">
            <a:solidFill>
              <a:srgbClr val="8E8797"/>
            </a:solidFill>
            <a:prstDash val="solid"/>
            <a:tailEnd type="triangle"/>
          </a:ln>
        </p:spPr>
      </p:sp>
      <p:sp>
        <p:nvSpPr>
          <p:cNvPr id="19" name="Shape 16"/>
          <p:cNvSpPr/>
          <p:nvPr/>
        </p:nvSpPr>
        <p:spPr>
          <a:xfrm>
            <a:off x="6251296" y="1463040"/>
            <a:ext cx="1554480" cy="1143000"/>
          </a:xfrm>
          <a:prstGeom prst="roundRect">
            <a:avLst>
              <a:gd name="adj" fmla="val 8000"/>
            </a:avLst>
          </a:prstGeom>
          <a:solidFill>
            <a:schemeClr val="bg2"/>
          </a:solidFill>
          <a:ln w="12700">
            <a:solidFill>
              <a:schemeClr val="bg2"/>
            </a:solidFill>
            <a:prstDash val="solid"/>
          </a:ln>
        </p:spPr>
      </p:sp>
      <p:sp>
        <p:nvSpPr>
          <p:cNvPr id="20" name="Text 17"/>
          <p:cNvSpPr txBox="1"/>
          <p:nvPr/>
        </p:nvSpPr>
        <p:spPr>
          <a:xfrm>
            <a:off x="6251296" y="1554480"/>
            <a:ext cx="1554480" cy="320040"/>
          </a:xfrm>
          <a:prstGeom prst="rect">
            <a:avLst/>
          </a:prstGeom>
          <a:noFill/>
          <a:ln/>
        </p:spPr>
        <p:txBody>
          <a:bodyPr wrap="square" lIns="0" tIns="0" rIns="0" bIns="0" rtlCol="0" anchor="t"/>
          <a:lstStyle/>
          <a:p>
            <a:pPr algn="ctr" indent="0" marL="0">
              <a:buNone/>
            </a:pPr>
            <a:r>
              <a:rPr lang="en-US" sz="1200" b="1" dirty="0">
                <a:solidFill>
                  <a:schemeClr val="tx2"/>
                </a:solidFill>
                <a:latin typeface="Cambria" pitchFamily="34" charset="0"/>
                <a:ea typeface="Cambria" pitchFamily="34" charset="-122"/>
                <a:cs typeface="Cambria" pitchFamily="34" charset="-120"/>
              </a:rPr>
              <a:t>U U U I</a:t>
            </a:r>
            <a:endParaRPr lang="en-US" sz="1200" dirty="0"/>
          </a:p>
        </p:txBody>
      </p:sp>
      <p:sp>
        <p:nvSpPr>
          <p:cNvPr id="21" name="Text 18"/>
          <p:cNvSpPr txBox="1"/>
          <p:nvPr/>
        </p:nvSpPr>
        <p:spPr>
          <a:xfrm>
            <a:off x="6251296" y="1847088"/>
            <a:ext cx="1554480" cy="502920"/>
          </a:xfrm>
          <a:prstGeom prst="rect">
            <a:avLst/>
          </a:prstGeom>
          <a:noFill/>
          <a:ln/>
        </p:spPr>
        <p:txBody>
          <a:bodyPr wrap="square" lIns="0" tIns="0" rIns="0" bIns="0" rtlCol="0" anchor="ctr"/>
          <a:lstStyle/>
          <a:p>
            <a:pPr algn="ctr" indent="0" marL="0">
              <a:buNone/>
            </a:pPr>
            <a:r>
              <a:rPr lang="en-US" sz="2800" b="1" dirty="0">
                <a:solidFill>
                  <a:schemeClr val="accent1"/>
                </a:solidFill>
                <a:latin typeface="Cambria" pitchFamily="34" charset="0"/>
                <a:ea typeface="Cambria" pitchFamily="34" charset="-122"/>
                <a:cs typeface="Cambria" pitchFamily="34" charset="-120"/>
              </a:rPr>
              <a:t>4</a:t>
            </a:r>
            <a:endParaRPr lang="en-US" sz="2800" dirty="0"/>
          </a:p>
        </p:txBody>
      </p:sp>
      <p:sp>
        <p:nvSpPr>
          <p:cNvPr id="22" name="Text 19"/>
          <p:cNvSpPr txBox="1"/>
          <p:nvPr/>
        </p:nvSpPr>
        <p:spPr>
          <a:xfrm>
            <a:off x="6251296" y="2304288"/>
            <a:ext cx="1554480" cy="292608"/>
          </a:xfrm>
          <a:prstGeom prst="rect">
            <a:avLst/>
          </a:prstGeom>
          <a:noFill/>
          <a:ln/>
        </p:spPr>
        <p:txBody>
          <a:bodyPr wrap="square" lIns="0" tIns="0" rIns="0" bIns="0" rtlCol="0" anchor="t"/>
          <a:lstStyle/>
          <a:p>
            <a:pPr algn="ctr" indent="0" marL="0">
              <a:buNone/>
            </a:pPr>
            <a:r>
              <a:rPr lang="en-US" sz="950" dirty="0">
                <a:solidFill>
                  <a:schemeClr val="tx2"/>
                </a:solidFill>
              </a:rPr>
              <a:t>hypotheses alive</a:t>
            </a:r>
            <a:endParaRPr lang="en-US" sz="950" dirty="0"/>
          </a:p>
        </p:txBody>
      </p:sp>
      <p:sp>
        <p:nvSpPr>
          <p:cNvPr id="23" name="Shape 20"/>
          <p:cNvSpPr/>
          <p:nvPr/>
        </p:nvSpPr>
        <p:spPr>
          <a:xfrm>
            <a:off x="7842352" y="2034540"/>
            <a:ext cx="237744" cy="0"/>
          </a:xfrm>
          <a:prstGeom prst="line">
            <a:avLst/>
          </a:prstGeom>
          <a:noFill/>
          <a:ln w="19050">
            <a:solidFill>
              <a:srgbClr val="8E8797"/>
            </a:solidFill>
            <a:prstDash val="solid"/>
            <a:tailEnd type="triangle"/>
          </a:ln>
        </p:spPr>
      </p:sp>
      <p:sp>
        <p:nvSpPr>
          <p:cNvPr id="24" name="Shape 21"/>
          <p:cNvSpPr/>
          <p:nvPr/>
        </p:nvSpPr>
        <p:spPr>
          <a:xfrm>
            <a:off x="8116672" y="1463040"/>
            <a:ext cx="1554480" cy="1143000"/>
          </a:xfrm>
          <a:prstGeom prst="roundRect">
            <a:avLst>
              <a:gd name="adj" fmla="val 8000"/>
            </a:avLst>
          </a:prstGeom>
          <a:solidFill>
            <a:schemeClr val="bg2"/>
          </a:solidFill>
          <a:ln w="12700">
            <a:solidFill>
              <a:schemeClr val="bg2"/>
            </a:solidFill>
            <a:prstDash val="solid"/>
          </a:ln>
        </p:spPr>
      </p:sp>
      <p:sp>
        <p:nvSpPr>
          <p:cNvPr id="25" name="Text 22"/>
          <p:cNvSpPr txBox="1"/>
          <p:nvPr/>
        </p:nvSpPr>
        <p:spPr>
          <a:xfrm>
            <a:off x="8116672" y="1554480"/>
            <a:ext cx="1554480" cy="320040"/>
          </a:xfrm>
          <a:prstGeom prst="rect">
            <a:avLst/>
          </a:prstGeom>
          <a:noFill/>
          <a:ln/>
        </p:spPr>
        <p:txBody>
          <a:bodyPr wrap="square" lIns="0" tIns="0" rIns="0" bIns="0" rtlCol="0" anchor="t"/>
          <a:lstStyle/>
          <a:p>
            <a:pPr algn="ctr" indent="0" marL="0">
              <a:buNone/>
            </a:pPr>
            <a:r>
              <a:rPr lang="en-US" sz="1200" b="1" dirty="0">
                <a:solidFill>
                  <a:schemeClr val="tx2"/>
                </a:solidFill>
                <a:latin typeface="Cambria" pitchFamily="34" charset="0"/>
                <a:ea typeface="Cambria" pitchFamily="34" charset="-122"/>
                <a:cs typeface="Cambria" pitchFamily="34" charset="-120"/>
              </a:rPr>
              <a:t>U U U I I U</a:t>
            </a:r>
            <a:endParaRPr lang="en-US" sz="1200" dirty="0"/>
          </a:p>
        </p:txBody>
      </p:sp>
      <p:sp>
        <p:nvSpPr>
          <p:cNvPr id="26" name="Text 23"/>
          <p:cNvSpPr txBox="1"/>
          <p:nvPr/>
        </p:nvSpPr>
        <p:spPr>
          <a:xfrm>
            <a:off x="8116672" y="1847088"/>
            <a:ext cx="1554480" cy="502920"/>
          </a:xfrm>
          <a:prstGeom prst="rect">
            <a:avLst/>
          </a:prstGeom>
          <a:noFill/>
          <a:ln/>
        </p:spPr>
        <p:txBody>
          <a:bodyPr wrap="square" lIns="0" tIns="0" rIns="0" bIns="0" rtlCol="0" anchor="ctr"/>
          <a:lstStyle/>
          <a:p>
            <a:pPr algn="ctr" indent="0" marL="0">
              <a:buNone/>
            </a:pPr>
            <a:r>
              <a:rPr lang="en-US" sz="2800" b="1" dirty="0">
                <a:solidFill>
                  <a:schemeClr val="accent1"/>
                </a:solidFill>
                <a:latin typeface="Cambria" pitchFamily="34" charset="0"/>
                <a:ea typeface="Cambria" pitchFamily="34" charset="-122"/>
                <a:cs typeface="Cambria" pitchFamily="34" charset="-120"/>
              </a:rPr>
              <a:t>3</a:t>
            </a:r>
            <a:endParaRPr lang="en-US" sz="2800" dirty="0"/>
          </a:p>
        </p:txBody>
      </p:sp>
      <p:sp>
        <p:nvSpPr>
          <p:cNvPr id="27" name="Text 24"/>
          <p:cNvSpPr txBox="1"/>
          <p:nvPr/>
        </p:nvSpPr>
        <p:spPr>
          <a:xfrm>
            <a:off x="8116672" y="2304288"/>
            <a:ext cx="1554480" cy="292608"/>
          </a:xfrm>
          <a:prstGeom prst="rect">
            <a:avLst/>
          </a:prstGeom>
          <a:noFill/>
          <a:ln/>
        </p:spPr>
        <p:txBody>
          <a:bodyPr wrap="square" lIns="0" tIns="0" rIns="0" bIns="0" rtlCol="0" anchor="t"/>
          <a:lstStyle/>
          <a:p>
            <a:pPr algn="ctr" indent="0" marL="0">
              <a:buNone/>
            </a:pPr>
            <a:r>
              <a:rPr lang="en-US" sz="950" dirty="0">
                <a:solidFill>
                  <a:schemeClr val="tx2"/>
                </a:solidFill>
              </a:rPr>
              <a:t>hypotheses alive</a:t>
            </a:r>
            <a:endParaRPr lang="en-US" sz="950" dirty="0"/>
          </a:p>
        </p:txBody>
      </p:sp>
      <p:sp>
        <p:nvSpPr>
          <p:cNvPr id="28" name="Shape 25"/>
          <p:cNvSpPr/>
          <p:nvPr/>
        </p:nvSpPr>
        <p:spPr>
          <a:xfrm>
            <a:off x="9707728" y="2034540"/>
            <a:ext cx="237744" cy="0"/>
          </a:xfrm>
          <a:prstGeom prst="line">
            <a:avLst/>
          </a:prstGeom>
          <a:noFill/>
          <a:ln w="19050">
            <a:solidFill>
              <a:srgbClr val="8E8797"/>
            </a:solidFill>
            <a:prstDash val="solid"/>
            <a:tailEnd type="triangle"/>
          </a:ln>
        </p:spPr>
      </p:sp>
      <p:sp>
        <p:nvSpPr>
          <p:cNvPr id="29" name="Shape 26"/>
          <p:cNvSpPr/>
          <p:nvPr/>
        </p:nvSpPr>
        <p:spPr>
          <a:xfrm>
            <a:off x="9982048" y="1463040"/>
            <a:ext cx="1554480" cy="1143000"/>
          </a:xfrm>
          <a:prstGeom prst="roundRect">
            <a:avLst>
              <a:gd name="adj" fmla="val 8000"/>
            </a:avLst>
          </a:prstGeom>
          <a:solidFill>
            <a:schemeClr val="accent1"/>
          </a:solidFill>
          <a:ln w="12700">
            <a:solidFill>
              <a:schemeClr val="accent1"/>
            </a:solidFill>
            <a:prstDash val="solid"/>
          </a:ln>
        </p:spPr>
      </p:sp>
      <p:sp>
        <p:nvSpPr>
          <p:cNvPr id="30" name="Text 27"/>
          <p:cNvSpPr txBox="1"/>
          <p:nvPr/>
        </p:nvSpPr>
        <p:spPr>
          <a:xfrm>
            <a:off x="9982048" y="1554480"/>
            <a:ext cx="1554480" cy="320040"/>
          </a:xfrm>
          <a:prstGeom prst="rect">
            <a:avLst/>
          </a:prstGeom>
          <a:noFill/>
          <a:ln/>
        </p:spPr>
        <p:txBody>
          <a:bodyPr wrap="square" lIns="0" tIns="0" rIns="0" bIns="0" rtlCol="0" anchor="t"/>
          <a:lstStyle/>
          <a:p>
            <a:pPr algn="ctr" indent="0" marL="0">
              <a:buNone/>
            </a:pPr>
            <a:r>
              <a:rPr lang="en-US" sz="1200" b="1" dirty="0">
                <a:solidFill>
                  <a:schemeClr val="accent6"/>
                </a:solidFill>
                <a:latin typeface="Cambria" pitchFamily="34" charset="0"/>
                <a:ea typeface="Cambria" pitchFamily="34" charset="-122"/>
                <a:cs typeface="Cambria" pitchFamily="34" charset="-120"/>
              </a:rPr>
              <a:t>U U U I I U I U</a:t>
            </a:r>
            <a:endParaRPr lang="en-US" sz="1200" dirty="0"/>
          </a:p>
        </p:txBody>
      </p:sp>
      <p:sp>
        <p:nvSpPr>
          <p:cNvPr id="31" name="Text 28"/>
          <p:cNvSpPr txBox="1"/>
          <p:nvPr/>
        </p:nvSpPr>
        <p:spPr>
          <a:xfrm>
            <a:off x="9982048" y="1847088"/>
            <a:ext cx="1554480" cy="50292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1</a:t>
            </a:r>
            <a:endParaRPr lang="en-US" sz="2800" dirty="0"/>
          </a:p>
        </p:txBody>
      </p:sp>
      <p:sp>
        <p:nvSpPr>
          <p:cNvPr id="32" name="Text 29"/>
          <p:cNvSpPr txBox="1"/>
          <p:nvPr/>
        </p:nvSpPr>
        <p:spPr>
          <a:xfrm>
            <a:off x="9982048" y="2304288"/>
            <a:ext cx="1554480" cy="292608"/>
          </a:xfrm>
          <a:prstGeom prst="rect">
            <a:avLst/>
          </a:prstGeom>
          <a:noFill/>
          <a:ln/>
        </p:spPr>
        <p:txBody>
          <a:bodyPr wrap="square" lIns="0" tIns="0" rIns="0" bIns="0" rtlCol="0" anchor="t"/>
          <a:lstStyle/>
          <a:p>
            <a:pPr algn="ctr" indent="0" marL="0">
              <a:buNone/>
            </a:pPr>
            <a:r>
              <a:rPr lang="en-US" sz="950" dirty="0">
                <a:solidFill>
                  <a:schemeClr val="accent6"/>
                </a:solidFill>
              </a:rPr>
              <a:t>śārdūla-</a:t>
            </a:r>
            <a:endParaRPr lang="en-US" sz="950" dirty="0"/>
          </a:p>
          <a:p>
            <a:pPr algn="ctr" indent="0" marL="0">
              <a:buNone/>
            </a:pPr>
            <a:r>
              <a:rPr lang="en-US" sz="950" dirty="0">
                <a:solidFill>
                  <a:schemeClr val="accent6"/>
                </a:solidFill>
              </a:rPr>
              <a:t>vikrīḍitamu</a:t>
            </a:r>
            <a:endParaRPr lang="en-US" sz="950" dirty="0"/>
          </a:p>
        </p:txBody>
      </p:sp>
      <p:sp>
        <p:nvSpPr>
          <p:cNvPr id="33" name="Text 30"/>
          <p:cNvSpPr txBox="1"/>
          <p:nvPr/>
        </p:nvSpPr>
        <p:spPr>
          <a:xfrm>
            <a:off x="548640" y="2697480"/>
            <a:ext cx="11094415" cy="320040"/>
          </a:xfrm>
          <a:prstGeom prst="rect">
            <a:avLst/>
          </a:prstGeom>
          <a:noFill/>
          <a:ln/>
        </p:spPr>
        <p:txBody>
          <a:bodyPr wrap="square" lIns="0" tIns="0" rIns="0" bIns="0" rtlCol="0" anchor="t"/>
          <a:lstStyle/>
          <a:p>
            <a:pPr algn="ctr" indent="0" marL="0">
              <a:buNone/>
            </a:pPr>
            <a:r>
              <a:rPr lang="en-US" sz="1100" i="1" dirty="0">
                <a:solidFill>
                  <a:schemeClr val="tx2"/>
                </a:solidFill>
              </a:rPr>
              <a:t>The controller’s viable_prefix query on a growing weight prefix: how many (metre, slot) hypotheses can still be completed.</a:t>
            </a:r>
            <a:endParaRPr lang="en-US" sz="1100" dirty="0"/>
          </a:p>
        </p:txBody>
      </p:sp>
      <p:sp>
        <p:nvSpPr>
          <p:cNvPr id="34" name="card The grid acts from the first token"/>
          <p:cNvSpPr/>
          <p:nvPr/>
        </p:nvSpPr>
        <p:spPr>
          <a:xfrm>
            <a:off x="548640" y="3154680"/>
            <a:ext cx="3515258" cy="3108960"/>
          </a:xfrm>
          <a:prstGeom prst="roundRect">
            <a:avLst>
              <a:gd name="adj" fmla="val 2941"/>
            </a:avLst>
          </a:prstGeom>
          <a:solidFill>
            <a:schemeClr val="bg2"/>
          </a:solidFill>
          <a:ln w="12700">
            <a:solidFill>
              <a:schemeClr val="bg2"/>
            </a:solidFill>
            <a:prstDash val="solid"/>
          </a:ln>
        </p:spPr>
      </p:sp>
      <p:sp>
        <p:nvSpPr>
          <p:cNvPr id="35" name="Shape 32"/>
          <p:cNvSpPr/>
          <p:nvPr/>
        </p:nvSpPr>
        <p:spPr>
          <a:xfrm>
            <a:off x="749808" y="3337560"/>
            <a:ext cx="420624" cy="420624"/>
          </a:xfrm>
          <a:prstGeom prst="ellipse">
            <a:avLst/>
          </a:prstGeom>
          <a:solidFill>
            <a:schemeClr val="accent1"/>
          </a:solidFill>
          <a:ln w="12700">
            <a:solidFill>
              <a:schemeClr val="accent1"/>
            </a:solidFill>
            <a:prstDash val="solid"/>
          </a:ln>
        </p:spPr>
      </p:sp>
      <p:sp>
        <p:nvSpPr>
          <p:cNvPr id="36" name="Text 33"/>
          <p:cNvSpPr txBox="1"/>
          <p:nvPr/>
        </p:nvSpPr>
        <p:spPr>
          <a:xfrm>
            <a:off x="749808" y="33375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7" name="Text 34"/>
          <p:cNvSpPr txBox="1"/>
          <p:nvPr/>
        </p:nvSpPr>
        <p:spPr>
          <a:xfrm>
            <a:off x="1280160" y="3319272"/>
            <a:ext cx="2600858" cy="457200"/>
          </a:xfrm>
          <a:prstGeom prst="rect">
            <a:avLst/>
          </a:prstGeom>
          <a:noFill/>
          <a:ln/>
        </p:spPr>
        <p:txBody>
          <a:bodyPr wrap="square" lIns="0" tIns="0" rIns="0" bIns="0" rtlCol="0" anchor="ctr"/>
          <a:lstStyle/>
          <a:p>
            <a:pPr indent="0" marL="0">
              <a:buNone/>
            </a:pPr>
            <a:r>
              <a:rPr lang="en-US" sz="1600" b="1" dirty="0">
                <a:solidFill>
                  <a:schemeClr val="accent1"/>
                </a:solidFill>
              </a:rPr>
              <a:t>The grid acts from the first token</a:t>
            </a:r>
            <a:endParaRPr lang="en-US" sz="1600" dirty="0"/>
          </a:p>
        </p:txBody>
      </p:sp>
      <p:sp>
        <p:nvSpPr>
          <p:cNvPr id="38" name="Text 35"/>
          <p:cNvSpPr txBox="1"/>
          <p:nvPr/>
        </p:nvSpPr>
        <p:spPr>
          <a:xfrm>
            <a:off x="749808" y="3886200"/>
            <a:ext cx="3131210" cy="2267712"/>
          </a:xfrm>
          <a:prstGeom prst="rect">
            <a:avLst/>
          </a:prstGeom>
          <a:noFill/>
          <a:ln/>
        </p:spPr>
        <p:txBody>
          <a:bodyPr wrap="square" lIns="0" tIns="0" rIns="0" bIns="0" rtlCol="0" anchor="t"/>
          <a:lstStyle/>
          <a:p>
            <a:pPr indent="0" marL="0">
              <a:buNone/>
            </a:pPr>
            <a:r>
              <a:rPr lang="en-US" sz="1350" dirty="0">
                <a:solidFill>
                  <a:schemeClr val="tx1"/>
                </a:solidFill>
              </a:rPr>
              <a:t>Only tokens whose akṣaras leave at least one completable metre slot are allowed; all others are masked.</a:t>
            </a:r>
            <a:endParaRPr lang="en-US" sz="1350" dirty="0"/>
          </a:p>
        </p:txBody>
      </p:sp>
      <p:sp>
        <p:nvSpPr>
          <p:cNvPr id="39" name="card Prāsa and yati join once anchored"/>
          <p:cNvSpPr/>
          <p:nvPr/>
        </p:nvSpPr>
        <p:spPr>
          <a:xfrm>
            <a:off x="4338218" y="3154680"/>
            <a:ext cx="3515258" cy="3108960"/>
          </a:xfrm>
          <a:prstGeom prst="roundRect">
            <a:avLst>
              <a:gd name="adj" fmla="val 2941"/>
            </a:avLst>
          </a:prstGeom>
          <a:solidFill>
            <a:schemeClr val="bg2"/>
          </a:solidFill>
          <a:ln w="12700">
            <a:solidFill>
              <a:schemeClr val="bg2"/>
            </a:solidFill>
            <a:prstDash val="solid"/>
          </a:ln>
        </p:spPr>
      </p:sp>
      <p:sp>
        <p:nvSpPr>
          <p:cNvPr id="40" name="Shape 37"/>
          <p:cNvSpPr/>
          <p:nvPr/>
        </p:nvSpPr>
        <p:spPr>
          <a:xfrm>
            <a:off x="4539386" y="3337560"/>
            <a:ext cx="420624" cy="420624"/>
          </a:xfrm>
          <a:prstGeom prst="ellipse">
            <a:avLst/>
          </a:prstGeom>
          <a:solidFill>
            <a:schemeClr val="accent1"/>
          </a:solidFill>
          <a:ln w="12700">
            <a:solidFill>
              <a:schemeClr val="accent1"/>
            </a:solidFill>
            <a:prstDash val="solid"/>
          </a:ln>
        </p:spPr>
      </p:sp>
      <p:sp>
        <p:nvSpPr>
          <p:cNvPr id="41" name="Text 38"/>
          <p:cNvSpPr txBox="1"/>
          <p:nvPr/>
        </p:nvSpPr>
        <p:spPr>
          <a:xfrm>
            <a:off x="4539386" y="33375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2" name="Text 39"/>
          <p:cNvSpPr txBox="1"/>
          <p:nvPr/>
        </p:nvSpPr>
        <p:spPr>
          <a:xfrm>
            <a:off x="5069738" y="3319272"/>
            <a:ext cx="2600858" cy="457200"/>
          </a:xfrm>
          <a:prstGeom prst="rect">
            <a:avLst/>
          </a:prstGeom>
          <a:noFill/>
          <a:ln/>
        </p:spPr>
        <p:txBody>
          <a:bodyPr wrap="square" lIns="0" tIns="0" rIns="0" bIns="0" rtlCol="0" anchor="ctr"/>
          <a:lstStyle/>
          <a:p>
            <a:pPr indent="0" marL="0">
              <a:buNone/>
            </a:pPr>
            <a:r>
              <a:rPr lang="en-US" sz="1600" b="1" dirty="0">
                <a:solidFill>
                  <a:schemeClr val="accent1"/>
                </a:solidFill>
              </a:rPr>
              <a:t>Prāsa and yati join once anchored</a:t>
            </a:r>
            <a:endParaRPr lang="en-US" sz="1600" dirty="0"/>
          </a:p>
        </p:txBody>
      </p:sp>
      <p:sp>
        <p:nvSpPr>
          <p:cNvPr id="43" name="Text 40"/>
          <p:cNvSpPr txBox="1"/>
          <p:nvPr/>
        </p:nvSpPr>
        <p:spPr>
          <a:xfrm>
            <a:off x="4539386" y="3886200"/>
            <a:ext cx="3131210" cy="2267712"/>
          </a:xfrm>
          <a:prstGeom prst="rect">
            <a:avLst/>
          </a:prstGeom>
          <a:noFill/>
          <a:ln/>
        </p:spPr>
        <p:txBody>
          <a:bodyPr wrap="square" lIns="0" tIns="0" rIns="0" bIns="0" rtlCol="0" anchor="t"/>
          <a:lstStyle/>
          <a:p>
            <a:pPr indent="0" marL="0">
              <a:buNone/>
            </a:pPr>
            <a:r>
              <a:rPr lang="en-US" sz="1350" dirty="0">
                <a:solidFill>
                  <a:schemeClr val="tx1"/>
                </a:solidFill>
              </a:rPr>
              <a:t>The second akṣara of line 1 fixes the prāsa register; each line’s first akṣara fixes its yati register.</a:t>
            </a:r>
            <a:endParaRPr lang="en-US" sz="1350" dirty="0"/>
          </a:p>
        </p:txBody>
      </p:sp>
      <p:sp>
        <p:nvSpPr>
          <p:cNvPr id="44" name="card Exact liveness: no dead ends"/>
          <p:cNvSpPr/>
          <p:nvPr/>
        </p:nvSpPr>
        <p:spPr>
          <a:xfrm>
            <a:off x="8127797" y="3154680"/>
            <a:ext cx="3515258" cy="3108960"/>
          </a:xfrm>
          <a:prstGeom prst="roundRect">
            <a:avLst>
              <a:gd name="adj" fmla="val 2941"/>
            </a:avLst>
          </a:prstGeom>
          <a:solidFill>
            <a:schemeClr val="bg2"/>
          </a:solidFill>
          <a:ln w="12700">
            <a:solidFill>
              <a:schemeClr val="bg2"/>
            </a:solidFill>
            <a:prstDash val="solid"/>
          </a:ln>
        </p:spPr>
      </p:sp>
      <p:sp>
        <p:nvSpPr>
          <p:cNvPr id="45" name="Shape 42"/>
          <p:cNvSpPr/>
          <p:nvPr/>
        </p:nvSpPr>
        <p:spPr>
          <a:xfrm>
            <a:off x="8328965" y="3337560"/>
            <a:ext cx="420624" cy="420624"/>
          </a:xfrm>
          <a:prstGeom prst="ellipse">
            <a:avLst/>
          </a:prstGeom>
          <a:solidFill>
            <a:schemeClr val="accent1"/>
          </a:solidFill>
          <a:ln w="12700">
            <a:solidFill>
              <a:schemeClr val="accent1"/>
            </a:solidFill>
            <a:prstDash val="solid"/>
          </a:ln>
        </p:spPr>
      </p:sp>
      <p:sp>
        <p:nvSpPr>
          <p:cNvPr id="46" name="Text 43"/>
          <p:cNvSpPr txBox="1"/>
          <p:nvPr/>
        </p:nvSpPr>
        <p:spPr>
          <a:xfrm>
            <a:off x="8328965" y="33375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7" name="Text 44"/>
          <p:cNvSpPr txBox="1"/>
          <p:nvPr/>
        </p:nvSpPr>
        <p:spPr>
          <a:xfrm>
            <a:off x="8859317" y="3319272"/>
            <a:ext cx="2600858" cy="457200"/>
          </a:xfrm>
          <a:prstGeom prst="rect">
            <a:avLst/>
          </a:prstGeom>
          <a:noFill/>
          <a:ln/>
        </p:spPr>
        <p:txBody>
          <a:bodyPr wrap="square" lIns="0" tIns="0" rIns="0" bIns="0" rtlCol="0" anchor="ctr"/>
          <a:lstStyle/>
          <a:p>
            <a:pPr indent="0" marL="0">
              <a:buNone/>
            </a:pPr>
            <a:r>
              <a:rPr lang="en-US" sz="1600" b="1" dirty="0">
                <a:solidFill>
                  <a:schemeClr val="accent1"/>
                </a:solidFill>
              </a:rPr>
              <a:t>Exact liveness: no dead ends</a:t>
            </a:r>
            <a:endParaRPr lang="en-US" sz="1600" dirty="0"/>
          </a:p>
        </p:txBody>
      </p:sp>
      <p:sp>
        <p:nvSpPr>
          <p:cNvPr id="48" name="Text 45"/>
          <p:cNvSpPr txBox="1"/>
          <p:nvPr/>
        </p:nvSpPr>
        <p:spPr>
          <a:xfrm>
            <a:off x="8328965" y="3886200"/>
            <a:ext cx="3131210" cy="2267712"/>
          </a:xfrm>
          <a:prstGeom prst="rect">
            <a:avLst/>
          </a:prstGeom>
          <a:noFill/>
          <a:ln/>
        </p:spPr>
        <p:txBody>
          <a:bodyPr wrap="square" lIns="0" tIns="0" rIns="0" bIns="0" rtlCol="0" anchor="t"/>
          <a:lstStyle/>
          <a:p>
            <a:pPr indent="0" marL="0">
              <a:buNone/>
            </a:pPr>
            <a:r>
              <a:rPr lang="en-US" sz="1350" dirty="0">
                <a:solidFill>
                  <a:schemeClr val="tx1"/>
                </a:solidFill>
              </a:rPr>
              <a:t>A valid path can never get stuck, so every completed poem satisfies the metre; meaning is left to the model and the evaluation.</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benchmark: 12,673 labelled poems, four sources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834640"/>
                <a:gridCol w="1737360"/>
                <a:gridCol w="1645920"/>
                <a:gridCol w="1737360"/>
                <a:gridCol w="1645920"/>
                <a:gridCol w="1490472"/>
              </a:tblGrid>
              <a:tr h="38404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Rule, labelled verse poems</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Bhāgavatamu</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Vemana</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Kuchimanchi</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Chandassu</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r>
              <a:tr h="384048">
                <a:tc>
                  <a:txBody>
                    <a:bodyPr/>
                    <a:lstStyle/>
                    <a:p>
                      <a:pPr algn="l" indent="0" marL="0">
                        <a:buNone/>
                      </a:pPr>
                      <a:r>
                        <a:rPr lang="en-US" sz="1300" b="1" dirty="0">
                          <a:solidFill>
                            <a:srgbClr val="22192B"/>
                          </a:solidFill>
                          <a:latin typeface="Calibri" pitchFamily="34" charset="0"/>
                          <a:ea typeface="Calibri" pitchFamily="34" charset="-122"/>
                          <a:cs typeface="Calibri" pitchFamily="34" charset="-120"/>
                        </a:rPr>
                        <a:t>Poems</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7,366</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1,164</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1,611</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2,532</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b="1" dirty="0">
                          <a:solidFill>
                            <a:srgbClr val="22192B"/>
                          </a:solidFill>
                          <a:latin typeface="Calibri" pitchFamily="34" charset="0"/>
                          <a:ea typeface="Calibri" pitchFamily="34" charset="-122"/>
                          <a:cs typeface="Calibri" pitchFamily="34" charset="-120"/>
                        </a:rPr>
                        <a:t>12,673</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84048">
                <a:tc>
                  <a:txBody>
                    <a:bodyPr/>
                    <a:lstStyle/>
                    <a:p>
                      <a:pPr algn="l" indent="0" marL="0">
                        <a:buNone/>
                      </a:pPr>
                      <a:r>
                        <a:rPr lang="en-US" sz="1300" dirty="0">
                          <a:solidFill>
                            <a:srgbClr val="22192B"/>
                          </a:solidFill>
                          <a:latin typeface="Calibri" pitchFamily="34" charset="0"/>
                          <a:ea typeface="Calibri" pitchFamily="34" charset="-122"/>
                          <a:cs typeface="Calibri" pitchFamily="34" charset="-120"/>
                        </a:rPr>
                        <a:t>1. gaṇa</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99.85%</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87.2%</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96.5%</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85.0%</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b="1" dirty="0">
                          <a:solidFill>
                            <a:srgbClr val="22192B"/>
                          </a:solidFill>
                          <a:latin typeface="Calibri" pitchFamily="34" charset="0"/>
                          <a:ea typeface="Calibri" pitchFamily="34" charset="-122"/>
                          <a:cs typeface="Calibri" pitchFamily="34" charset="-120"/>
                        </a:rPr>
                        <a:t>95.3%</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84048">
                <a:tc>
                  <a:txBody>
                    <a:bodyPr/>
                    <a:lstStyle/>
                    <a:p>
                      <a:pPr algn="l" indent="0" marL="0">
                        <a:buNone/>
                      </a:pPr>
                      <a:r>
                        <a:rPr lang="en-US" sz="1300" dirty="0">
                          <a:solidFill>
                            <a:srgbClr val="22192B"/>
                          </a:solidFill>
                          <a:latin typeface="Calibri" pitchFamily="34" charset="0"/>
                          <a:ea typeface="Calibri" pitchFamily="34" charset="-122"/>
                          <a:cs typeface="Calibri" pitchFamily="34" charset="-120"/>
                        </a:rPr>
                        <a:t>2. prāsa, relaxed (strict)</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99.8% (96.7%)</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95.6% (93.4%)</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99.9% (97.7%)</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98.8% (93.7%)</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b="1" dirty="0">
                          <a:solidFill>
                            <a:srgbClr val="22192B"/>
                          </a:solidFill>
                          <a:latin typeface="Calibri" pitchFamily="34" charset="0"/>
                          <a:ea typeface="Calibri" pitchFamily="34" charset="-122"/>
                          <a:cs typeface="Calibri" pitchFamily="34" charset="-120"/>
                        </a:rPr>
                        <a:t>99.2% (95.9%)</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84048">
                <a:tc>
                  <a:txBody>
                    <a:bodyPr/>
                    <a:lstStyle/>
                    <a:p>
                      <a:pPr algn="l" indent="0" marL="0">
                        <a:buNone/>
                      </a:pPr>
                      <a:r>
                        <a:rPr lang="en-US" sz="1300" dirty="0">
                          <a:solidFill>
                            <a:srgbClr val="22192B"/>
                          </a:solidFill>
                          <a:latin typeface="Calibri" pitchFamily="34" charset="0"/>
                          <a:ea typeface="Calibri" pitchFamily="34" charset="-122"/>
                          <a:cs typeface="Calibri" pitchFamily="34" charset="-120"/>
                        </a:rPr>
                        <a:t>3. yati, relaxed (strict)</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91.4% (90.7%)</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96.4% (95.7%)</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93.9% (92.9%)</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Calibri" pitchFamily="34" charset="0"/>
                          <a:ea typeface="Calibri" pitchFamily="34" charset="-122"/>
                          <a:cs typeface="Calibri" pitchFamily="34" charset="-120"/>
                        </a:rPr>
                        <a:t>87.9% (86.6%)</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b="1" dirty="0">
                          <a:solidFill>
                            <a:srgbClr val="22192B"/>
                          </a:solidFill>
                          <a:latin typeface="Calibri" pitchFamily="34" charset="0"/>
                          <a:ea typeface="Calibri" pitchFamily="34" charset="-122"/>
                          <a:cs typeface="Calibri" pitchFamily="34" charset="-120"/>
                        </a:rPr>
                        <a:t>91.5% (90.6%)</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bl>
          </a:graphicData>
        </a:graphic>
      </p:graphicFrame>
      <p:sp>
        <p:nvSpPr>
          <p:cNvPr id="5" name="Text 1"/>
          <p:cNvSpPr txBox="1"/>
          <p:nvPr/>
        </p:nvSpPr>
        <p:spPr>
          <a:xfrm>
            <a:off x="548640" y="3383280"/>
            <a:ext cx="11094415" cy="274320"/>
          </a:xfrm>
          <a:prstGeom prst="rect">
            <a:avLst/>
          </a:prstGeom>
          <a:noFill/>
          <a:ln/>
        </p:spPr>
        <p:txBody>
          <a:bodyPr wrap="square" lIns="0" tIns="0" rIns="0" bIns="0" rtlCol="0" anchor="t"/>
          <a:lstStyle/>
          <a:p>
            <a:pPr indent="0" marL="0">
              <a:buNone/>
            </a:pPr>
            <a:r>
              <a:rPr lang="en-US" sz="1100" i="1" dirty="0">
                <a:solidFill>
                  <a:schemeClr val="tx2"/>
                </a:solidFill>
              </a:rPr>
              <a:t>Table 1 of the paper: validity rates measured by the controller; strict values in parentheses.</a:t>
            </a:r>
            <a:endParaRPr lang="en-US" sz="1100" dirty="0"/>
          </a:p>
        </p:txBody>
      </p:sp>
      <p:sp>
        <p:nvSpPr>
          <p:cNvPr id="6" name="card Sources"/>
          <p:cNvSpPr/>
          <p:nvPr/>
        </p:nvSpPr>
        <p:spPr>
          <a:xfrm>
            <a:off x="548640" y="3840480"/>
            <a:ext cx="5410048" cy="2423160"/>
          </a:xfrm>
          <a:prstGeom prst="roundRect">
            <a:avLst>
              <a:gd name="adj" fmla="val 3774"/>
            </a:avLst>
          </a:prstGeom>
          <a:solidFill>
            <a:schemeClr val="bg2"/>
          </a:solidFill>
          <a:ln w="12700">
            <a:solidFill>
              <a:schemeClr val="bg2"/>
            </a:solidFill>
            <a:prstDash val="solid"/>
          </a:ln>
        </p:spPr>
      </p:sp>
      <p:sp>
        <p:nvSpPr>
          <p:cNvPr id="7" name="Text 3"/>
          <p:cNvSpPr txBox="1"/>
          <p:nvPr/>
        </p:nvSpPr>
        <p:spPr>
          <a:xfrm>
            <a:off x="749808" y="4005072"/>
            <a:ext cx="5026000" cy="384048"/>
          </a:xfrm>
          <a:prstGeom prst="rect">
            <a:avLst/>
          </a:prstGeom>
          <a:noFill/>
          <a:ln/>
        </p:spPr>
        <p:txBody>
          <a:bodyPr wrap="square" lIns="0" tIns="0" rIns="0" bIns="0" rtlCol="0" anchor="t"/>
          <a:lstStyle/>
          <a:p>
            <a:pPr indent="0" marL="0">
              <a:buNone/>
            </a:pPr>
            <a:r>
              <a:rPr lang="en-US" sz="1600" b="1" dirty="0">
                <a:solidFill>
                  <a:schemeClr val="accent1"/>
                </a:solidFill>
              </a:rPr>
              <a:t>Sources</a:t>
            </a:r>
            <a:endParaRPr lang="en-US" sz="1600" dirty="0"/>
          </a:p>
        </p:txBody>
      </p:sp>
      <p:sp>
        <p:nvSpPr>
          <p:cNvPr id="8" name="Text 4"/>
          <p:cNvSpPr txBox="1"/>
          <p:nvPr/>
        </p:nvSpPr>
        <p:spPr>
          <a:xfrm>
            <a:off x="749808" y="4425696"/>
            <a:ext cx="5026000" cy="1728216"/>
          </a:xfrm>
          <a:prstGeom prst="rect">
            <a:avLst/>
          </a:prstGeom>
          <a:noFill/>
          <a:ln/>
        </p:spPr>
        <p:txBody>
          <a:bodyPr wrap="square" lIns="0" tIns="0" rIns="0" bIns="0" rtlCol="0" anchor="t"/>
          <a:lstStyle/>
          <a:p>
            <a:pPr marL="342900" indent="-342900">
              <a:spcAft>
                <a:spcPts val="400"/>
              </a:spcAft>
              <a:buSzPct val="100000"/>
              <a:buChar char="•"/>
            </a:pPr>
            <a:r>
              <a:rPr lang="en-US" sz="1300" b="1" dirty="0">
                <a:solidFill>
                  <a:schemeClr val="accent1"/>
                </a:solidFill>
              </a:rPr>
              <a:t>Bhāgavatamu </a:t>
            </a:r>
            <a:r>
              <a:rPr lang="en-US" sz="1300" dirty="0">
                <a:solidFill>
                  <a:schemeClr val="tx1"/>
                </a:solidFill>
              </a:rPr>
              <a:t>Pothana’s Āndhra Mahābhāgavatamu, online compilation with word glosses and meanings: the golden set</a:t>
            </a:r>
            <a:endParaRPr lang="en-US" sz="1300" dirty="0"/>
          </a:p>
          <a:p>
            <a:pPr marL="342900" indent="-342900">
              <a:spcAft>
                <a:spcPts val="400"/>
              </a:spcAft>
              <a:buSzPct val="100000"/>
              <a:buChar char="•"/>
            </a:pPr>
            <a:r>
              <a:rPr lang="en-US" sz="1300" b="1" dirty="0">
                <a:solidFill>
                  <a:schemeClr val="accent1"/>
                </a:solidFill>
              </a:rPr>
              <a:t>Vemana </a:t>
            </a:r>
            <a:r>
              <a:rPr lang="en-US" sz="1300" dirty="0">
                <a:solidFill>
                  <a:schemeClr val="tx1"/>
                </a:solidFill>
              </a:rPr>
              <a:t>the śatakam</a:t>
            </a:r>
            <a:endParaRPr lang="en-US" sz="1300" dirty="0"/>
          </a:p>
          <a:p>
            <a:pPr marL="342900" indent="-342900">
              <a:spcAft>
                <a:spcPts val="400"/>
              </a:spcAft>
              <a:buSzPct val="100000"/>
              <a:buChar char="•"/>
            </a:pPr>
            <a:r>
              <a:rPr lang="en-US" sz="1300" b="1" dirty="0">
                <a:solidFill>
                  <a:schemeClr val="accent1"/>
                </a:solidFill>
              </a:rPr>
              <a:t>Kuchimanchi </a:t>
            </a:r>
            <a:r>
              <a:rPr lang="en-US" sz="1300" dirty="0">
                <a:solidFill>
                  <a:schemeClr val="tx1"/>
                </a:solidFill>
              </a:rPr>
              <a:t>Timmakavi’s acca-telugu Rāmāyaṇamu; ciravibhava, kukkuṭeśvara and śrībharga śatakams</a:t>
            </a:r>
            <a:endParaRPr lang="en-US" sz="1300" dirty="0"/>
          </a:p>
          <a:p>
            <a:pPr marL="342900" indent="-342900">
              <a:spcAft>
                <a:spcPts val="400"/>
              </a:spcAft>
              <a:buSzPct val="100000"/>
              <a:buChar char="•"/>
            </a:pPr>
            <a:r>
              <a:rPr lang="en-US" sz="1300" b="1" dirty="0">
                <a:solidFill>
                  <a:schemeClr val="accent1"/>
                </a:solidFill>
              </a:rPr>
              <a:t>Chandassu </a:t>
            </a:r>
            <a:r>
              <a:rPr lang="en-US" sz="1300" dirty="0">
                <a:solidFill>
                  <a:schemeClr val="tx1"/>
                </a:solidFill>
              </a:rPr>
              <a:t>Pavan and Sree (2025), Kaggle release (Boddu, 2025)</a:t>
            </a:r>
            <a:endParaRPr lang="en-US" sz="1300" dirty="0"/>
          </a:p>
        </p:txBody>
      </p:sp>
      <p:sp>
        <p:nvSpPr>
          <p:cNvPr id="9" name="card Meanings and labels"/>
          <p:cNvSpPr/>
          <p:nvPr/>
        </p:nvSpPr>
        <p:spPr>
          <a:xfrm>
            <a:off x="6233008" y="3840480"/>
            <a:ext cx="5410048" cy="2423160"/>
          </a:xfrm>
          <a:prstGeom prst="roundRect">
            <a:avLst>
              <a:gd name="adj" fmla="val 3774"/>
            </a:avLst>
          </a:prstGeom>
          <a:solidFill>
            <a:schemeClr val="bg2"/>
          </a:solidFill>
          <a:ln w="12700">
            <a:solidFill>
              <a:schemeClr val="bg2"/>
            </a:solidFill>
            <a:prstDash val="solid"/>
          </a:ln>
        </p:spPr>
      </p:sp>
      <p:sp>
        <p:nvSpPr>
          <p:cNvPr id="10" name="Text 6"/>
          <p:cNvSpPr txBox="1"/>
          <p:nvPr/>
        </p:nvSpPr>
        <p:spPr>
          <a:xfrm>
            <a:off x="6434176" y="4005072"/>
            <a:ext cx="5026000" cy="384048"/>
          </a:xfrm>
          <a:prstGeom prst="rect">
            <a:avLst/>
          </a:prstGeom>
          <a:noFill/>
          <a:ln/>
        </p:spPr>
        <p:txBody>
          <a:bodyPr wrap="square" lIns="0" tIns="0" rIns="0" bIns="0" rtlCol="0" anchor="t"/>
          <a:lstStyle/>
          <a:p>
            <a:pPr indent="0" marL="0">
              <a:buNone/>
            </a:pPr>
            <a:r>
              <a:rPr lang="en-US" sz="1600" b="1" dirty="0">
                <a:solidFill>
                  <a:schemeClr val="accent1"/>
                </a:solidFill>
              </a:rPr>
              <a:t>Meanings and labels</a:t>
            </a:r>
            <a:endParaRPr lang="en-US" sz="1600" dirty="0"/>
          </a:p>
        </p:txBody>
      </p:sp>
      <p:sp>
        <p:nvSpPr>
          <p:cNvPr id="11" name="Text 7"/>
          <p:cNvSpPr txBox="1"/>
          <p:nvPr/>
        </p:nvSpPr>
        <p:spPr>
          <a:xfrm>
            <a:off x="6434176" y="4425696"/>
            <a:ext cx="5026000" cy="172821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Bhāgavatamu meanings come from the edition; the rest are LLM-generated (Gemini)</a:t>
            </a:r>
            <a:endParaRPr lang="en-US" sz="1300" dirty="0"/>
          </a:p>
          <a:p>
            <a:pPr marL="342900" indent="-342900">
              <a:spcAft>
                <a:spcPts val="400"/>
              </a:spcAft>
              <a:buSzPct val="100000"/>
              <a:buChar char="•"/>
            </a:pPr>
            <a:r>
              <a:rPr lang="en-US" sz="1300" dirty="0">
                <a:solidFill>
                  <a:schemeClr val="tx1"/>
                </a:solidFill>
              </a:rPr>
              <a:t>every English meaning is a machine translation of the Telugu bhāvaṃ</a:t>
            </a:r>
            <a:endParaRPr lang="en-US" sz="1300" dirty="0"/>
          </a:p>
          <a:p>
            <a:pPr marL="342900" indent="-342900">
              <a:spcAft>
                <a:spcPts val="400"/>
              </a:spcAft>
              <a:buSzPct val="100000"/>
              <a:buChar char="•"/>
            </a:pPr>
            <a:r>
              <a:rPr lang="en-US" sz="1300" dirty="0">
                <a:solidFill>
                  <a:schemeClr val="tx1"/>
                </a:solidFill>
              </a:rPr>
              <a:t>metre labels checked by the controller; gaṇa validity is lowest on Chandassu (85.0%) and Vemana (87.2%)</a:t>
            </a:r>
            <a:endParaRPr lang="en-US" sz="1300" dirty="0"/>
          </a:p>
          <a:p>
            <a:pPr marL="342900" indent="-342900">
              <a:spcAft>
                <a:spcPts val="400"/>
              </a:spcAft>
              <a:buSzPct val="100000"/>
              <a:buChar char="•"/>
            </a:pPr>
            <a:r>
              <a:rPr lang="en-US" sz="1300" dirty="0">
                <a:solidFill>
                  <a:schemeClr val="tx1"/>
                </a:solidFill>
              </a:rPr>
              <a:t>quality gauged by metrical correctness, length ratio, embedding similarity, lexical and metrical diversity, author diversity, deduplication</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Data sanity: do the meanings belong to their poems?</a:t>
            </a:r>
            <a:endParaRPr lang="en-US" sz="3200" dirty="0"/>
          </a:p>
        </p:txBody>
      </p:sp>
      <p:graphicFrame>
        <p:nvGraphicFramePr>
          <p:cNvPr id="4" name="Chart 0" descr=""/>
          <p:cNvGraphicFramePr/>
          <p:nvPr/>
        </p:nvGraphicFramePr>
        <p:xfrm>
          <a:off x="548640" y="1325880"/>
          <a:ext cx="6675120" cy="2423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48640" y="3840480"/>
          <a:ext cx="6675120" cy="2423160"/>
        </p:xfrm>
        <a:graphic xmlns:a="http://schemas.openxmlformats.org/drawingml/2006/main">
          <a:graphicData uri="http://schemas.openxmlformats.org/drawingml/2006/chart">
            <c:chart xmlns:c="http://schemas.openxmlformats.org/drawingml/2006/chart" r:id="rId2"/>
          </a:graphicData>
        </a:graphic>
      </p:graphicFrame>
      <p:sp>
        <p:nvSpPr>
          <p:cNvPr id="6" name="card What Table 2 says"/>
          <p:cNvSpPr/>
          <p:nvPr/>
        </p:nvSpPr>
        <p:spPr>
          <a:xfrm>
            <a:off x="7498080" y="1325880"/>
            <a:ext cx="4144975" cy="4937760"/>
          </a:xfrm>
          <a:prstGeom prst="roundRect">
            <a:avLst>
              <a:gd name="adj" fmla="val 2206"/>
            </a:avLst>
          </a:prstGeom>
          <a:solidFill>
            <a:schemeClr val="bg2"/>
          </a:solidFill>
          <a:ln w="12700">
            <a:solidFill>
              <a:schemeClr val="bg2"/>
            </a:solidFill>
            <a:prstDash val="solid"/>
          </a:ln>
        </p:spPr>
      </p:sp>
      <p:sp>
        <p:nvSpPr>
          <p:cNvPr id="7" name="Text 2"/>
          <p:cNvSpPr txBox="1"/>
          <p:nvPr/>
        </p:nvSpPr>
        <p:spPr>
          <a:xfrm>
            <a:off x="7699248" y="1490472"/>
            <a:ext cx="3760927" cy="384048"/>
          </a:xfrm>
          <a:prstGeom prst="rect">
            <a:avLst/>
          </a:prstGeom>
          <a:noFill/>
          <a:ln/>
        </p:spPr>
        <p:txBody>
          <a:bodyPr wrap="square" lIns="0" tIns="0" rIns="0" bIns="0" rtlCol="0" anchor="t"/>
          <a:lstStyle/>
          <a:p>
            <a:pPr indent="0" marL="0">
              <a:buNone/>
            </a:pPr>
            <a:r>
              <a:rPr lang="en-US" sz="1600" b="1" dirty="0">
                <a:solidFill>
                  <a:schemeClr val="accent1"/>
                </a:solidFill>
              </a:rPr>
              <a:t>What Table 2 says</a:t>
            </a:r>
            <a:endParaRPr lang="en-US" sz="1600" dirty="0"/>
          </a:p>
        </p:txBody>
      </p:sp>
      <p:sp>
        <p:nvSpPr>
          <p:cNvPr id="8" name="Text 3"/>
          <p:cNvSpPr txBox="1"/>
          <p:nvPr/>
        </p:nvSpPr>
        <p:spPr>
          <a:xfrm>
            <a:off x="7699248" y="1911096"/>
            <a:ext cx="3760927" cy="4242816"/>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accent1"/>
                </a:solidFill>
              </a:rPr>
              <a:t>Fidelity: </a:t>
            </a:r>
            <a:r>
              <a:rPr lang="en-US" sz="1300" dirty="0">
                <a:solidFill>
                  <a:schemeClr val="tx1"/>
                </a:solidFill>
              </a:rPr>
              <a:t>poem vs. its Telugu meaning, LaBSE ranks the true pairing first with AUC 0.85–0.94</a:t>
            </a:r>
            <a:endParaRPr lang="en-US" sz="1300" dirty="0"/>
          </a:p>
          <a:p>
            <a:pPr marL="342900" indent="-342900">
              <a:spcAft>
                <a:spcPts val="500"/>
              </a:spcAft>
              <a:buSzPct val="100000"/>
              <a:buChar char="•"/>
            </a:pPr>
            <a:r>
              <a:rPr lang="en-US" sz="1300" b="1" dirty="0">
                <a:solidFill>
                  <a:schemeClr val="accent1"/>
                </a:solidFill>
              </a:rPr>
              <a:t>Uniform machine meanings: </a:t>
            </a:r>
            <a:r>
              <a:rPr lang="en-US" sz="1300" dirty="0">
                <a:solidFill>
                  <a:schemeClr val="tx1"/>
                </a:solidFill>
              </a:rPr>
              <a:t>the length gate cannot separate Vemana (84.5 vs 82.6)</a:t>
            </a:r>
            <a:endParaRPr lang="en-US" sz="1300" dirty="0"/>
          </a:p>
          <a:p>
            <a:pPr marL="342900" indent="-342900">
              <a:spcAft>
                <a:spcPts val="500"/>
              </a:spcAft>
              <a:buSzPct val="100000"/>
              <a:buChar char="•"/>
            </a:pPr>
            <a:r>
              <a:rPr lang="en-US" sz="1300" b="1" dirty="0">
                <a:solidFill>
                  <a:schemeClr val="accent1"/>
                </a:solidFill>
              </a:rPr>
              <a:t>Diversity: </a:t>
            </a:r>
            <a:r>
              <a:rPr lang="en-US" sz="1300" dirty="0">
                <a:solidFill>
                  <a:schemeClr val="tx1"/>
                </a:solidFill>
              </a:rPr>
              <a:t>type–token ratio 0.59–0.64 in every file</a:t>
            </a:r>
            <a:endParaRPr lang="en-US" sz="1300" dirty="0"/>
          </a:p>
          <a:p>
            <a:pPr marL="342900" indent="-342900">
              <a:spcAft>
                <a:spcPts val="500"/>
              </a:spcAft>
              <a:buSzPct val="100000"/>
              <a:buChar char="•"/>
            </a:pPr>
            <a:r>
              <a:rPr lang="en-US" sz="1300" b="1" dirty="0">
                <a:solidFill>
                  <a:schemeClr val="accent1"/>
                </a:solidFill>
              </a:rPr>
              <a:t>Duplication: </a:t>
            </a:r>
            <a:r>
              <a:rPr lang="en-US" sz="1300" dirty="0">
                <a:solidFill>
                  <a:schemeClr val="tx1"/>
                </a:solidFill>
              </a:rPr>
              <a:t>13 near-duplicate pairs among 12,704 poems (3-gram Jaccard ≥ 0.7)</a:t>
            </a:r>
            <a:endParaRPr lang="en-US" sz="1300" dirty="0"/>
          </a:p>
          <a:p>
            <a:pPr marL="342900" indent="-342900">
              <a:spcAft>
                <a:spcPts val="500"/>
              </a:spcAft>
              <a:buSzPct val="100000"/>
              <a:buChar char="•"/>
            </a:pPr>
            <a:r>
              <a:rPr lang="en-US" sz="1300" b="1" dirty="0">
                <a:solidFill>
                  <a:schemeClr val="accent1"/>
                </a:solidFill>
              </a:rPr>
              <a:t>Refrains: </a:t>
            </a:r>
            <a:r>
              <a:rPr lang="en-US" sz="1300" dirty="0">
                <a:solidFill>
                  <a:schemeClr val="tx1"/>
                </a:solidFill>
              </a:rPr>
              <a:t>77.1% of Vemana and 25.3% of Chandassu poems share a pāda; Yule’s K 99.9 vs 1.4–4.1, so splits keep refrain groups together</a:t>
            </a:r>
            <a:endParaRPr lang="en-US" sz="1300" dirty="0"/>
          </a:p>
          <a:p>
            <a:pPr marL="342900" indent="-342900">
              <a:spcAft>
                <a:spcPts val="500"/>
              </a:spcAft>
              <a:buSzPct val="100000"/>
              <a:buChar char="•"/>
            </a:pPr>
            <a:r>
              <a:rPr lang="en-US" sz="1300" b="1" dirty="0">
                <a:solidFill>
                  <a:schemeClr val="accent1"/>
                </a:solidFill>
              </a:rPr>
              <a:t>Tokens: </a:t>
            </a:r>
            <a:r>
              <a:rPr lang="en-US" sz="1300" dirty="0">
                <a:solidFill>
                  <a:schemeClr val="tx1"/>
                </a:solidFill>
              </a:rPr>
              <a:t>Gemma-4 subwords spend 1.23–1.36 tokens per akṣara, motivating a syllable tokenizer</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DAWG: every legal line of a metre, stored once</a:t>
            </a:r>
            <a:endParaRPr lang="en-US" sz="3200" dirty="0"/>
          </a:p>
        </p:txBody>
      </p:sp>
      <p:pic>
        <p:nvPicPr>
          <p:cNvPr id="4" name="Image 0" descr="/home/samvaran/phd_workspace/anlp_project/presentation/figures/fig_dawg_trie_to_dawg.png">    </p:cNvPr>
          <p:cNvPicPr>
            <a:picLocks noChangeAspect="1"/>
          </p:cNvPicPr>
          <p:nvPr/>
        </p:nvPicPr>
        <p:blipFill>
          <a:blip r:embed="rId1"/>
          <a:stretch>
            <a:fillRect/>
          </a:stretch>
        </p:blipFill>
        <p:spPr>
          <a:xfrm>
            <a:off x="1432408" y="1234440"/>
            <a:ext cx="9326880" cy="3190873"/>
          </a:xfrm>
          <a:prstGeom prst="rect">
            <a:avLst/>
          </a:prstGeom>
        </p:spPr>
      </p:pic>
      <p:sp>
        <p:nvSpPr>
          <p:cNvPr id="5" name="card Directed acyclic word graph"/>
          <p:cNvSpPr/>
          <p:nvPr/>
        </p:nvSpPr>
        <p:spPr>
          <a:xfrm>
            <a:off x="548640" y="4562473"/>
            <a:ext cx="3515258" cy="1701167"/>
          </a:xfrm>
          <a:prstGeom prst="roundRect">
            <a:avLst>
              <a:gd name="adj" fmla="val 5375"/>
            </a:avLst>
          </a:prstGeom>
          <a:solidFill>
            <a:schemeClr val="bg2"/>
          </a:solidFill>
          <a:ln w="12700">
            <a:solidFill>
              <a:schemeClr val="bg2"/>
            </a:solidFill>
            <a:prstDash val="solid"/>
          </a:ln>
        </p:spPr>
      </p:sp>
      <p:sp>
        <p:nvSpPr>
          <p:cNvPr id="6" name="Text 2"/>
          <p:cNvSpPr txBox="1"/>
          <p:nvPr/>
        </p:nvSpPr>
        <p:spPr>
          <a:xfrm>
            <a:off x="749808" y="4727065"/>
            <a:ext cx="3131210" cy="384048"/>
          </a:xfrm>
          <a:prstGeom prst="rect">
            <a:avLst/>
          </a:prstGeom>
          <a:noFill/>
          <a:ln/>
        </p:spPr>
        <p:txBody>
          <a:bodyPr wrap="square" lIns="0" tIns="0" rIns="0" bIns="0" rtlCol="0" anchor="t"/>
          <a:lstStyle/>
          <a:p>
            <a:pPr indent="0" marL="0">
              <a:buNone/>
            </a:pPr>
            <a:r>
              <a:rPr lang="en-US" sz="1500" b="1" dirty="0">
                <a:solidFill>
                  <a:schemeClr val="accent1"/>
                </a:solidFill>
              </a:rPr>
              <a:t>Directed acyclic word graph</a:t>
            </a:r>
            <a:endParaRPr lang="en-US" sz="1500" dirty="0"/>
          </a:p>
        </p:txBody>
      </p:sp>
      <p:sp>
        <p:nvSpPr>
          <p:cNvPr id="7" name="Text 3"/>
          <p:cNvSpPr txBox="1"/>
          <p:nvPr/>
        </p:nvSpPr>
        <p:spPr>
          <a:xfrm>
            <a:off x="749808" y="5147689"/>
            <a:ext cx="3131210" cy="1006223"/>
          </a:xfrm>
          <a:prstGeom prst="rect">
            <a:avLst/>
          </a:prstGeom>
          <a:noFill/>
          <a:ln/>
        </p:spPr>
        <p:txBody>
          <a:bodyPr wrap="square" lIns="0" tIns="0" rIns="0" bIns="0" rtlCol="0" anchor="t"/>
          <a:lstStyle/>
          <a:p>
            <a:pPr indent="0" marL="0">
              <a:buNone/>
            </a:pPr>
            <a:r>
              <a:rPr lang="en-US" sz="1250" dirty="0">
                <a:solidFill>
                  <a:schemeClr val="tx1"/>
                </a:solidFill>
              </a:rPr>
              <a:t>A minimal deterministic acyclic automaton over U and I. A line is legal when its weights lead from the start to a final state; lines are bounded, so there are no cycles.</a:t>
            </a:r>
            <a:endParaRPr lang="en-US" sz="1250" dirty="0"/>
          </a:p>
        </p:txBody>
      </p:sp>
      <p:sp>
        <p:nvSpPr>
          <p:cNvPr id="8" name="card Merge equal futures"/>
          <p:cNvSpPr/>
          <p:nvPr/>
        </p:nvSpPr>
        <p:spPr>
          <a:xfrm>
            <a:off x="4338218" y="4562473"/>
            <a:ext cx="3515258" cy="1701167"/>
          </a:xfrm>
          <a:prstGeom prst="roundRect">
            <a:avLst>
              <a:gd name="adj" fmla="val 5375"/>
            </a:avLst>
          </a:prstGeom>
          <a:solidFill>
            <a:schemeClr val="bg2"/>
          </a:solidFill>
          <a:ln w="12700">
            <a:solidFill>
              <a:schemeClr val="bg2"/>
            </a:solidFill>
            <a:prstDash val="solid"/>
          </a:ln>
        </p:spPr>
      </p:sp>
      <p:sp>
        <p:nvSpPr>
          <p:cNvPr id="9" name="Text 5"/>
          <p:cNvSpPr txBox="1"/>
          <p:nvPr/>
        </p:nvSpPr>
        <p:spPr>
          <a:xfrm>
            <a:off x="4539386" y="4727065"/>
            <a:ext cx="3131210" cy="384048"/>
          </a:xfrm>
          <a:prstGeom prst="rect">
            <a:avLst/>
          </a:prstGeom>
          <a:noFill/>
          <a:ln/>
        </p:spPr>
        <p:txBody>
          <a:bodyPr wrap="square" lIns="0" tIns="0" rIns="0" bIns="0" rtlCol="0" anchor="t"/>
          <a:lstStyle/>
          <a:p>
            <a:pPr indent="0" marL="0">
              <a:buNone/>
            </a:pPr>
            <a:r>
              <a:rPr lang="en-US" sz="1500" b="1" dirty="0">
                <a:solidFill>
                  <a:schemeClr val="accent1"/>
                </a:solidFill>
              </a:rPr>
              <a:t>Merge equal futures</a:t>
            </a:r>
            <a:endParaRPr lang="en-US" sz="1500" dirty="0"/>
          </a:p>
        </p:txBody>
      </p:sp>
      <p:sp>
        <p:nvSpPr>
          <p:cNvPr id="10" name="Text 6"/>
          <p:cNvSpPr txBox="1"/>
          <p:nvPr/>
        </p:nvSpPr>
        <p:spPr>
          <a:xfrm>
            <a:off x="4539386" y="5147689"/>
            <a:ext cx="3131210" cy="1006223"/>
          </a:xfrm>
          <a:prstGeom prst="rect">
            <a:avLst/>
          </a:prstGeom>
          <a:noFill/>
          <a:ln/>
        </p:spPr>
        <p:txBody>
          <a:bodyPr wrap="square" lIns="0" tIns="0" rIns="0" bIns="0" rtlCol="0" anchor="t"/>
          <a:lstStyle/>
          <a:p>
            <a:pPr indent="0" marL="0">
              <a:buNone/>
            </a:pPr>
            <a:r>
              <a:rPr lang="en-US" sz="1250" dirty="0">
                <a:solidFill>
                  <a:schemeClr val="tx1"/>
                </a:solidFill>
              </a:rPr>
              <a:t>States with the same completions become one, so each shared suffix is stored once: 29 trie states become 11 states and 14 edges for the same 9 lines (Daciuk et al., 2000).</a:t>
            </a:r>
            <a:endParaRPr lang="en-US" sz="1250" dirty="0"/>
          </a:p>
        </p:txBody>
      </p:sp>
      <p:sp>
        <p:nvSpPr>
          <p:cNvPr id="11" name="card The decoder’s query"/>
          <p:cNvSpPr/>
          <p:nvPr/>
        </p:nvSpPr>
        <p:spPr>
          <a:xfrm>
            <a:off x="8127797" y="4562473"/>
            <a:ext cx="3515258" cy="1701167"/>
          </a:xfrm>
          <a:prstGeom prst="roundRect">
            <a:avLst>
              <a:gd name="adj" fmla="val 5375"/>
            </a:avLst>
          </a:prstGeom>
          <a:solidFill>
            <a:schemeClr val="bg2"/>
          </a:solidFill>
          <a:ln w="12700">
            <a:solidFill>
              <a:schemeClr val="bg2"/>
            </a:solidFill>
            <a:prstDash val="solid"/>
          </a:ln>
        </p:spPr>
      </p:sp>
      <p:sp>
        <p:nvSpPr>
          <p:cNvPr id="12" name="Text 8"/>
          <p:cNvSpPr txBox="1"/>
          <p:nvPr/>
        </p:nvSpPr>
        <p:spPr>
          <a:xfrm>
            <a:off x="8328965" y="4727065"/>
            <a:ext cx="3131210" cy="384048"/>
          </a:xfrm>
          <a:prstGeom prst="rect">
            <a:avLst/>
          </a:prstGeom>
          <a:noFill/>
          <a:ln/>
        </p:spPr>
        <p:txBody>
          <a:bodyPr wrap="square" lIns="0" tIns="0" rIns="0" bIns="0" rtlCol="0" anchor="t"/>
          <a:lstStyle/>
          <a:p>
            <a:pPr indent="0" marL="0">
              <a:buNone/>
            </a:pPr>
            <a:r>
              <a:rPr lang="en-US" sz="1500" b="1" dirty="0">
                <a:solidFill>
                  <a:schemeClr val="accent1"/>
                </a:solidFill>
              </a:rPr>
              <a:t>The decoder’s query</a:t>
            </a:r>
            <a:endParaRPr lang="en-US" sz="1500" dirty="0"/>
          </a:p>
        </p:txBody>
      </p:sp>
      <p:sp>
        <p:nvSpPr>
          <p:cNvPr id="13" name="Text 9"/>
          <p:cNvSpPr txBox="1"/>
          <p:nvPr/>
        </p:nvSpPr>
        <p:spPr>
          <a:xfrm>
            <a:off x="8328965" y="5147689"/>
            <a:ext cx="3131210" cy="1006223"/>
          </a:xfrm>
          <a:prstGeom prst="rect">
            <a:avLst/>
          </a:prstGeom>
          <a:noFill/>
          <a:ln/>
        </p:spPr>
        <p:txBody>
          <a:bodyPr wrap="square" lIns="0" tIns="0" rIns="0" bIns="0" rtlCol="0" anchor="t"/>
          <a:lstStyle/>
          <a:p>
            <a:pPr indent="0" marL="0">
              <a:buNone/>
            </a:pPr>
            <a:r>
              <a:rPr lang="en-US" sz="1250" dirty="0">
                <a:solidFill>
                  <a:schemeClr val="tx1"/>
                </a:solidFill>
              </a:rPr>
              <a:t>next_symbols: which weights may follow this prefix? After U I, only I. The answer is a lookup, cheap enough for every token of every decoding step.</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One labelled DAWG for all 37 metres</a:t>
            </a:r>
            <a:endParaRPr lang="en-US" sz="3200" dirty="0"/>
          </a:p>
        </p:txBody>
      </p:sp>
      <p:sp>
        <p:nvSpPr>
          <p:cNvPr id="4" name="Shape 1"/>
          <p:cNvSpPr/>
          <p:nvPr/>
        </p:nvSpPr>
        <p:spPr>
          <a:xfrm>
            <a:off x="548640" y="1325880"/>
            <a:ext cx="4846320" cy="658368"/>
          </a:xfrm>
          <a:prstGeom prst="roundRect">
            <a:avLst>
              <a:gd name="adj" fmla="val 11111"/>
            </a:avLst>
          </a:prstGeom>
          <a:solidFill>
            <a:schemeClr val="bg2"/>
          </a:solidFill>
          <a:ln w="12700">
            <a:solidFill>
              <a:schemeClr val="bg2"/>
            </a:solidFill>
            <a:prstDash val="solid"/>
          </a:ln>
        </p:spPr>
      </p:sp>
      <p:sp>
        <p:nvSpPr>
          <p:cNvPr id="5" name="Text 2"/>
          <p:cNvSpPr txBox="1"/>
          <p:nvPr/>
        </p:nvSpPr>
        <p:spPr>
          <a:xfrm>
            <a:off x="731520" y="1389888"/>
            <a:ext cx="4480560" cy="274320"/>
          </a:xfrm>
          <a:prstGeom prst="rect">
            <a:avLst/>
          </a:prstGeom>
          <a:noFill/>
          <a:ln/>
        </p:spPr>
        <p:txBody>
          <a:bodyPr wrap="square" lIns="0" tIns="0" rIns="0" bIns="0" rtlCol="0" anchor="t"/>
          <a:lstStyle/>
          <a:p>
            <a:pPr indent="0" marL="0">
              <a:buNone/>
            </a:pPr>
            <a:r>
              <a:rPr lang="en-US" sz="1400" b="1" dirty="0">
                <a:solidFill>
                  <a:schemeClr val="accent1"/>
                </a:solidFill>
              </a:rPr>
              <a:t>Rules as data (YAML)</a:t>
            </a:r>
            <a:endParaRPr lang="en-US" sz="1400" dirty="0"/>
          </a:p>
        </p:txBody>
      </p:sp>
      <p:sp>
        <p:nvSpPr>
          <p:cNvPr id="6" name="Text 3"/>
          <p:cNvSpPr txBox="1"/>
          <p:nvPr/>
        </p:nvSpPr>
        <p:spPr>
          <a:xfrm>
            <a:off x="731520" y="1664208"/>
            <a:ext cx="4480560" cy="292608"/>
          </a:xfrm>
          <a:prstGeom prst="rect">
            <a:avLst/>
          </a:prstGeom>
          <a:noFill/>
          <a:ln/>
        </p:spPr>
        <p:txBody>
          <a:bodyPr wrap="square" lIns="0" tIns="0" rIns="0" bIns="0" rtlCol="0" anchor="t"/>
          <a:lstStyle/>
          <a:p>
            <a:pPr indent="0" marL="0">
              <a:buNone/>
            </a:pPr>
            <a:r>
              <a:rPr lang="en-US" sz="1200" dirty="0">
                <a:solidFill>
                  <a:schemeClr val="tx2"/>
                </a:solidFill>
              </a:rPr>
              <a:t>37 metres, gaṇa classes; 64 prāsa and 92 yati rules from Appakavīyaṃ</a:t>
            </a:r>
            <a:endParaRPr lang="en-US" sz="1200" dirty="0"/>
          </a:p>
        </p:txBody>
      </p:sp>
      <p:sp>
        <p:nvSpPr>
          <p:cNvPr id="7" name="Shape 4"/>
          <p:cNvSpPr/>
          <p:nvPr/>
        </p:nvSpPr>
        <p:spPr>
          <a:xfrm>
            <a:off x="2971800" y="2002536"/>
            <a:ext cx="0" cy="146304"/>
          </a:xfrm>
          <a:prstGeom prst="line">
            <a:avLst/>
          </a:prstGeom>
          <a:noFill/>
          <a:ln w="19050">
            <a:solidFill>
              <a:srgbClr val="8E8797"/>
            </a:solidFill>
            <a:prstDash val="solid"/>
            <a:tailEnd type="triangle"/>
          </a:ln>
        </p:spPr>
      </p:sp>
      <p:sp>
        <p:nvSpPr>
          <p:cNvPr id="8" name="Shape 5"/>
          <p:cNvSpPr/>
          <p:nvPr/>
        </p:nvSpPr>
        <p:spPr>
          <a:xfrm>
            <a:off x="548640" y="2167128"/>
            <a:ext cx="4846320" cy="658368"/>
          </a:xfrm>
          <a:prstGeom prst="roundRect">
            <a:avLst>
              <a:gd name="adj" fmla="val 11111"/>
            </a:avLst>
          </a:prstGeom>
          <a:solidFill>
            <a:schemeClr val="bg2"/>
          </a:solidFill>
          <a:ln w="12700">
            <a:solidFill>
              <a:schemeClr val="bg2"/>
            </a:solidFill>
            <a:prstDash val="solid"/>
          </a:ln>
        </p:spPr>
      </p:sp>
      <p:sp>
        <p:nvSpPr>
          <p:cNvPr id="9" name="Text 6"/>
          <p:cNvSpPr txBox="1"/>
          <p:nvPr/>
        </p:nvSpPr>
        <p:spPr>
          <a:xfrm>
            <a:off x="731520" y="2231136"/>
            <a:ext cx="4480560" cy="274320"/>
          </a:xfrm>
          <a:prstGeom prst="rect">
            <a:avLst/>
          </a:prstGeom>
          <a:noFill/>
          <a:ln/>
        </p:spPr>
        <p:txBody>
          <a:bodyPr wrap="square" lIns="0" tIns="0" rIns="0" bIns="0" rtlCol="0" anchor="t"/>
          <a:lstStyle/>
          <a:p>
            <a:pPr indent="0" marL="0">
              <a:buNone/>
            </a:pPr>
            <a:r>
              <a:rPr lang="en-US" sz="1400" b="1" dirty="0">
                <a:solidFill>
                  <a:schemeClr val="accent1"/>
                </a:solidFill>
              </a:rPr>
              <a:t>Prosodic grammar per metre</a:t>
            </a:r>
            <a:endParaRPr lang="en-US" sz="1400" dirty="0"/>
          </a:p>
        </p:txBody>
      </p:sp>
      <p:sp>
        <p:nvSpPr>
          <p:cNvPr id="10" name="Text 7"/>
          <p:cNvSpPr txBox="1"/>
          <p:nvPr/>
        </p:nvSpPr>
        <p:spPr>
          <a:xfrm>
            <a:off x="731520" y="2505456"/>
            <a:ext cx="4480560" cy="292608"/>
          </a:xfrm>
          <a:prstGeom prst="rect">
            <a:avLst/>
          </a:prstGeom>
          <a:noFill/>
          <a:ln/>
        </p:spPr>
        <p:txBody>
          <a:bodyPr wrap="square" lIns="0" tIns="0" rIns="0" bIns="0" rtlCol="0" anchor="t"/>
          <a:lstStyle/>
          <a:p>
            <a:pPr indent="0" marL="0">
              <a:buNone/>
            </a:pPr>
            <a:r>
              <a:rPr lang="en-US" sz="1200" dirty="0">
                <a:solidFill>
                  <a:schemeClr val="tx2"/>
                </a:solidFill>
              </a:rPr>
              <a:t>poem → lines → gaṇa classes → gaṇas → U / I</a:t>
            </a:r>
            <a:endParaRPr lang="en-US" sz="1200" dirty="0"/>
          </a:p>
        </p:txBody>
      </p:sp>
      <p:sp>
        <p:nvSpPr>
          <p:cNvPr id="11" name="Shape 8"/>
          <p:cNvSpPr/>
          <p:nvPr/>
        </p:nvSpPr>
        <p:spPr>
          <a:xfrm>
            <a:off x="2971800" y="2843784"/>
            <a:ext cx="0" cy="146304"/>
          </a:xfrm>
          <a:prstGeom prst="line">
            <a:avLst/>
          </a:prstGeom>
          <a:noFill/>
          <a:ln w="19050">
            <a:solidFill>
              <a:srgbClr val="8E8797"/>
            </a:solidFill>
            <a:prstDash val="solid"/>
            <a:tailEnd type="triangle"/>
          </a:ln>
        </p:spPr>
      </p:sp>
      <p:sp>
        <p:nvSpPr>
          <p:cNvPr id="12" name="Shape 9"/>
          <p:cNvSpPr/>
          <p:nvPr/>
        </p:nvSpPr>
        <p:spPr>
          <a:xfrm>
            <a:off x="548640" y="3008376"/>
            <a:ext cx="4846320" cy="658368"/>
          </a:xfrm>
          <a:prstGeom prst="roundRect">
            <a:avLst>
              <a:gd name="adj" fmla="val 11111"/>
            </a:avLst>
          </a:prstGeom>
          <a:solidFill>
            <a:schemeClr val="bg2"/>
          </a:solidFill>
          <a:ln w="12700">
            <a:solidFill>
              <a:schemeClr val="bg2"/>
            </a:solidFill>
            <a:prstDash val="solid"/>
          </a:ln>
        </p:spPr>
      </p:sp>
      <p:sp>
        <p:nvSpPr>
          <p:cNvPr id="13" name="Text 10"/>
          <p:cNvSpPr txBox="1"/>
          <p:nvPr/>
        </p:nvSpPr>
        <p:spPr>
          <a:xfrm>
            <a:off x="731520" y="3072384"/>
            <a:ext cx="4480560" cy="274320"/>
          </a:xfrm>
          <a:prstGeom prst="rect">
            <a:avLst/>
          </a:prstGeom>
          <a:noFill/>
          <a:ln/>
        </p:spPr>
        <p:txBody>
          <a:bodyPr wrap="square" lIns="0" tIns="0" rIns="0" bIns="0" rtlCol="0" anchor="t"/>
          <a:lstStyle/>
          <a:p>
            <a:pPr indent="0" marL="0">
              <a:buNone/>
            </a:pPr>
            <a:r>
              <a:rPr lang="en-US" sz="1400" b="1" dirty="0">
                <a:solidFill>
                  <a:schemeClr val="accent1"/>
                </a:solidFill>
              </a:rPr>
              <a:t>Right-linear grammar per line slot</a:t>
            </a:r>
            <a:endParaRPr lang="en-US" sz="1400" dirty="0"/>
          </a:p>
        </p:txBody>
      </p:sp>
      <p:sp>
        <p:nvSpPr>
          <p:cNvPr id="14" name="Text 11"/>
          <p:cNvSpPr txBox="1"/>
          <p:nvPr/>
        </p:nvSpPr>
        <p:spPr>
          <a:xfrm>
            <a:off x="731520" y="3346704"/>
            <a:ext cx="4480560" cy="292608"/>
          </a:xfrm>
          <a:prstGeom prst="rect">
            <a:avLst/>
          </a:prstGeom>
          <a:noFill/>
          <a:ln/>
        </p:spPr>
        <p:txBody>
          <a:bodyPr wrap="square" lIns="0" tIns="0" rIns="0" bIns="0" rtlCol="0" anchor="t"/>
          <a:lstStyle/>
          <a:p>
            <a:pPr indent="0" marL="0">
              <a:buNone/>
            </a:pPr>
            <a:r>
              <a:rPr lang="en-US" sz="1200" dirty="0">
                <a:solidFill>
                  <a:schemeClr val="tx2"/>
                </a:solidFill>
              </a:rPr>
              <a:t>a vṛtta has one slot; kandamu has two (odd, even)</a:t>
            </a:r>
            <a:endParaRPr lang="en-US" sz="1200" dirty="0"/>
          </a:p>
        </p:txBody>
      </p:sp>
      <p:sp>
        <p:nvSpPr>
          <p:cNvPr id="15" name="Shape 12"/>
          <p:cNvSpPr/>
          <p:nvPr/>
        </p:nvSpPr>
        <p:spPr>
          <a:xfrm>
            <a:off x="2971800" y="3685032"/>
            <a:ext cx="0" cy="146304"/>
          </a:xfrm>
          <a:prstGeom prst="line">
            <a:avLst/>
          </a:prstGeom>
          <a:noFill/>
          <a:ln w="19050">
            <a:solidFill>
              <a:srgbClr val="8E8797"/>
            </a:solidFill>
            <a:prstDash val="solid"/>
            <a:tailEnd type="triangle"/>
          </a:ln>
        </p:spPr>
      </p:sp>
      <p:sp>
        <p:nvSpPr>
          <p:cNvPr id="16" name="Shape 13"/>
          <p:cNvSpPr/>
          <p:nvPr/>
        </p:nvSpPr>
        <p:spPr>
          <a:xfrm>
            <a:off x="548640" y="3849624"/>
            <a:ext cx="4846320" cy="658368"/>
          </a:xfrm>
          <a:prstGeom prst="roundRect">
            <a:avLst>
              <a:gd name="adj" fmla="val 11111"/>
            </a:avLst>
          </a:prstGeom>
          <a:solidFill>
            <a:schemeClr val="bg2"/>
          </a:solidFill>
          <a:ln w="12700">
            <a:solidFill>
              <a:schemeClr val="bg2"/>
            </a:solidFill>
            <a:prstDash val="solid"/>
          </a:ln>
        </p:spPr>
      </p:sp>
      <p:sp>
        <p:nvSpPr>
          <p:cNvPr id="17" name="Text 14"/>
          <p:cNvSpPr txBox="1"/>
          <p:nvPr/>
        </p:nvSpPr>
        <p:spPr>
          <a:xfrm>
            <a:off x="731520" y="3913632"/>
            <a:ext cx="4480560" cy="274320"/>
          </a:xfrm>
          <a:prstGeom prst="rect">
            <a:avLst/>
          </a:prstGeom>
          <a:noFill/>
          <a:ln/>
        </p:spPr>
        <p:txBody>
          <a:bodyPr wrap="square" lIns="0" tIns="0" rIns="0" bIns="0" rtlCol="0" anchor="t"/>
          <a:lstStyle/>
          <a:p>
            <a:pPr indent="0" marL="0">
              <a:buNone/>
            </a:pPr>
            <a:r>
              <a:rPr lang="en-US" sz="1400" b="1" dirty="0">
                <a:solidFill>
                  <a:schemeClr val="accent1"/>
                </a:solidFill>
              </a:rPr>
              <a:t>Union + subset construction</a:t>
            </a:r>
            <a:endParaRPr lang="en-US" sz="1400" dirty="0"/>
          </a:p>
        </p:txBody>
      </p:sp>
      <p:sp>
        <p:nvSpPr>
          <p:cNvPr id="18" name="Text 15"/>
          <p:cNvSpPr txBox="1"/>
          <p:nvPr/>
        </p:nvSpPr>
        <p:spPr>
          <a:xfrm>
            <a:off x="731520" y="4187952"/>
            <a:ext cx="4480560" cy="292608"/>
          </a:xfrm>
          <a:prstGeom prst="rect">
            <a:avLst/>
          </a:prstGeom>
          <a:noFill/>
          <a:ln/>
        </p:spPr>
        <p:txBody>
          <a:bodyPr wrap="square" lIns="0" tIns="0" rIns="0" bIns="0" rtlCol="0" anchor="t"/>
          <a:lstStyle/>
          <a:p>
            <a:pPr indent="0" marL="0">
              <a:buNone/>
            </a:pPr>
            <a:r>
              <a:rPr lang="en-US" sz="1200" dirty="0">
                <a:solidFill>
                  <a:schemeClr val="tx2"/>
                </a:solidFill>
              </a:rPr>
              <a:t>a DFA of 1,573 states; accepting states carry (metre, slot) labels</a:t>
            </a:r>
            <a:endParaRPr lang="en-US" sz="1200" dirty="0"/>
          </a:p>
        </p:txBody>
      </p:sp>
      <p:sp>
        <p:nvSpPr>
          <p:cNvPr id="19" name="Shape 16"/>
          <p:cNvSpPr/>
          <p:nvPr/>
        </p:nvSpPr>
        <p:spPr>
          <a:xfrm>
            <a:off x="2971800" y="4526280"/>
            <a:ext cx="0" cy="146304"/>
          </a:xfrm>
          <a:prstGeom prst="line">
            <a:avLst/>
          </a:prstGeom>
          <a:noFill/>
          <a:ln w="19050">
            <a:solidFill>
              <a:srgbClr val="8E8797"/>
            </a:solidFill>
            <a:prstDash val="solid"/>
            <a:tailEnd type="triangle"/>
          </a:ln>
        </p:spPr>
      </p:sp>
      <p:sp>
        <p:nvSpPr>
          <p:cNvPr id="20" name="Shape 17"/>
          <p:cNvSpPr/>
          <p:nvPr/>
        </p:nvSpPr>
        <p:spPr>
          <a:xfrm>
            <a:off x="548640" y="4690872"/>
            <a:ext cx="4846320" cy="658368"/>
          </a:xfrm>
          <a:prstGeom prst="roundRect">
            <a:avLst>
              <a:gd name="adj" fmla="val 11111"/>
            </a:avLst>
          </a:prstGeom>
          <a:solidFill>
            <a:schemeClr val="accent1"/>
          </a:solidFill>
          <a:ln w="12700">
            <a:solidFill>
              <a:schemeClr val="accent1"/>
            </a:solidFill>
            <a:prstDash val="solid"/>
          </a:ln>
        </p:spPr>
      </p:sp>
      <p:sp>
        <p:nvSpPr>
          <p:cNvPr id="21" name="Text 18"/>
          <p:cNvSpPr txBox="1"/>
          <p:nvPr/>
        </p:nvSpPr>
        <p:spPr>
          <a:xfrm>
            <a:off x="731520" y="4754880"/>
            <a:ext cx="4480560" cy="274320"/>
          </a:xfrm>
          <a:prstGeom prst="rect">
            <a:avLst/>
          </a:prstGeom>
          <a:noFill/>
          <a:ln/>
        </p:spPr>
        <p:txBody>
          <a:bodyPr wrap="square" lIns="0" tIns="0" rIns="0" bIns="0" rtlCol="0" anchor="t"/>
          <a:lstStyle/>
          <a:p>
            <a:pPr indent="0" marL="0">
              <a:buNone/>
            </a:pPr>
            <a:r>
              <a:rPr lang="en-US" sz="1400" b="1" dirty="0">
                <a:solidFill>
                  <a:schemeClr val="bg1"/>
                </a:solidFill>
              </a:rPr>
              <a:t>Label-preserving minimisation</a:t>
            </a:r>
            <a:endParaRPr lang="en-US" sz="1400" dirty="0"/>
          </a:p>
        </p:txBody>
      </p:sp>
      <p:sp>
        <p:nvSpPr>
          <p:cNvPr id="22" name="Text 19"/>
          <p:cNvSpPr txBox="1"/>
          <p:nvPr/>
        </p:nvSpPr>
        <p:spPr>
          <a:xfrm>
            <a:off x="731520" y="5029200"/>
            <a:ext cx="4480560" cy="292608"/>
          </a:xfrm>
          <a:prstGeom prst="rect">
            <a:avLst/>
          </a:prstGeom>
          <a:noFill/>
          <a:ln/>
        </p:spPr>
        <p:txBody>
          <a:bodyPr wrap="square" lIns="0" tIns="0" rIns="0" bIns="0" rtlCol="0" anchor="t"/>
          <a:lstStyle/>
          <a:p>
            <a:pPr indent="0" marL="0">
              <a:buNone/>
            </a:pPr>
            <a:r>
              <a:rPr lang="en-US" sz="1200" dirty="0">
                <a:solidFill>
                  <a:schemeClr val="accent6"/>
                </a:solidFill>
              </a:rPr>
              <a:t>the DAWG: 1,431 states · 2,514 edges · 370,315 legal lines · &lt; 0.5 s</a:t>
            </a:r>
            <a:endParaRPr lang="en-US" sz="1200" dirty="0"/>
          </a:p>
        </p:txBody>
      </p:sp>
      <p:sp>
        <p:nvSpPr>
          <p:cNvPr id="23" name="Text 20"/>
          <p:cNvSpPr txBox="1"/>
          <p:nvPr/>
        </p:nvSpPr>
        <p:spPr>
          <a:xfrm>
            <a:off x="5760720" y="1325880"/>
            <a:ext cx="5882335" cy="320040"/>
          </a:xfrm>
          <a:prstGeom prst="rect">
            <a:avLst/>
          </a:prstGeom>
          <a:noFill/>
          <a:ln/>
        </p:spPr>
        <p:txBody>
          <a:bodyPr wrap="square" lIns="0" tIns="0" rIns="0" bIns="0" rtlCol="0" anchor="t"/>
          <a:lstStyle/>
          <a:p>
            <a:pPr indent="0" marL="0">
              <a:buNone/>
            </a:pPr>
            <a:r>
              <a:rPr lang="en-US" sz="1600" b="1" dirty="0">
                <a:solidFill>
                  <a:schemeClr val="accent3"/>
                </a:solidFill>
              </a:rPr>
              <a:t>Three queries for the decoder</a:t>
            </a:r>
            <a:endParaRPr lang="en-US" sz="1600" dirty="0"/>
          </a:p>
        </p:txBody>
      </p:sp>
      <p:sp>
        <p:nvSpPr>
          <p:cNvPr id="24" name="Text 21"/>
          <p:cNvSpPr txBox="1"/>
          <p:nvPr/>
        </p:nvSpPr>
        <p:spPr>
          <a:xfrm>
            <a:off x="5760720" y="1691640"/>
            <a:ext cx="5882335" cy="2011680"/>
          </a:xfrm>
          <a:prstGeom prst="rect">
            <a:avLst/>
          </a:prstGeom>
          <a:noFill/>
          <a:ln/>
        </p:spPr>
        <p:txBody>
          <a:bodyPr wrap="square" lIns="0" tIns="0" rIns="0" bIns="0" rtlCol="0" anchor="t"/>
          <a:lstStyle/>
          <a:p>
            <a:pPr marL="342900" indent="-342900">
              <a:spcAft>
                <a:spcPts val="500"/>
              </a:spcAft>
              <a:buSzPct val="100000"/>
              <a:buChar char="•"/>
            </a:pPr>
            <a:r>
              <a:rPr lang="en-US" sz="1350" b="1" dirty="0">
                <a:solidFill>
                  <a:schemeClr val="accent3"/>
                </a:solidFill>
              </a:rPr>
              <a:t>identify </a:t>
            </a:r>
            <a:r>
              <a:rPr lang="en-US" sz="1350" dirty="0">
                <a:solidFill>
                  <a:schemeClr val="tx1"/>
                </a:solidFill>
              </a:rPr>
              <a:t>walks a poem’s scansion lattice; returns every accepting metre and slot, and where each rejected metre became impossible</a:t>
            </a:r>
            <a:endParaRPr lang="en-US" sz="1350" dirty="0"/>
          </a:p>
          <a:p>
            <a:pPr marL="342900" indent="-342900">
              <a:spcAft>
                <a:spcPts val="500"/>
              </a:spcAft>
              <a:buSzPct val="100000"/>
              <a:buChar char="•"/>
            </a:pPr>
            <a:r>
              <a:rPr lang="en-US" sz="1350" b="1" dirty="0">
                <a:solidFill>
                  <a:schemeClr val="accent3"/>
                </a:solidFill>
              </a:rPr>
              <a:t>viable_prefix / next_symbols </a:t>
            </a:r>
            <a:r>
              <a:rPr lang="en-US" sz="1350" dirty="0">
                <a:solidFill>
                  <a:schemeClr val="tx1"/>
                </a:solidFill>
              </a:rPr>
              <a:t>the symbols that can still lead to a completed metre slot: the valid continuation set</a:t>
            </a:r>
            <a:endParaRPr lang="en-US" sz="1350" dirty="0"/>
          </a:p>
          <a:p>
            <a:pPr marL="342900" indent="-342900">
              <a:spcAft>
                <a:spcPts val="500"/>
              </a:spcAft>
              <a:buSzPct val="100000"/>
              <a:buChar char="•"/>
            </a:pPr>
            <a:r>
              <a:rPr lang="en-US" sz="1350" b="1" dirty="0">
                <a:solidFill>
                  <a:schemeClr val="accent3"/>
                </a:solidFill>
              </a:rPr>
              <a:t>segment </a:t>
            </a:r>
            <a:r>
              <a:rPr lang="en-US" sz="1350" dirty="0">
                <a:solidFill>
                  <a:schemeClr val="tx1"/>
                </a:solidFill>
              </a:rPr>
              <a:t>the gaṇa divisions and the yati positions</a:t>
            </a:r>
            <a:endParaRPr lang="en-US" sz="1350" dirty="0"/>
          </a:p>
        </p:txBody>
      </p:sp>
      <p:sp>
        <p:nvSpPr>
          <p:cNvPr id="25" name="Text 22"/>
          <p:cNvSpPr txBox="1"/>
          <p:nvPr/>
        </p:nvSpPr>
        <p:spPr>
          <a:xfrm>
            <a:off x="5760720" y="3749040"/>
            <a:ext cx="5882335" cy="320040"/>
          </a:xfrm>
          <a:prstGeom prst="rect">
            <a:avLst/>
          </a:prstGeom>
          <a:noFill/>
          <a:ln/>
        </p:spPr>
        <p:txBody>
          <a:bodyPr wrap="square" lIns="0" tIns="0" rIns="0" bIns="0" rtlCol="0" anchor="t"/>
          <a:lstStyle/>
          <a:p>
            <a:pPr indent="0" marL="0">
              <a:buNone/>
            </a:pPr>
            <a:r>
              <a:rPr lang="en-US" sz="1600" b="1" dirty="0">
                <a:solidFill>
                  <a:schemeClr val="accent3"/>
                </a:solidFill>
              </a:rPr>
              <a:t>Validated on the Bhāgavatamu, independently of generation</a:t>
            </a:r>
            <a:endParaRPr lang="en-US" sz="1600" dirty="0"/>
          </a:p>
        </p:txBody>
      </p:sp>
      <p:sp>
        <p:nvSpPr>
          <p:cNvPr id="26" name="Shape 23"/>
          <p:cNvSpPr/>
          <p:nvPr/>
        </p:nvSpPr>
        <p:spPr>
          <a:xfrm>
            <a:off x="5760720" y="4160520"/>
            <a:ext cx="1838858" cy="1371600"/>
          </a:xfrm>
          <a:prstGeom prst="roundRect">
            <a:avLst>
              <a:gd name="adj" fmla="val 6667"/>
            </a:avLst>
          </a:prstGeom>
          <a:solidFill>
            <a:schemeClr val="bg2"/>
          </a:solidFill>
          <a:ln w="12700">
            <a:solidFill>
              <a:schemeClr val="bg2"/>
            </a:solidFill>
            <a:prstDash val="solid"/>
          </a:ln>
        </p:spPr>
      </p:sp>
      <p:sp>
        <p:nvSpPr>
          <p:cNvPr id="27" name="Text 24"/>
          <p:cNvSpPr txBox="1"/>
          <p:nvPr/>
        </p:nvSpPr>
        <p:spPr>
          <a:xfrm>
            <a:off x="5897880" y="4270248"/>
            <a:ext cx="1564538" cy="75438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99.85%</a:t>
            </a:r>
            <a:endParaRPr lang="en-US" sz="3400" dirty="0"/>
          </a:p>
        </p:txBody>
      </p:sp>
      <p:sp>
        <p:nvSpPr>
          <p:cNvPr id="28" name="Text 25"/>
          <p:cNvSpPr txBox="1"/>
          <p:nvPr/>
        </p:nvSpPr>
        <p:spPr>
          <a:xfrm>
            <a:off x="5897880" y="4956048"/>
            <a:ext cx="1564538" cy="548640"/>
          </a:xfrm>
          <a:prstGeom prst="rect">
            <a:avLst/>
          </a:prstGeom>
          <a:noFill/>
          <a:ln/>
        </p:spPr>
        <p:txBody>
          <a:bodyPr wrap="square" lIns="0" tIns="0" rIns="0" bIns="0" rtlCol="0" anchor="t"/>
          <a:lstStyle/>
          <a:p>
            <a:pPr algn="ctr" indent="0" marL="0">
              <a:buNone/>
            </a:pPr>
            <a:r>
              <a:rPr lang="en-US" sz="1200" dirty="0">
                <a:solidFill>
                  <a:schemeClr val="tx2"/>
                </a:solidFill>
              </a:rPr>
              <a:t>7,355 of 7,366 poems identified with their labelled metre</a:t>
            </a:r>
            <a:endParaRPr lang="en-US" sz="1200" dirty="0"/>
          </a:p>
        </p:txBody>
      </p:sp>
      <p:sp>
        <p:nvSpPr>
          <p:cNvPr id="29" name="Shape 26"/>
          <p:cNvSpPr/>
          <p:nvPr/>
        </p:nvSpPr>
        <p:spPr>
          <a:xfrm>
            <a:off x="7782458" y="4160520"/>
            <a:ext cx="1838858" cy="1371600"/>
          </a:xfrm>
          <a:prstGeom prst="roundRect">
            <a:avLst>
              <a:gd name="adj" fmla="val 6667"/>
            </a:avLst>
          </a:prstGeom>
          <a:solidFill>
            <a:schemeClr val="bg2"/>
          </a:solidFill>
          <a:ln w="12700">
            <a:solidFill>
              <a:schemeClr val="bg2"/>
            </a:solidFill>
            <a:prstDash val="solid"/>
          </a:ln>
        </p:spPr>
      </p:sp>
      <p:sp>
        <p:nvSpPr>
          <p:cNvPr id="30" name="Text 27"/>
          <p:cNvSpPr txBox="1"/>
          <p:nvPr/>
        </p:nvSpPr>
        <p:spPr>
          <a:xfrm>
            <a:off x="7919618" y="4270248"/>
            <a:ext cx="1564538" cy="75438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0</a:t>
            </a:r>
            <a:endParaRPr lang="en-US" sz="3400" dirty="0"/>
          </a:p>
        </p:txBody>
      </p:sp>
      <p:sp>
        <p:nvSpPr>
          <p:cNvPr id="31" name="Text 28"/>
          <p:cNvSpPr txBox="1"/>
          <p:nvPr/>
        </p:nvSpPr>
        <p:spPr>
          <a:xfrm>
            <a:off x="7919618" y="4956048"/>
            <a:ext cx="1564538" cy="548640"/>
          </a:xfrm>
          <a:prstGeom prst="rect">
            <a:avLst/>
          </a:prstGeom>
          <a:noFill/>
          <a:ln/>
        </p:spPr>
        <p:txBody>
          <a:bodyPr wrap="square" lIns="0" tIns="0" rIns="0" bIns="0" rtlCol="0" anchor="t"/>
          <a:lstStyle/>
          <a:p>
            <a:pPr algn="ctr" indent="0" marL="0">
              <a:buNone/>
            </a:pPr>
            <a:r>
              <a:rPr lang="en-US" sz="1200" dirty="0">
                <a:solidFill>
                  <a:schemeClr val="tx2"/>
                </a:solidFill>
              </a:rPr>
              <a:t>identified as a wrong metre</a:t>
            </a:r>
            <a:endParaRPr lang="en-US" sz="1200" dirty="0"/>
          </a:p>
        </p:txBody>
      </p:sp>
      <p:sp>
        <p:nvSpPr>
          <p:cNvPr id="32" name="Shape 29"/>
          <p:cNvSpPr/>
          <p:nvPr/>
        </p:nvSpPr>
        <p:spPr>
          <a:xfrm>
            <a:off x="9804197" y="4160520"/>
            <a:ext cx="1838858" cy="1371600"/>
          </a:xfrm>
          <a:prstGeom prst="roundRect">
            <a:avLst>
              <a:gd name="adj" fmla="val 6667"/>
            </a:avLst>
          </a:prstGeom>
          <a:solidFill>
            <a:schemeClr val="bg2"/>
          </a:solidFill>
          <a:ln w="12700">
            <a:solidFill>
              <a:schemeClr val="bg2"/>
            </a:solidFill>
            <a:prstDash val="solid"/>
          </a:ln>
        </p:spPr>
      </p:sp>
      <p:sp>
        <p:nvSpPr>
          <p:cNvPr id="33" name="Text 30"/>
          <p:cNvSpPr txBox="1"/>
          <p:nvPr/>
        </p:nvSpPr>
        <p:spPr>
          <a:xfrm>
            <a:off x="9941357" y="4270248"/>
            <a:ext cx="1564538" cy="754380"/>
          </a:xfrm>
          <a:prstGeom prst="rect">
            <a:avLst/>
          </a:prstGeom>
          <a:noFill/>
          <a:ln/>
        </p:spPr>
        <p:txBody>
          <a:bodyPr wrap="square" lIns="0" tIns="0" rIns="0" bIns="0"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10</a:t>
            </a:r>
            <a:endParaRPr lang="en-US" sz="3400" dirty="0"/>
          </a:p>
        </p:txBody>
      </p:sp>
      <p:sp>
        <p:nvSpPr>
          <p:cNvPr id="34" name="Text 31"/>
          <p:cNvSpPr txBox="1"/>
          <p:nvPr/>
        </p:nvSpPr>
        <p:spPr>
          <a:xfrm>
            <a:off x="9941357" y="4956048"/>
            <a:ext cx="1564538" cy="548640"/>
          </a:xfrm>
          <a:prstGeom prst="rect">
            <a:avLst/>
          </a:prstGeom>
          <a:noFill/>
          <a:ln/>
        </p:spPr>
        <p:txBody>
          <a:bodyPr wrap="square" lIns="0" tIns="0" rIns="0" bIns="0" rtlCol="0" anchor="t"/>
          <a:lstStyle/>
          <a:p>
            <a:pPr algn="ctr" indent="0" marL="0">
              <a:buNone/>
            </a:pPr>
            <a:r>
              <a:rPr lang="en-US" sz="1200" dirty="0">
                <a:solidFill>
                  <a:schemeClr val="tx2"/>
                </a:solidFill>
              </a:rPr>
              <a:t>rejected as unclassified</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Inside the decoding loop: the enforcer</a:t>
            </a:r>
            <a:endParaRPr lang="en-US" sz="3200" dirty="0"/>
          </a:p>
        </p:txBody>
      </p:sp>
      <p:sp>
        <p:nvSpPr>
          <p:cNvPr id="4" name="card Enforcer state σ, four parts"/>
          <p:cNvSpPr/>
          <p:nvPr/>
        </p:nvSpPr>
        <p:spPr>
          <a:xfrm>
            <a:off x="548640" y="1325880"/>
            <a:ext cx="4023360" cy="4937760"/>
          </a:xfrm>
          <a:prstGeom prst="roundRect">
            <a:avLst>
              <a:gd name="adj" fmla="val 2273"/>
            </a:avLst>
          </a:prstGeom>
          <a:solidFill>
            <a:schemeClr val="bg2"/>
          </a:solidFill>
          <a:ln w="12700">
            <a:solidFill>
              <a:schemeClr val="bg2"/>
            </a:solidFill>
            <a:prstDash val="solid"/>
          </a:ln>
        </p:spPr>
      </p:sp>
      <p:sp>
        <p:nvSpPr>
          <p:cNvPr id="5" name="Text 2"/>
          <p:cNvSpPr txBox="1"/>
          <p:nvPr/>
        </p:nvSpPr>
        <p:spPr>
          <a:xfrm>
            <a:off x="749808" y="1490472"/>
            <a:ext cx="3639312" cy="384048"/>
          </a:xfrm>
          <a:prstGeom prst="rect">
            <a:avLst/>
          </a:prstGeom>
          <a:noFill/>
          <a:ln/>
        </p:spPr>
        <p:txBody>
          <a:bodyPr wrap="square" lIns="0" tIns="0" rIns="0" bIns="0" rtlCol="0" anchor="t"/>
          <a:lstStyle/>
          <a:p>
            <a:pPr indent="0" marL="0">
              <a:buNone/>
            </a:pPr>
            <a:r>
              <a:rPr lang="en-US" sz="1600" b="1" dirty="0">
                <a:solidFill>
                  <a:schemeClr val="accent1"/>
                </a:solidFill>
              </a:rPr>
              <a:t>Enforcer state σ, four parts</a:t>
            </a:r>
            <a:endParaRPr lang="en-US" sz="1600" dirty="0"/>
          </a:p>
        </p:txBody>
      </p:sp>
      <p:sp>
        <p:nvSpPr>
          <p:cNvPr id="6" name="Text 3"/>
          <p:cNvSpPr txBox="1"/>
          <p:nvPr/>
        </p:nvSpPr>
        <p:spPr>
          <a:xfrm>
            <a:off x="749808" y="1911096"/>
            <a:ext cx="3639312" cy="4242816"/>
          </a:xfrm>
          <a:prstGeom prst="rect">
            <a:avLst/>
          </a:prstGeom>
          <a:noFill/>
          <a:ln/>
        </p:spPr>
        <p:txBody>
          <a:bodyPr wrap="square" lIns="0" tIns="0" rIns="0" bIns="0" rtlCol="0" anchor="t"/>
          <a:lstStyle/>
          <a:p>
            <a:pPr marL="342900" indent="-342900">
              <a:spcAft>
                <a:spcPts val="700"/>
              </a:spcAft>
              <a:buSzPct val="100000"/>
              <a:buChar char="•"/>
            </a:pPr>
            <a:r>
              <a:rPr lang="en-US" sz="1350" b="1" dirty="0">
                <a:solidFill>
                  <a:schemeClr val="accent1"/>
                </a:solidFill>
              </a:rPr>
              <a:t>Q </a:t>
            </a:r>
            <a:r>
              <a:rPr lang="en-US" sz="1350" dirty="0">
                <a:solidFill>
                  <a:schemeClr val="tx1"/>
                </a:solidFill>
              </a:rPr>
              <a:t>the live states of the metre’s automaton the text may be in</a:t>
            </a:r>
            <a:endParaRPr lang="en-US" sz="1350" dirty="0"/>
          </a:p>
          <a:p>
            <a:pPr marL="342900" indent="-342900">
              <a:spcAft>
                <a:spcPts val="700"/>
              </a:spcAft>
              <a:buSzPct val="100000"/>
              <a:buChar char="•"/>
            </a:pPr>
            <a:r>
              <a:rPr lang="en-US" sz="1350" b="1" dirty="0">
                <a:solidFill>
                  <a:schemeClr val="accent1"/>
                </a:solidFill>
              </a:rPr>
              <a:t>w </a:t>
            </a:r>
            <a:r>
              <a:rPr lang="en-US" sz="1350" dirty="0">
                <a:solidFill>
                  <a:schemeClr val="tx1"/>
                </a:solidFill>
              </a:rPr>
              <a:t>the last akṣaras whose weight is still open (a light akṣara before a conjunct is heavy)</a:t>
            </a:r>
            <a:endParaRPr lang="en-US" sz="1350" dirty="0"/>
          </a:p>
          <a:p>
            <a:pPr marL="342900" indent="-342900">
              <a:spcAft>
                <a:spcPts val="700"/>
              </a:spcAft>
              <a:buSzPct val="100000"/>
              <a:buChar char="•"/>
            </a:pPr>
            <a:r>
              <a:rPr lang="en-US" sz="1350" b="1" dirty="0">
                <a:solidFill>
                  <a:schemeClr val="accent1"/>
                </a:solidFill>
              </a:rPr>
              <a:t>prāsa register </a:t>
            </a:r>
            <a:r>
              <a:rPr lang="en-US" sz="1350" dirty="0">
                <a:solidFill>
                  <a:schemeClr val="tx1"/>
                </a:solidFill>
              </a:rPr>
              <a:t>the consonant of line 1’s second akṣara, which every line’s second akṣara must repeat</a:t>
            </a:r>
            <a:endParaRPr lang="en-US" sz="1350" dirty="0"/>
          </a:p>
          <a:p>
            <a:pPr marL="342900" indent="-342900">
              <a:spcAft>
                <a:spcPts val="700"/>
              </a:spcAft>
              <a:buSzPct val="100000"/>
              <a:buChar char="•"/>
            </a:pPr>
            <a:r>
              <a:rPr lang="en-US" sz="1350" b="1" dirty="0">
                <a:solidFill>
                  <a:schemeClr val="accent1"/>
                </a:solidFill>
              </a:rPr>
              <a:t>yati register </a:t>
            </a:r>
            <a:r>
              <a:rPr lang="en-US" sz="1350" dirty="0">
                <a:solidFill>
                  <a:schemeClr val="tx1"/>
                </a:solidFill>
              </a:rPr>
              <a:t>the line’s first akṣara (the vaḷi), with which the akṣara at a yati seat must agree in sound</a:t>
            </a:r>
            <a:endParaRPr lang="en-US" sz="1350" dirty="0"/>
          </a:p>
        </p:txBody>
      </p:sp>
      <p:sp>
        <p:nvSpPr>
          <p:cNvPr id="7" name="Text 4"/>
          <p:cNvSpPr txBox="1"/>
          <p:nvPr/>
        </p:nvSpPr>
        <p:spPr>
          <a:xfrm>
            <a:off x="4892040" y="1325880"/>
            <a:ext cx="6751015" cy="320040"/>
          </a:xfrm>
          <a:prstGeom prst="rect">
            <a:avLst/>
          </a:prstGeom>
          <a:noFill/>
          <a:ln/>
        </p:spPr>
        <p:txBody>
          <a:bodyPr wrap="square" lIns="0" tIns="0" rIns="0" bIns="0" rtlCol="0" anchor="t"/>
          <a:lstStyle/>
          <a:p>
            <a:pPr indent="0" marL="0">
              <a:buNone/>
            </a:pPr>
            <a:r>
              <a:rPr lang="en-US" sz="1500" b="1" dirty="0">
                <a:solidFill>
                  <a:schemeClr val="accent3"/>
                </a:solidFill>
              </a:rPr>
              <a:t>For each next akṣara a (or a space or a line break)</a:t>
            </a:r>
            <a:endParaRPr lang="en-US" sz="1500" dirty="0"/>
          </a:p>
        </p:txBody>
      </p:sp>
      <p:sp>
        <p:nvSpPr>
          <p:cNvPr id="8" name="Shape 5"/>
          <p:cNvSpPr/>
          <p:nvPr/>
        </p:nvSpPr>
        <p:spPr>
          <a:xfrm>
            <a:off x="4892040" y="1828800"/>
            <a:ext cx="420624" cy="420624"/>
          </a:xfrm>
          <a:prstGeom prst="ellipse">
            <a:avLst/>
          </a:prstGeom>
          <a:solidFill>
            <a:schemeClr val="accent3"/>
          </a:solidFill>
          <a:ln w="12700">
            <a:solidFill>
              <a:schemeClr val="accent3"/>
            </a:solidFill>
            <a:prstDash val="solid"/>
          </a:ln>
        </p:spPr>
      </p:sp>
      <p:sp>
        <p:nvSpPr>
          <p:cNvPr id="9" name="Text 6"/>
          <p:cNvSpPr txBox="1"/>
          <p:nvPr/>
        </p:nvSpPr>
        <p:spPr>
          <a:xfrm>
            <a:off x="4892040" y="18288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7"/>
          <p:cNvSpPr txBox="1"/>
          <p:nvPr/>
        </p:nvSpPr>
        <p:spPr>
          <a:xfrm>
            <a:off x="5486400" y="1783080"/>
            <a:ext cx="6156655" cy="548640"/>
          </a:xfrm>
          <a:prstGeom prst="rect">
            <a:avLst/>
          </a:prstGeom>
          <a:noFill/>
          <a:ln/>
        </p:spPr>
        <p:txBody>
          <a:bodyPr wrap="square" lIns="0" tIns="0" rIns="0" bIns="0" rtlCol="0" anchor="ctr"/>
          <a:lstStyle/>
          <a:p>
            <a:pPr indent="0" marL="0">
              <a:buNone/>
            </a:pPr>
            <a:r>
              <a:rPr lang="en-US" sz="1350" dirty="0">
                <a:solidFill>
                  <a:schemeClr val="tx1"/>
                </a:solidFill>
              </a:rPr>
              <a:t>Settle the open weights in w by the first consonant of a.</a:t>
            </a:r>
            <a:endParaRPr lang="en-US" sz="1350" dirty="0"/>
          </a:p>
        </p:txBody>
      </p:sp>
      <p:sp>
        <p:nvSpPr>
          <p:cNvPr id="11" name="Shape 8"/>
          <p:cNvSpPr/>
          <p:nvPr/>
        </p:nvSpPr>
        <p:spPr>
          <a:xfrm>
            <a:off x="4892040" y="2432304"/>
            <a:ext cx="420624" cy="420624"/>
          </a:xfrm>
          <a:prstGeom prst="ellipse">
            <a:avLst/>
          </a:prstGeom>
          <a:solidFill>
            <a:schemeClr val="accent3"/>
          </a:solidFill>
          <a:ln w="12700">
            <a:solidFill>
              <a:schemeClr val="accent3"/>
            </a:solidFill>
            <a:prstDash val="solid"/>
          </a:ln>
        </p:spPr>
      </p:sp>
      <p:sp>
        <p:nvSpPr>
          <p:cNvPr id="12" name="Text 9"/>
          <p:cNvSpPr txBox="1"/>
          <p:nvPr/>
        </p:nvSpPr>
        <p:spPr>
          <a:xfrm>
            <a:off x="4892040" y="243230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486400" y="2386584"/>
            <a:ext cx="6156655" cy="548640"/>
          </a:xfrm>
          <a:prstGeom prst="rect">
            <a:avLst/>
          </a:prstGeom>
          <a:noFill/>
          <a:ln/>
        </p:spPr>
        <p:txBody>
          <a:bodyPr wrap="square" lIns="0" tIns="0" rIns="0" bIns="0" rtlCol="0" anchor="ctr"/>
          <a:lstStyle/>
          <a:p>
            <a:pPr indent="0" marL="0">
              <a:buNone/>
            </a:pPr>
            <a:r>
              <a:rPr lang="en-US" sz="1350" dirty="0">
                <a:solidFill>
                  <a:schemeClr val="tx1"/>
                </a:solidFill>
              </a:rPr>
              <a:t>Move each state in Q along the settled weights; drop those with no move.</a:t>
            </a:r>
            <a:endParaRPr lang="en-US" sz="1350" dirty="0"/>
          </a:p>
        </p:txBody>
      </p:sp>
      <p:sp>
        <p:nvSpPr>
          <p:cNvPr id="14" name="Shape 11"/>
          <p:cNvSpPr/>
          <p:nvPr/>
        </p:nvSpPr>
        <p:spPr>
          <a:xfrm>
            <a:off x="4892040" y="3035808"/>
            <a:ext cx="420624" cy="420624"/>
          </a:xfrm>
          <a:prstGeom prst="ellipse">
            <a:avLst/>
          </a:prstGeom>
          <a:solidFill>
            <a:schemeClr val="accent3"/>
          </a:solidFill>
          <a:ln w="12700">
            <a:solidFill>
              <a:schemeClr val="accent3"/>
            </a:solidFill>
            <a:prstDash val="solid"/>
          </a:ln>
        </p:spPr>
      </p:sp>
      <p:sp>
        <p:nvSpPr>
          <p:cNvPr id="15" name="Text 12"/>
          <p:cNvSpPr txBox="1"/>
          <p:nvPr/>
        </p:nvSpPr>
        <p:spPr>
          <a:xfrm>
            <a:off x="4892040" y="30358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5486400" y="2990088"/>
            <a:ext cx="6156655" cy="548640"/>
          </a:xfrm>
          <a:prstGeom prst="rect">
            <a:avLst/>
          </a:prstGeom>
          <a:noFill/>
          <a:ln/>
        </p:spPr>
        <p:txBody>
          <a:bodyPr wrap="square" lIns="0" tIns="0" rIns="0" bIns="0" rtlCol="0" anchor="ctr"/>
          <a:lstStyle/>
          <a:p>
            <a:pPr indent="0" marL="0">
              <a:buNone/>
            </a:pPr>
            <a:r>
              <a:rPr lang="en-US" sz="1350" dirty="0">
                <a:solidFill>
                  <a:schemeClr val="tx1"/>
                </a:solidFill>
              </a:rPr>
              <a:t>If a is the second akṣara of a line and breaks the prāsa: DEAD.</a:t>
            </a:r>
            <a:endParaRPr lang="en-US" sz="1350" dirty="0"/>
          </a:p>
        </p:txBody>
      </p:sp>
      <p:sp>
        <p:nvSpPr>
          <p:cNvPr id="17" name="Shape 14"/>
          <p:cNvSpPr/>
          <p:nvPr/>
        </p:nvSpPr>
        <p:spPr>
          <a:xfrm>
            <a:off x="4892040" y="3639312"/>
            <a:ext cx="420624" cy="420624"/>
          </a:xfrm>
          <a:prstGeom prst="ellipse">
            <a:avLst/>
          </a:prstGeom>
          <a:solidFill>
            <a:schemeClr val="accent3"/>
          </a:solidFill>
          <a:ln w="12700">
            <a:solidFill>
              <a:schemeClr val="accent3"/>
            </a:solidFill>
            <a:prstDash val="solid"/>
          </a:ln>
        </p:spPr>
      </p:sp>
      <p:sp>
        <p:nvSpPr>
          <p:cNvPr id="18" name="Text 15"/>
          <p:cNvSpPr txBox="1"/>
          <p:nvPr/>
        </p:nvSpPr>
        <p:spPr>
          <a:xfrm>
            <a:off x="4892040" y="36393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5486400" y="3593592"/>
            <a:ext cx="6156655" cy="548640"/>
          </a:xfrm>
          <a:prstGeom prst="rect">
            <a:avLst/>
          </a:prstGeom>
          <a:noFill/>
          <a:ln/>
        </p:spPr>
        <p:txBody>
          <a:bodyPr wrap="square" lIns="0" tIns="0" rIns="0" bIns="0" rtlCol="0" anchor="ctr"/>
          <a:lstStyle/>
          <a:p>
            <a:pPr indent="0" marL="0">
              <a:buNone/>
            </a:pPr>
            <a:r>
              <a:rPr lang="en-US" sz="1350" dirty="0">
                <a:solidFill>
                  <a:schemeClr val="tx1"/>
                </a:solidFill>
              </a:rPr>
              <a:t>Drop the states whose gaṇa division puts a on a yati seat where a is not in maitri with the vaḷi.</a:t>
            </a:r>
            <a:endParaRPr lang="en-US" sz="1350" dirty="0"/>
          </a:p>
        </p:txBody>
      </p:sp>
      <p:sp>
        <p:nvSpPr>
          <p:cNvPr id="20" name="Shape 17"/>
          <p:cNvSpPr/>
          <p:nvPr/>
        </p:nvSpPr>
        <p:spPr>
          <a:xfrm>
            <a:off x="4892040" y="4242816"/>
            <a:ext cx="420624" cy="420624"/>
          </a:xfrm>
          <a:prstGeom prst="ellipse">
            <a:avLst/>
          </a:prstGeom>
          <a:solidFill>
            <a:schemeClr val="accent3"/>
          </a:solidFill>
          <a:ln w="12700">
            <a:solidFill>
              <a:schemeClr val="accent3"/>
            </a:solidFill>
            <a:prstDash val="solid"/>
          </a:ln>
        </p:spPr>
      </p:sp>
      <p:sp>
        <p:nvSpPr>
          <p:cNvPr id="21" name="Text 18"/>
          <p:cNvSpPr txBox="1"/>
          <p:nvPr/>
        </p:nvSpPr>
        <p:spPr>
          <a:xfrm>
            <a:off x="4892040" y="424281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19"/>
          <p:cNvSpPr txBox="1"/>
          <p:nvPr/>
        </p:nvSpPr>
        <p:spPr>
          <a:xfrm>
            <a:off x="5486400" y="4197096"/>
            <a:ext cx="6156655" cy="548640"/>
          </a:xfrm>
          <a:prstGeom prst="rect">
            <a:avLst/>
          </a:prstGeom>
          <a:noFill/>
          <a:ln/>
        </p:spPr>
        <p:txBody>
          <a:bodyPr wrap="square" lIns="0" tIns="0" rIns="0" bIns="0" rtlCol="0" anchor="ctr"/>
          <a:lstStyle/>
          <a:p>
            <a:pPr indent="0" marL="0">
              <a:buNone/>
            </a:pPr>
            <a:r>
              <a:rPr lang="en-US" sz="1350" dirty="0">
                <a:solidFill>
                  <a:schemeClr val="tx1"/>
                </a:solidFill>
              </a:rPr>
              <a:t>If no state in Q can still reach the end of the poem: DEAD; otherwise return the updated σ.</a:t>
            </a:r>
            <a:endParaRPr lang="en-US" sz="1350" dirty="0"/>
          </a:p>
        </p:txBody>
      </p:sp>
      <p:sp>
        <p:nvSpPr>
          <p:cNvPr id="23" name="Shape 20"/>
          <p:cNvSpPr/>
          <p:nvPr/>
        </p:nvSpPr>
        <p:spPr>
          <a:xfrm>
            <a:off x="4892040" y="4937760"/>
            <a:ext cx="6751015" cy="1325880"/>
          </a:xfrm>
          <a:prstGeom prst="roundRect">
            <a:avLst>
              <a:gd name="adj" fmla="val 6897"/>
            </a:avLst>
          </a:prstGeom>
          <a:solidFill>
            <a:schemeClr val="accent1"/>
          </a:solidFill>
          <a:ln w="12700">
            <a:solidFill>
              <a:schemeClr val="accent1"/>
            </a:solidFill>
            <a:prstDash val="solid"/>
          </a:ln>
        </p:spPr>
      </p:sp>
      <p:sp>
        <p:nvSpPr>
          <p:cNvPr id="24" name="Text 21"/>
          <p:cNvSpPr txBox="1"/>
          <p:nvPr/>
        </p:nvSpPr>
        <p:spPr>
          <a:xfrm>
            <a:off x="5120640" y="5029200"/>
            <a:ext cx="6293815" cy="1143000"/>
          </a:xfrm>
          <a:prstGeom prst="rect">
            <a:avLst/>
          </a:prstGeom>
          <a:noFill/>
          <a:ln/>
        </p:spPr>
        <p:txBody>
          <a:bodyPr wrap="square" lIns="0" tIns="0" rIns="0" bIns="0" rtlCol="0" anchor="ctr"/>
          <a:lstStyle/>
          <a:p>
            <a:pPr indent="0" marL="0">
              <a:buNone/>
            </a:pPr>
            <a:r>
              <a:rPr lang="en-US" sz="1350" b="1" dirty="0">
                <a:solidFill>
                  <a:schemeClr val="bg1"/>
                </a:solidFill>
              </a:rPr>
              <a:t>A token is allowed when σ stays alive after all of its akṣaras (cached per state).</a:t>
            </a:r>
            <a:endParaRPr lang="en-US" sz="1350" dirty="0"/>
          </a:p>
          <a:p>
            <a:pPr indent="0" marL="0">
              <a:buNone/>
            </a:pPr>
            <a:r>
              <a:rPr lang="en-US" sz="1350" dirty="0">
                <a:solidFill>
                  <a:schemeClr val="bg1"/>
                </a:solidFill>
              </a:rPr>
              <a:t>Liveness is exact: decoding never reaches a dead end, and every finished poem is valid for the metre, its prāsa and its yati.</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same controller on autoregressive and diffusion models</a:t>
            </a:r>
            <a:endParaRPr lang="en-US" sz="3200" dirty="0"/>
          </a:p>
        </p:txBody>
      </p:sp>
      <p:sp>
        <p:nvSpPr>
          <p:cNvPr id="4" name="card Autoregressive"/>
          <p:cNvSpPr/>
          <p:nvPr/>
        </p:nvSpPr>
        <p:spPr>
          <a:xfrm>
            <a:off x="548640" y="1325880"/>
            <a:ext cx="3515258" cy="2743200"/>
          </a:xfrm>
          <a:prstGeom prst="roundRect">
            <a:avLst>
              <a:gd name="adj" fmla="val 3333"/>
            </a:avLst>
          </a:prstGeom>
          <a:solidFill>
            <a:schemeClr val="bg2"/>
          </a:solidFill>
          <a:ln w="12700">
            <a:solidFill>
              <a:schemeClr val="bg2"/>
            </a:solidFill>
            <a:prstDash val="solid"/>
          </a:ln>
        </p:spPr>
      </p:sp>
      <p:sp>
        <p:nvSpPr>
          <p:cNvPr id="5" name="Text 2"/>
          <p:cNvSpPr txBox="1"/>
          <p:nvPr/>
        </p:nvSpPr>
        <p:spPr>
          <a:xfrm>
            <a:off x="749808" y="1490472"/>
            <a:ext cx="3131210" cy="384048"/>
          </a:xfrm>
          <a:prstGeom prst="rect">
            <a:avLst/>
          </a:prstGeom>
          <a:noFill/>
          <a:ln/>
        </p:spPr>
        <p:txBody>
          <a:bodyPr wrap="square" lIns="0" tIns="0" rIns="0" bIns="0" rtlCol="0" anchor="t"/>
          <a:lstStyle/>
          <a:p>
            <a:pPr indent="0" marL="0">
              <a:buNone/>
            </a:pPr>
            <a:r>
              <a:rPr lang="en-US" sz="1600" b="1" dirty="0">
                <a:solidFill>
                  <a:schemeClr val="accent1"/>
                </a:solidFill>
              </a:rPr>
              <a:t>Autoregressive</a:t>
            </a:r>
            <a:endParaRPr lang="en-US" sz="1600" dirty="0"/>
          </a:p>
        </p:txBody>
      </p:sp>
      <p:sp>
        <p:nvSpPr>
          <p:cNvPr id="6" name="Text 3"/>
          <p:cNvSpPr txBox="1"/>
          <p:nvPr/>
        </p:nvSpPr>
        <p:spPr>
          <a:xfrm>
            <a:off x="749808" y="1911096"/>
            <a:ext cx="3131210" cy="2048256"/>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accent1"/>
                </a:solidFill>
              </a:rPr>
              <a:t>gemma-4-E4B-it, gemma-4-26B-A4B-it</a:t>
            </a:r>
            <a:endParaRPr lang="en-US" sz="1300" dirty="0"/>
          </a:p>
          <a:p>
            <a:pPr marL="342900" indent="-342900">
              <a:spcAft>
                <a:spcPts val="500"/>
              </a:spcAft>
              <a:buSzPct val="100000"/>
              <a:buChar char="•"/>
            </a:pPr>
            <a:r>
              <a:rPr lang="en-US" sz="1300" dirty="0">
                <a:solidFill>
                  <a:schemeClr val="tx1"/>
                </a:solidFill>
              </a:rPr>
              <a:t>the DAWG masks the next-token distribution directly</a:t>
            </a:r>
            <a:endParaRPr lang="en-US" sz="1300" dirty="0"/>
          </a:p>
          <a:p>
            <a:pPr marL="342900" indent="-342900">
              <a:spcAft>
                <a:spcPts val="500"/>
              </a:spcAft>
              <a:buSzPct val="100000"/>
              <a:buChar char="•"/>
            </a:pPr>
            <a:r>
              <a:rPr lang="en-US" sz="1300" dirty="0">
                <a:solidFill>
                  <a:schemeClr val="tx1"/>
                </a:solidFill>
              </a:rPr>
              <a:t>initial temperature 0.7</a:t>
            </a:r>
            <a:endParaRPr lang="en-US" sz="1300" dirty="0"/>
          </a:p>
          <a:p>
            <a:pPr marL="342900" indent="-342900">
              <a:spcAft>
                <a:spcPts val="500"/>
              </a:spcAft>
              <a:buSzPct val="100000"/>
              <a:buChar char="•"/>
            </a:pPr>
            <a:r>
              <a:rPr lang="en-US" sz="1300" dirty="0">
                <a:solidFill>
                  <a:schemeClr val="tx1"/>
                </a:solidFill>
              </a:rPr>
              <a:t>subword tokens: one token may hold several akṣaras, or part of one</a:t>
            </a:r>
            <a:endParaRPr lang="en-US" sz="1300" dirty="0"/>
          </a:p>
        </p:txBody>
      </p:sp>
      <p:sp>
        <p:nvSpPr>
          <p:cNvPr id="7" name="card Block diffusion"/>
          <p:cNvSpPr/>
          <p:nvPr/>
        </p:nvSpPr>
        <p:spPr>
          <a:xfrm>
            <a:off x="4338218" y="1325880"/>
            <a:ext cx="3515258" cy="2743200"/>
          </a:xfrm>
          <a:prstGeom prst="roundRect">
            <a:avLst>
              <a:gd name="adj" fmla="val 3333"/>
            </a:avLst>
          </a:prstGeom>
          <a:solidFill>
            <a:schemeClr val="bg2"/>
          </a:solidFill>
          <a:ln w="12700">
            <a:solidFill>
              <a:schemeClr val="bg2"/>
            </a:solidFill>
            <a:prstDash val="solid"/>
          </a:ln>
        </p:spPr>
      </p:sp>
      <p:sp>
        <p:nvSpPr>
          <p:cNvPr id="8" name="Text 5"/>
          <p:cNvSpPr txBox="1"/>
          <p:nvPr/>
        </p:nvSpPr>
        <p:spPr>
          <a:xfrm>
            <a:off x="4539386" y="1490472"/>
            <a:ext cx="3131210" cy="384048"/>
          </a:xfrm>
          <a:prstGeom prst="rect">
            <a:avLst/>
          </a:prstGeom>
          <a:noFill/>
          <a:ln/>
        </p:spPr>
        <p:txBody>
          <a:bodyPr wrap="square" lIns="0" tIns="0" rIns="0" bIns="0" rtlCol="0" anchor="t"/>
          <a:lstStyle/>
          <a:p>
            <a:pPr indent="0" marL="0">
              <a:buNone/>
            </a:pPr>
            <a:r>
              <a:rPr lang="en-US" sz="1600" b="1" dirty="0">
                <a:solidFill>
                  <a:schemeClr val="accent1"/>
                </a:solidFill>
              </a:rPr>
              <a:t>Block diffusion</a:t>
            </a:r>
            <a:endParaRPr lang="en-US" sz="1600" dirty="0"/>
          </a:p>
        </p:txBody>
      </p:sp>
      <p:sp>
        <p:nvSpPr>
          <p:cNvPr id="9" name="Text 6"/>
          <p:cNvSpPr txBox="1"/>
          <p:nvPr/>
        </p:nvSpPr>
        <p:spPr>
          <a:xfrm>
            <a:off x="4539386" y="1911096"/>
            <a:ext cx="3131210" cy="2048256"/>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accent1"/>
                </a:solidFill>
              </a:rPr>
              <a:t>diffusiongemma-26B-A4B-it-NVFP4</a:t>
            </a:r>
            <a:endParaRPr lang="en-US" sz="1300" dirty="0"/>
          </a:p>
          <a:p>
            <a:pPr marL="342900" indent="-342900">
              <a:spcAft>
                <a:spcPts val="500"/>
              </a:spcAft>
              <a:buSzPct val="100000"/>
              <a:buChar char="•"/>
            </a:pPr>
            <a:r>
              <a:rPr lang="en-US" sz="1300" dirty="0">
                <a:solidFill>
                  <a:schemeClr val="tx1"/>
                </a:solidFill>
              </a:rPr>
              <a:t>proposals committed left to right while allowed and confident</a:t>
            </a:r>
            <a:endParaRPr lang="en-US" sz="1300" dirty="0"/>
          </a:p>
          <a:p>
            <a:pPr marL="342900" indent="-342900">
              <a:spcAft>
                <a:spcPts val="500"/>
              </a:spcAft>
              <a:buSzPct val="100000"/>
              <a:buChar char="•"/>
            </a:pPr>
            <a:r>
              <a:rPr lang="en-US" sz="1300" dirty="0">
                <a:solidFill>
                  <a:schemeClr val="tx1"/>
                </a:solidFill>
              </a:rPr>
              <a:t>otherwise decode the first open position</a:t>
            </a:r>
            <a:endParaRPr lang="en-US" sz="1300" dirty="0"/>
          </a:p>
          <a:p>
            <a:pPr marL="342900" indent="-342900">
              <a:spcAft>
                <a:spcPts val="500"/>
              </a:spcAft>
              <a:buSzPct val="100000"/>
              <a:buChar char="•"/>
            </a:pPr>
            <a:r>
              <a:rPr lang="en-US" sz="1300" dirty="0">
                <a:solidFill>
                  <a:schemeClr val="tx1"/>
                </a:solidFill>
              </a:rPr>
              <a:t>a backtrack returns committed positions to noise</a:t>
            </a:r>
            <a:endParaRPr lang="en-US" sz="1300" dirty="0"/>
          </a:p>
        </p:txBody>
      </p:sp>
      <p:sp>
        <p:nvSpPr>
          <p:cNvPr id="10" name="card Masked diffusion (ours)"/>
          <p:cNvSpPr/>
          <p:nvPr/>
        </p:nvSpPr>
        <p:spPr>
          <a:xfrm>
            <a:off x="8127797" y="1325880"/>
            <a:ext cx="3515258" cy="2743200"/>
          </a:xfrm>
          <a:prstGeom prst="roundRect">
            <a:avLst>
              <a:gd name="adj" fmla="val 3333"/>
            </a:avLst>
          </a:prstGeom>
          <a:solidFill>
            <a:schemeClr val="bg2"/>
          </a:solidFill>
          <a:ln w="12700">
            <a:solidFill>
              <a:schemeClr val="bg2"/>
            </a:solidFill>
            <a:prstDash val="solid"/>
          </a:ln>
        </p:spPr>
      </p:sp>
      <p:sp>
        <p:nvSpPr>
          <p:cNvPr id="11" name="Text 8"/>
          <p:cNvSpPr txBox="1"/>
          <p:nvPr/>
        </p:nvSpPr>
        <p:spPr>
          <a:xfrm>
            <a:off x="8328965" y="1490472"/>
            <a:ext cx="3131210" cy="384048"/>
          </a:xfrm>
          <a:prstGeom prst="rect">
            <a:avLst/>
          </a:prstGeom>
          <a:noFill/>
          <a:ln/>
        </p:spPr>
        <p:txBody>
          <a:bodyPr wrap="square" lIns="0" tIns="0" rIns="0" bIns="0" rtlCol="0" anchor="t"/>
          <a:lstStyle/>
          <a:p>
            <a:pPr indent="0" marL="0">
              <a:buNone/>
            </a:pPr>
            <a:r>
              <a:rPr lang="en-US" sz="1600" b="1" dirty="0">
                <a:solidFill>
                  <a:schemeClr val="accent3"/>
                </a:solidFill>
              </a:rPr>
              <a:t>Masked diffusion (ours)</a:t>
            </a:r>
            <a:endParaRPr lang="en-US" sz="1600" dirty="0"/>
          </a:p>
        </p:txBody>
      </p:sp>
      <p:sp>
        <p:nvSpPr>
          <p:cNvPr id="12" name="Text 9"/>
          <p:cNvSpPr txBox="1"/>
          <p:nvPr/>
        </p:nvSpPr>
        <p:spPr>
          <a:xfrm>
            <a:off x="8328965" y="1911096"/>
            <a:ext cx="3131210" cy="2048256"/>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accent3"/>
                </a:solidFill>
              </a:rPr>
              <a:t>chandohasam 120M</a:t>
            </a:r>
            <a:endParaRPr lang="en-US" sz="1300" dirty="0"/>
          </a:p>
          <a:p>
            <a:pPr marL="342900" indent="-342900">
              <a:spcAft>
                <a:spcPts val="500"/>
              </a:spcAft>
              <a:buSzPct val="100000"/>
              <a:buChar char="•"/>
            </a:pPr>
            <a:r>
              <a:rPr lang="en-US" sz="1300" dirty="0">
                <a:solidFill>
                  <a:schemeClr val="tx1"/>
                </a:solidFill>
              </a:rPr>
              <a:t>constraint on the positions being resolved; committed context preserved</a:t>
            </a:r>
            <a:endParaRPr lang="en-US" sz="1300" dirty="0"/>
          </a:p>
          <a:p>
            <a:pPr marL="342900" indent="-342900">
              <a:spcAft>
                <a:spcPts val="500"/>
              </a:spcAft>
              <a:buSzPct val="100000"/>
              <a:buChar char="•"/>
            </a:pPr>
            <a:r>
              <a:rPr lang="en-US" sz="1300" dirty="0">
                <a:solidFill>
                  <a:schemeClr val="tx1"/>
                </a:solidFill>
              </a:rPr>
              <a:t>512-token canvas, meaning unmasked</a:t>
            </a:r>
            <a:endParaRPr lang="en-US" sz="1300" dirty="0"/>
          </a:p>
          <a:p>
            <a:pPr marL="342900" indent="-342900">
              <a:spcAft>
                <a:spcPts val="500"/>
              </a:spcAft>
              <a:buSzPct val="100000"/>
              <a:buChar char="•"/>
            </a:pPr>
            <a:r>
              <a:rPr lang="en-US" sz="1300" dirty="0">
                <a:solidFill>
                  <a:schemeClr val="tx1"/>
                </a:solidFill>
              </a:rPr>
              <a:t>one token per akṣara; lines decoded left to right within the line</a:t>
            </a:r>
            <a:endParaRPr lang="en-US" sz="1300" dirty="0"/>
          </a:p>
        </p:txBody>
      </p:sp>
      <p:sp>
        <p:nvSpPr>
          <p:cNvPr id="13" name="Text 10"/>
          <p:cNvSpPr txBox="1"/>
          <p:nvPr/>
        </p:nvSpPr>
        <p:spPr>
          <a:xfrm>
            <a:off x="548640" y="4297680"/>
            <a:ext cx="11094415" cy="320040"/>
          </a:xfrm>
          <a:prstGeom prst="rect">
            <a:avLst/>
          </a:prstGeom>
          <a:noFill/>
          <a:ln/>
        </p:spPr>
        <p:txBody>
          <a:bodyPr wrap="square" lIns="0" tIns="0" rIns="0" bIns="0" rtlCol="0" anchor="t"/>
          <a:lstStyle/>
          <a:p>
            <a:pPr indent="0" marL="0">
              <a:buNone/>
            </a:pPr>
            <a:r>
              <a:rPr lang="en-US" sz="1500" b="1" dirty="0">
                <a:solidFill>
                  <a:schemeClr val="accent3"/>
                </a:solidFill>
              </a:rPr>
              <a:t>Three decoding strategies (Algorithm 3)</a:t>
            </a:r>
            <a:endParaRPr lang="en-US" sz="1500" dirty="0"/>
          </a:p>
        </p:txBody>
      </p:sp>
      <p:sp>
        <p:nvSpPr>
          <p:cNvPr id="14" name="Shape 11"/>
          <p:cNvSpPr/>
          <p:nvPr/>
        </p:nvSpPr>
        <p:spPr>
          <a:xfrm>
            <a:off x="548640" y="4681728"/>
            <a:ext cx="3515258" cy="1581912"/>
          </a:xfrm>
          <a:prstGeom prst="roundRect">
            <a:avLst>
              <a:gd name="adj" fmla="val 5780"/>
            </a:avLst>
          </a:prstGeom>
          <a:solidFill>
            <a:schemeClr val="bg1"/>
          </a:solidFill>
          <a:ln w="12700">
            <a:solidFill>
              <a:schemeClr val="accent3"/>
            </a:solidFill>
            <a:prstDash val="solid"/>
          </a:ln>
        </p:spPr>
      </p:sp>
      <p:sp>
        <p:nvSpPr>
          <p:cNvPr id="15" name="Text 12"/>
          <p:cNvSpPr txBox="1"/>
          <p:nvPr/>
        </p:nvSpPr>
        <p:spPr>
          <a:xfrm>
            <a:off x="731520" y="4773168"/>
            <a:ext cx="3149498" cy="320040"/>
          </a:xfrm>
          <a:prstGeom prst="rect">
            <a:avLst/>
          </a:prstGeom>
          <a:noFill/>
          <a:ln/>
        </p:spPr>
        <p:txBody>
          <a:bodyPr wrap="square" lIns="0" tIns="0" rIns="0" bIns="0" rtlCol="0" anchor="t"/>
          <a:lstStyle/>
          <a:p>
            <a:pPr indent="0" marL="0">
              <a:buNone/>
            </a:pPr>
            <a:r>
              <a:rPr lang="en-US" sz="1400" b="1" dirty="0">
                <a:solidFill>
                  <a:schemeClr val="accent3"/>
                </a:solidFill>
              </a:rPr>
              <a:t>Masking only</a:t>
            </a:r>
            <a:endParaRPr lang="en-US" sz="1400" dirty="0"/>
          </a:p>
        </p:txBody>
      </p:sp>
      <p:sp>
        <p:nvSpPr>
          <p:cNvPr id="16" name="Text 13"/>
          <p:cNvSpPr txBox="1"/>
          <p:nvPr/>
        </p:nvSpPr>
        <p:spPr>
          <a:xfrm>
            <a:off x="731520" y="5093208"/>
            <a:ext cx="3149498" cy="1078992"/>
          </a:xfrm>
          <a:prstGeom prst="rect">
            <a:avLst/>
          </a:prstGeom>
          <a:noFill/>
          <a:ln/>
        </p:spPr>
        <p:txBody>
          <a:bodyPr wrap="square" lIns="0" tIns="0" rIns="0" bIns="0" rtlCol="0" anchor="t"/>
          <a:lstStyle/>
          <a:p>
            <a:pPr indent="0" marL="0">
              <a:buNone/>
            </a:pPr>
            <a:r>
              <a:rPr lang="en-US" sz="1250" dirty="0">
                <a:solidFill>
                  <a:schemeClr val="tx2"/>
                </a:solidFill>
              </a:rPr>
              <a:t>Remove invalid tokens, renormalise, sample from the tokens that hold 90% of the mass (top-p).</a:t>
            </a:r>
            <a:endParaRPr lang="en-US" sz="1250" dirty="0"/>
          </a:p>
        </p:txBody>
      </p:sp>
      <p:sp>
        <p:nvSpPr>
          <p:cNvPr id="17" name="Shape 14"/>
          <p:cNvSpPr/>
          <p:nvPr/>
        </p:nvSpPr>
        <p:spPr>
          <a:xfrm>
            <a:off x="4338218" y="4681728"/>
            <a:ext cx="3515258" cy="1581912"/>
          </a:xfrm>
          <a:prstGeom prst="roundRect">
            <a:avLst>
              <a:gd name="adj" fmla="val 5780"/>
            </a:avLst>
          </a:prstGeom>
          <a:solidFill>
            <a:schemeClr val="bg1"/>
          </a:solidFill>
          <a:ln w="12700">
            <a:solidFill>
              <a:schemeClr val="accent3"/>
            </a:solidFill>
            <a:prstDash val="solid"/>
          </a:ln>
        </p:spPr>
      </p:sp>
      <p:sp>
        <p:nvSpPr>
          <p:cNvPr id="18" name="Text 15"/>
          <p:cNvSpPr txBox="1"/>
          <p:nvPr/>
        </p:nvSpPr>
        <p:spPr>
          <a:xfrm>
            <a:off x="4521098" y="4773168"/>
            <a:ext cx="3149498" cy="320040"/>
          </a:xfrm>
          <a:prstGeom prst="rect">
            <a:avLst/>
          </a:prstGeom>
          <a:noFill/>
          <a:ln/>
        </p:spPr>
        <p:txBody>
          <a:bodyPr wrap="square" lIns="0" tIns="0" rIns="0" bIns="0" rtlCol="0" anchor="t"/>
          <a:lstStyle/>
          <a:p>
            <a:pPr indent="0" marL="0">
              <a:buNone/>
            </a:pPr>
            <a:r>
              <a:rPr lang="en-US" sz="1400" b="1" dirty="0">
                <a:solidFill>
                  <a:schemeClr val="accent3"/>
                </a:solidFill>
              </a:rPr>
              <a:t>Masking + backtracking</a:t>
            </a:r>
            <a:endParaRPr lang="en-US" sz="1400" dirty="0"/>
          </a:p>
        </p:txBody>
      </p:sp>
      <p:sp>
        <p:nvSpPr>
          <p:cNvPr id="19" name="Text 16"/>
          <p:cNvSpPr txBox="1"/>
          <p:nvPr/>
        </p:nvSpPr>
        <p:spPr>
          <a:xfrm>
            <a:off x="4521098" y="5093208"/>
            <a:ext cx="3149498" cy="1078992"/>
          </a:xfrm>
          <a:prstGeom prst="rect">
            <a:avLst/>
          </a:prstGeom>
          <a:noFill/>
          <a:ln/>
        </p:spPr>
        <p:txBody>
          <a:bodyPr wrap="square" lIns="0" tIns="0" rIns="0" bIns="0" rtlCol="0" anchor="t"/>
          <a:lstStyle/>
          <a:p>
            <a:pPr indent="0" marL="0">
              <a:buNone/>
            </a:pPr>
            <a:r>
              <a:rPr lang="en-US" sz="1250" dirty="0">
                <a:solidFill>
                  <a:schemeClr val="tx2"/>
                </a:solidFill>
              </a:rPr>
              <a:t>Checkpoint every third step (keep 15). When stuck (&lt; 3 allowed tokens, &lt; 0.001 of the mass, or 4 steps without a new akṣara) rewind c checkpoints and raise τ by 0.15c, to at most 1.2.</a:t>
            </a:r>
            <a:endParaRPr lang="en-US" sz="1250" dirty="0"/>
          </a:p>
        </p:txBody>
      </p:sp>
      <p:sp>
        <p:nvSpPr>
          <p:cNvPr id="20" name="Shape 17"/>
          <p:cNvSpPr/>
          <p:nvPr/>
        </p:nvSpPr>
        <p:spPr>
          <a:xfrm>
            <a:off x="8127797" y="4681728"/>
            <a:ext cx="3515258" cy="1581912"/>
          </a:xfrm>
          <a:prstGeom prst="roundRect">
            <a:avLst>
              <a:gd name="adj" fmla="val 5780"/>
            </a:avLst>
          </a:prstGeom>
          <a:solidFill>
            <a:schemeClr val="bg1"/>
          </a:solidFill>
          <a:ln w="12700">
            <a:solidFill>
              <a:schemeClr val="accent3"/>
            </a:solidFill>
            <a:prstDash val="solid"/>
          </a:ln>
        </p:spPr>
      </p:sp>
      <p:sp>
        <p:nvSpPr>
          <p:cNvPr id="21" name="Text 18"/>
          <p:cNvSpPr txBox="1"/>
          <p:nvPr/>
        </p:nvSpPr>
        <p:spPr>
          <a:xfrm>
            <a:off x="8310677" y="4773168"/>
            <a:ext cx="3149498" cy="320040"/>
          </a:xfrm>
          <a:prstGeom prst="rect">
            <a:avLst/>
          </a:prstGeom>
          <a:noFill/>
          <a:ln/>
        </p:spPr>
        <p:txBody>
          <a:bodyPr wrap="square" lIns="0" tIns="0" rIns="0" bIns="0" rtlCol="0" anchor="t"/>
          <a:lstStyle/>
          <a:p>
            <a:pPr indent="0" marL="0">
              <a:buNone/>
            </a:pPr>
            <a:r>
              <a:rPr lang="en-US" sz="1400" b="1" dirty="0">
                <a:solidFill>
                  <a:schemeClr val="accent3"/>
                </a:solidFill>
              </a:rPr>
              <a:t>Hybrid</a:t>
            </a:r>
            <a:endParaRPr lang="en-US" sz="1400" dirty="0"/>
          </a:p>
        </p:txBody>
      </p:sp>
      <p:sp>
        <p:nvSpPr>
          <p:cNvPr id="22" name="Text 19"/>
          <p:cNvSpPr txBox="1"/>
          <p:nvPr/>
        </p:nvSpPr>
        <p:spPr>
          <a:xfrm>
            <a:off x="8310677" y="5093208"/>
            <a:ext cx="3149498" cy="1078992"/>
          </a:xfrm>
          <a:prstGeom prst="rect">
            <a:avLst/>
          </a:prstGeom>
          <a:noFill/>
          <a:ln/>
        </p:spPr>
        <p:txBody>
          <a:bodyPr wrap="square" lIns="0" tIns="0" rIns="0" bIns="0" rtlCol="0" anchor="t"/>
          <a:lstStyle/>
          <a:p>
            <a:pPr indent="0" marL="0">
              <a:buNone/>
            </a:pPr>
            <a:r>
              <a:rPr lang="en-US" sz="1250" dirty="0">
                <a:solidFill>
                  <a:schemeClr val="tx2"/>
                </a:solidFill>
              </a:rPr>
              <a:t>Walk the allowed tokens by probability (at most 100), collect those that complete the line (stop at 3), and sample among them.</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Results: the constrained-decoding grid</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468880"/>
                <a:gridCol w="1234440"/>
                <a:gridCol w="914400"/>
                <a:gridCol w="1051560"/>
                <a:gridCol w="960120"/>
                <a:gridCol w="1188720"/>
                <a:gridCol w="1325880"/>
                <a:gridCol w="960120"/>
                <a:gridCol w="987552"/>
              </a:tblGrid>
              <a:tr h="30175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 metre</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attested</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distinct</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single akṣara</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strong anuprāsa</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obscure</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MAUVE</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r>
              <a:tr h="301752">
                <a:tc>
                  <a:txBody>
                    <a:bodyPr/>
                    <a:lstStyle/>
                    <a:p>
                      <a:pPr algn="l" indent="0" marL="0">
                        <a:buNone/>
                      </a:pPr>
                      <a:r>
                        <a:rPr lang="en-US" sz="1200" b="1" dirty="0">
                          <a:solidFill>
                            <a:srgbClr val="22192B"/>
                          </a:solidFill>
                          <a:latin typeface="Calibri" pitchFamily="34" charset="0"/>
                          <a:ea typeface="Calibri" pitchFamily="34" charset="-122"/>
                          <a:cs typeface="Calibri" pitchFamily="34" charset="-120"/>
                        </a:rPr>
                        <a:t>Gemma-4 E4B</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l" indent="0" marL="0">
                        <a:buNone/>
                      </a:pPr>
                      <a:r>
                        <a:rPr lang="en-US" sz="1200" dirty="0">
                          <a:solidFill>
                            <a:srgbClr val="5C5366"/>
                          </a:solidFill>
                          <a:latin typeface="Calibri" pitchFamily="34" charset="0"/>
                          <a:ea typeface="Calibri" pitchFamily="34" charset="-122"/>
                          <a:cs typeface="Calibri" pitchFamily="34" charset="-120"/>
                        </a:rPr>
                        <a:t>free</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33.7%</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490</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0.006</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01752">
                <a:tc>
                  <a:txBody>
                    <a:bodyPr/>
                    <a:lstStyle/>
                    <a:p>
                      <a:pPr algn="l" indent="0" marL="0">
                        <a:buNone/>
                      </a:pP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l" indent="0" marL="0">
                        <a:buNone/>
                      </a:pPr>
                      <a:r>
                        <a:rPr lang="en-US" sz="1200" dirty="0">
                          <a:solidFill>
                            <a:srgbClr val="7B2D43"/>
                          </a:solidFill>
                          <a:latin typeface="Calibri" pitchFamily="34" charset="0"/>
                          <a:ea typeface="Calibri" pitchFamily="34" charset="-122"/>
                          <a:cs typeface="Calibri" pitchFamily="34" charset="-120"/>
                        </a:rPr>
                        <a:t>constrained</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b="1" dirty="0">
                          <a:solidFill>
                            <a:srgbClr val="22192B"/>
                          </a:solidFill>
                          <a:latin typeface="Calibri" pitchFamily="34" charset="0"/>
                          <a:ea typeface="Calibri" pitchFamily="34" charset="-122"/>
                          <a:cs typeface="Calibri" pitchFamily="34" charset="-120"/>
                        </a:rPr>
                        <a:t>555</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10.7%</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323</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9.2%</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33.7%</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91.4%</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0.057</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01752">
                <a:tc>
                  <a:txBody>
                    <a:bodyPr/>
                    <a:lstStyle/>
                    <a:p>
                      <a:pPr algn="l" indent="0" marL="0">
                        <a:buNone/>
                      </a:pPr>
                      <a:r>
                        <a:rPr lang="en-US" sz="1200" b="1" dirty="0">
                          <a:solidFill>
                            <a:srgbClr val="22192B"/>
                          </a:solidFill>
                          <a:latin typeface="Calibri" pitchFamily="34" charset="0"/>
                          <a:ea typeface="Calibri" pitchFamily="34" charset="-122"/>
                          <a:cs typeface="Calibri" pitchFamily="34" charset="-120"/>
                        </a:rPr>
                        <a:t>Gemma-4 26B-A4B</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l" indent="0" marL="0">
                        <a:buNone/>
                      </a:pPr>
                      <a:r>
                        <a:rPr lang="en-US" sz="1200" dirty="0">
                          <a:solidFill>
                            <a:srgbClr val="5C5366"/>
                          </a:solidFill>
                          <a:latin typeface="Calibri" pitchFamily="34" charset="0"/>
                          <a:ea typeface="Calibri" pitchFamily="34" charset="-122"/>
                          <a:cs typeface="Calibri" pitchFamily="34" charset="-120"/>
                        </a:rPr>
                        <a:t>free</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37.2%</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545</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9.9%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0.009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01752">
                <a:tc>
                  <a:txBody>
                    <a:bodyPr/>
                    <a:lstStyle/>
                    <a:p>
                      <a:pPr algn="l" indent="0" marL="0">
                        <a:buNone/>
                      </a:pP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l" indent="0" marL="0">
                        <a:buNone/>
                      </a:pPr>
                      <a:r>
                        <a:rPr lang="en-US" sz="1200" dirty="0">
                          <a:solidFill>
                            <a:srgbClr val="7B2D43"/>
                          </a:solidFill>
                          <a:latin typeface="Calibri" pitchFamily="34" charset="0"/>
                          <a:ea typeface="Calibri" pitchFamily="34" charset="-122"/>
                          <a:cs typeface="Calibri" pitchFamily="34" charset="-120"/>
                        </a:rPr>
                        <a:t>constrained</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b="1" dirty="0">
                          <a:solidFill>
                            <a:srgbClr val="22192B"/>
                          </a:solidFill>
                          <a:latin typeface="Calibri" pitchFamily="34" charset="0"/>
                          <a:ea typeface="Calibri" pitchFamily="34" charset="-122"/>
                          <a:cs typeface="Calibri" pitchFamily="34" charset="-120"/>
                        </a:rPr>
                        <a:t>555</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16.9%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375</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48.1%</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91.0%</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0.014</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01752">
                <a:tc>
                  <a:txBody>
                    <a:bodyPr/>
                    <a:lstStyle/>
                    <a:p>
                      <a:pPr algn="l" indent="0" marL="0">
                        <a:buNone/>
                      </a:pPr>
                      <a:r>
                        <a:rPr lang="en-US" sz="1200" b="1" dirty="0">
                          <a:solidFill>
                            <a:srgbClr val="22192B"/>
                          </a:solidFill>
                          <a:latin typeface="Calibri" pitchFamily="34" charset="0"/>
                          <a:ea typeface="Calibri" pitchFamily="34" charset="-122"/>
                          <a:cs typeface="Calibri" pitchFamily="34" charset="-120"/>
                        </a:rPr>
                        <a:t>DiffusionGemma 26B-A4B</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l" indent="0" marL="0">
                        <a:buNone/>
                      </a:pPr>
                      <a:r>
                        <a:rPr lang="en-US" sz="1200" dirty="0">
                          <a:solidFill>
                            <a:srgbClr val="5C5366"/>
                          </a:solidFill>
                          <a:latin typeface="Calibri" pitchFamily="34" charset="0"/>
                          <a:ea typeface="Calibri" pitchFamily="34" charset="-122"/>
                          <a:cs typeface="Calibri" pitchFamily="34" charset="-120"/>
                        </a:rPr>
                        <a:t>free</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34.4%</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485</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19.1%</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30.3%</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0.006</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01752">
                <a:tc>
                  <a:txBody>
                    <a:bodyPr/>
                    <a:lstStyle/>
                    <a:p>
                      <a:pPr algn="l" indent="0" marL="0">
                        <a:buNone/>
                      </a:pP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l" indent="0" marL="0">
                        <a:buNone/>
                      </a:pPr>
                      <a:r>
                        <a:rPr lang="en-US" sz="1200" dirty="0">
                          <a:solidFill>
                            <a:srgbClr val="7B2D43"/>
                          </a:solidFill>
                          <a:latin typeface="Calibri" pitchFamily="34" charset="0"/>
                          <a:ea typeface="Calibri" pitchFamily="34" charset="-122"/>
                          <a:cs typeface="Calibri" pitchFamily="34" charset="-120"/>
                        </a:rPr>
                        <a:t>constrained</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b="1" dirty="0">
                          <a:solidFill>
                            <a:srgbClr val="22192B"/>
                          </a:solidFill>
                          <a:latin typeface="Calibri" pitchFamily="34" charset="0"/>
                          <a:ea typeface="Calibri" pitchFamily="34" charset="-122"/>
                          <a:cs typeface="Calibri" pitchFamily="34" charset="-120"/>
                        </a:rPr>
                        <a:t>555</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11.5%</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333</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28.7%</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71.9%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98.9%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0.011</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01752">
                <a:tc>
                  <a:txBody>
                    <a:bodyPr/>
                    <a:lstStyle/>
                    <a:p>
                      <a:pPr algn="l" indent="0" marL="0">
                        <a:buNone/>
                      </a:pPr>
                      <a:r>
                        <a:rPr lang="en-US" sz="1200" b="1" dirty="0">
                          <a:solidFill>
                            <a:srgbClr val="22192B"/>
                          </a:solidFill>
                          <a:latin typeface="Calibri" pitchFamily="34" charset="0"/>
                          <a:ea typeface="Calibri" pitchFamily="34" charset="-122"/>
                          <a:cs typeface="Calibri" pitchFamily="34" charset="-120"/>
                        </a:rPr>
                        <a:t>Chandohasam 120M (ours)</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l" indent="0" marL="0">
                        <a:buNone/>
                      </a:pPr>
                      <a:r>
                        <a:rPr lang="en-US" sz="1200" dirty="0">
                          <a:solidFill>
                            <a:srgbClr val="5C5366"/>
                          </a:solidFill>
                          <a:latin typeface="Calibri" pitchFamily="34" charset="0"/>
                          <a:ea typeface="Calibri" pitchFamily="34" charset="-122"/>
                          <a:cs typeface="Calibri" pitchFamily="34" charset="-120"/>
                        </a:rPr>
                        <a:t>free</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17.9%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183</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5.9%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26.7%</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45.9%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0.006</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01752">
                <a:tc>
                  <a:txBody>
                    <a:bodyPr/>
                    <a:lstStyle/>
                    <a:p>
                      <a:pPr algn="l" indent="0" marL="0">
                        <a:buNone/>
                      </a:pP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l" indent="0" marL="0">
                        <a:buNone/>
                      </a:pPr>
                      <a:r>
                        <a:rPr lang="en-US" sz="1200" dirty="0">
                          <a:solidFill>
                            <a:srgbClr val="7B2D43"/>
                          </a:solidFill>
                          <a:latin typeface="Calibri" pitchFamily="34" charset="0"/>
                          <a:ea typeface="Calibri" pitchFamily="34" charset="-122"/>
                          <a:cs typeface="Calibri" pitchFamily="34" charset="-120"/>
                        </a:rPr>
                        <a:t>constrained</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b="1" dirty="0">
                          <a:solidFill>
                            <a:srgbClr val="22192B"/>
                          </a:solidFill>
                          <a:latin typeface="Calibri" pitchFamily="34" charset="0"/>
                          <a:ea typeface="Calibri" pitchFamily="34" charset="-122"/>
                          <a:cs typeface="Calibri" pitchFamily="34" charset="-120"/>
                        </a:rPr>
                        <a:t>555</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b="1" dirty="0">
                          <a:solidFill>
                            <a:srgbClr val="22192B"/>
                          </a:solidFill>
                          <a:latin typeface="Calibri" pitchFamily="34" charset="0"/>
                          <a:ea typeface="Calibri" pitchFamily="34" charset="-122"/>
                          <a:cs typeface="Calibri" pitchFamily="34" charset="-120"/>
                        </a:rPr>
                        <a:t>36.9%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b="1" dirty="0">
                          <a:solidFill>
                            <a:srgbClr val="22192B"/>
                          </a:solidFill>
                          <a:latin typeface="Calibri" pitchFamily="34" charset="0"/>
                          <a:ea typeface="Calibri" pitchFamily="34" charset="-122"/>
                          <a:cs typeface="Calibri" pitchFamily="34" charset="-120"/>
                        </a:rPr>
                        <a:t>757</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19.7%</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33.7%</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62.9%</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0.035</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r>
              <a:tr h="301752">
                <a:tc>
                  <a:txBody>
                    <a:bodyPr/>
                    <a:lstStyle/>
                    <a:p>
                      <a:pPr algn="l" indent="0" marL="0">
                        <a:buNone/>
                      </a:pPr>
                      <a:r>
                        <a:rPr lang="en-US" sz="1200" b="1" dirty="0">
                          <a:solidFill>
                            <a:srgbClr val="22192B"/>
                          </a:solidFill>
                          <a:latin typeface="Calibri" pitchFamily="34" charset="0"/>
                          <a:ea typeface="Calibri" pitchFamily="34" charset="-122"/>
                          <a:cs typeface="Calibri" pitchFamily="34" charset="-120"/>
                        </a:rPr>
                        <a:t>real verse</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l" indent="0" marL="0">
                        <a:buNone/>
                      </a:pPr>
                      <a:r>
                        <a:rPr lang="en-US" sz="1200" dirty="0">
                          <a:solidFill>
                            <a:srgbClr val="221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200" dirty="0">
                          <a:solidFill>
                            <a:srgbClr val="22192B"/>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200" b="1" dirty="0">
                          <a:solidFill>
                            <a:srgbClr val="22192B"/>
                          </a:solidFill>
                          <a:latin typeface="Calibri" pitchFamily="34" charset="0"/>
                          <a:ea typeface="Calibri" pitchFamily="34" charset="-122"/>
                          <a:cs typeface="Calibri" pitchFamily="34" charset="-120"/>
                        </a:rPr>
                        <a:t>0.965</a:t>
                      </a:r>
                      <a:endParaRPr lang="en-US" sz="12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r>
            </a:tbl>
          </a:graphicData>
        </a:graphic>
      </p:graphicFrame>
      <p:sp>
        <p:nvSpPr>
          <p:cNvPr id="5" name="Text 1"/>
          <p:cNvSpPr txBox="1"/>
          <p:nvPr/>
        </p:nvSpPr>
        <p:spPr>
          <a:xfrm>
            <a:off x="548640" y="4434840"/>
            <a:ext cx="11094415" cy="548640"/>
          </a:xfrm>
          <a:prstGeom prst="rect">
            <a:avLst/>
          </a:prstGeom>
          <a:noFill/>
          <a:ln/>
        </p:spPr>
        <p:txBody>
          <a:bodyPr wrap="square" lIns="0" tIns="0" rIns="0" bIns="0" rtlCol="0" anchor="t"/>
          <a:lstStyle/>
          <a:p>
            <a:pPr indent="0" marL="0">
              <a:buNone/>
            </a:pPr>
            <a:r>
              <a:rPr lang="en-US" sz="1100" i="1" dirty="0">
                <a:solidFill>
                  <a:schemeClr val="tx2"/>
                </a:solidFill>
              </a:rPr>
              <a:t>Table 5 of the paper. Grid: 37 metres × 3 topics × 5 seeds = 555 poems per row. In metre = complete, canonical gaṇa, strict prāsa and strict yati, no sandhi assumed. Attested = words of two or more akṣaras found in held-out verse (topic words excluded). MAUVE against real verse of the same metre mix (n = 120 a side, 5 seeds).</a:t>
            </a:r>
            <a:endParaRPr lang="en-US" sz="1100" dirty="0"/>
          </a:p>
        </p:txBody>
      </p:sp>
      <p:sp>
        <p:nvSpPr>
          <p:cNvPr id="6" name="Shape 2"/>
          <p:cNvSpPr/>
          <p:nvPr/>
        </p:nvSpPr>
        <p:spPr>
          <a:xfrm>
            <a:off x="548640" y="5074920"/>
            <a:ext cx="3515258" cy="1188720"/>
          </a:xfrm>
          <a:prstGeom prst="roundRect">
            <a:avLst>
              <a:gd name="adj" fmla="val 7692"/>
            </a:avLst>
          </a:prstGeom>
          <a:solidFill>
            <a:schemeClr val="bg2"/>
          </a:solidFill>
          <a:ln w="12700">
            <a:solidFill>
              <a:schemeClr val="bg2"/>
            </a:solidFill>
            <a:prstDash val="solid"/>
          </a:ln>
        </p:spPr>
      </p:sp>
      <p:sp>
        <p:nvSpPr>
          <p:cNvPr id="7" name="Text 3"/>
          <p:cNvSpPr txBox="1"/>
          <p:nvPr/>
        </p:nvSpPr>
        <p:spPr>
          <a:xfrm>
            <a:off x="685800" y="5184648"/>
            <a:ext cx="3240938" cy="653796"/>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0 → 555</a:t>
            </a:r>
            <a:endParaRPr lang="en-US" sz="2600" dirty="0"/>
          </a:p>
        </p:txBody>
      </p:sp>
      <p:sp>
        <p:nvSpPr>
          <p:cNvPr id="8" name="Text 4"/>
          <p:cNvSpPr txBox="1"/>
          <p:nvPr/>
        </p:nvSpPr>
        <p:spPr>
          <a:xfrm>
            <a:off x="685800" y="5764378"/>
            <a:ext cx="3240938" cy="475488"/>
          </a:xfrm>
          <a:prstGeom prst="rect">
            <a:avLst/>
          </a:prstGeom>
          <a:noFill/>
          <a:ln/>
        </p:spPr>
        <p:txBody>
          <a:bodyPr wrap="square" lIns="0" tIns="0" rIns="0" bIns="0" rtlCol="0" anchor="t"/>
          <a:lstStyle/>
          <a:p>
            <a:pPr algn="ctr" indent="0" marL="0">
              <a:buNone/>
            </a:pPr>
            <a:r>
              <a:rPr lang="en-US" sz="1150" dirty="0">
                <a:solidFill>
                  <a:schemeClr val="tx2"/>
                </a:solidFill>
              </a:rPr>
              <a:t>poems in metre, free → constrained, for every model</a:t>
            </a:r>
            <a:endParaRPr lang="en-US" sz="1150" dirty="0"/>
          </a:p>
        </p:txBody>
      </p:sp>
      <p:sp>
        <p:nvSpPr>
          <p:cNvPr id="9" name="Shape 5"/>
          <p:cNvSpPr/>
          <p:nvPr/>
        </p:nvSpPr>
        <p:spPr>
          <a:xfrm>
            <a:off x="4338218" y="5074920"/>
            <a:ext cx="3515258" cy="1188720"/>
          </a:xfrm>
          <a:prstGeom prst="roundRect">
            <a:avLst>
              <a:gd name="adj" fmla="val 7692"/>
            </a:avLst>
          </a:prstGeom>
          <a:solidFill>
            <a:schemeClr val="bg2"/>
          </a:solidFill>
          <a:ln w="12700">
            <a:solidFill>
              <a:schemeClr val="bg2"/>
            </a:solidFill>
            <a:prstDash val="solid"/>
          </a:ln>
        </p:spPr>
      </p:sp>
      <p:sp>
        <p:nvSpPr>
          <p:cNvPr id="10" name="Text 6"/>
          <p:cNvSpPr txBox="1"/>
          <p:nvPr/>
        </p:nvSpPr>
        <p:spPr>
          <a:xfrm>
            <a:off x="4475378" y="5184648"/>
            <a:ext cx="3240938" cy="653796"/>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36.9%</a:t>
            </a:r>
            <a:endParaRPr lang="en-US" sz="2600" dirty="0"/>
          </a:p>
        </p:txBody>
      </p:sp>
      <p:sp>
        <p:nvSpPr>
          <p:cNvPr id="11" name="Text 7"/>
          <p:cNvSpPr txBox="1"/>
          <p:nvPr/>
        </p:nvSpPr>
        <p:spPr>
          <a:xfrm>
            <a:off x="4475378" y="5764378"/>
            <a:ext cx="3240938" cy="475488"/>
          </a:xfrm>
          <a:prstGeom prst="rect">
            <a:avLst/>
          </a:prstGeom>
          <a:noFill/>
          <a:ln/>
        </p:spPr>
        <p:txBody>
          <a:bodyPr wrap="square" lIns="0" tIns="0" rIns="0" bIns="0" rtlCol="0" anchor="t"/>
          <a:lstStyle/>
          <a:p>
            <a:pPr algn="ctr" indent="0" marL="0">
              <a:buNone/>
            </a:pPr>
            <a:r>
              <a:rPr lang="en-US" sz="1150" dirty="0">
                <a:solidFill>
                  <a:schemeClr val="tx2"/>
                </a:solidFill>
              </a:rPr>
              <a:t>attested words kept by Chandohasam 120M under constraint; subword models fall to 10.7–16.9%</a:t>
            </a:r>
            <a:endParaRPr lang="en-US" sz="1150" dirty="0"/>
          </a:p>
        </p:txBody>
      </p:sp>
      <p:sp>
        <p:nvSpPr>
          <p:cNvPr id="12" name="Shape 8"/>
          <p:cNvSpPr/>
          <p:nvPr/>
        </p:nvSpPr>
        <p:spPr>
          <a:xfrm>
            <a:off x="8127797" y="5074920"/>
            <a:ext cx="3515258" cy="1188720"/>
          </a:xfrm>
          <a:prstGeom prst="roundRect">
            <a:avLst>
              <a:gd name="adj" fmla="val 7692"/>
            </a:avLst>
          </a:prstGeom>
          <a:solidFill>
            <a:schemeClr val="bg2"/>
          </a:solidFill>
          <a:ln w="12700">
            <a:solidFill>
              <a:schemeClr val="bg2"/>
            </a:solidFill>
            <a:prstDash val="solid"/>
          </a:ln>
        </p:spPr>
      </p:sp>
      <p:sp>
        <p:nvSpPr>
          <p:cNvPr id="13" name="Text 9"/>
          <p:cNvSpPr txBox="1"/>
          <p:nvPr/>
        </p:nvSpPr>
        <p:spPr>
          <a:xfrm>
            <a:off x="8264957" y="5184648"/>
            <a:ext cx="3240938" cy="653796"/>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0.035 vs 0.965</a:t>
            </a:r>
            <a:endParaRPr lang="en-US" sz="2600" dirty="0"/>
          </a:p>
        </p:txBody>
      </p:sp>
      <p:sp>
        <p:nvSpPr>
          <p:cNvPr id="14" name="Text 10"/>
          <p:cNvSpPr txBox="1"/>
          <p:nvPr/>
        </p:nvSpPr>
        <p:spPr>
          <a:xfrm>
            <a:off x="8264957" y="5764378"/>
            <a:ext cx="3240938" cy="475488"/>
          </a:xfrm>
          <a:prstGeom prst="rect">
            <a:avLst/>
          </a:prstGeom>
          <a:noFill/>
          <a:ln/>
        </p:spPr>
        <p:txBody>
          <a:bodyPr wrap="square" lIns="0" tIns="0" rIns="0" bIns="0" rtlCol="0" anchor="t"/>
          <a:lstStyle/>
          <a:p>
            <a:pPr algn="ctr" indent="0" marL="0">
              <a:buNone/>
            </a:pPr>
            <a:r>
              <a:rPr lang="en-US" sz="1150" dirty="0">
                <a:solidFill>
                  <a:schemeClr val="tx2"/>
                </a:solidFill>
              </a:rPr>
              <a:t>best MAUVE of a generated row vs real verse</a:t>
            </a:r>
            <a:endParaRPr lang="en-US" sz="11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Results: form is guaranteed, words are the cost</a:t>
            </a:r>
            <a:endParaRPr lang="en-US" sz="3200" dirty="0"/>
          </a:p>
        </p:txBody>
      </p:sp>
      <p:graphicFrame>
        <p:nvGraphicFramePr>
          <p:cNvPr id="4" name="Chart 0" descr=""/>
          <p:cNvGraphicFramePr/>
          <p:nvPr/>
        </p:nvGraphicFramePr>
        <p:xfrm>
          <a:off x="548640" y="1325880"/>
          <a:ext cx="603504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48640" y="3886200"/>
          <a:ext cx="6035040" cy="246888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6858000" y="1325880"/>
            <a:ext cx="4785055" cy="502920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chemeClr val="accent1"/>
                </a:solidFill>
              </a:rPr>
              <a:t>Form by construction. </a:t>
            </a:r>
            <a:r>
              <a:rPr lang="en-US" sz="1300" dirty="0">
                <a:solidFill>
                  <a:schemeClr val="tx1"/>
                </a:solidFill>
              </a:rPr>
              <a:t>Free decoding: 0 poems in metre; constrained: 555 of 555 for every model. The decoder guarantees form; nothing is learned.</a:t>
            </a:r>
            <a:endParaRPr lang="en-US" sz="1300" dirty="0"/>
          </a:p>
          <a:p>
            <a:pPr marL="342900" indent="-342900">
              <a:spcAft>
                <a:spcPts val="700"/>
              </a:spcAft>
              <a:buSzPct val="100000"/>
              <a:buChar char="•"/>
            </a:pPr>
            <a:r>
              <a:rPr lang="en-US" sz="1300" b="1" dirty="0">
                <a:solidFill>
                  <a:schemeClr val="accent1"/>
                </a:solidFill>
              </a:rPr>
              <a:t>The lexical cost of subword tokens. </a:t>
            </a:r>
            <a:r>
              <a:rPr lang="en-US" sz="1300" dirty="0">
                <a:solidFill>
                  <a:schemeClr val="tx1"/>
                </a:solidFill>
              </a:rPr>
              <a:t>Attested words fall from 33.7–37.2% to 10.7–16.9%; strong anuprāsa in 33.7–71.9% of poems (real verse 2.7%); 91.0–98.9% rated obscure (real 10.0%).</a:t>
            </a:r>
            <a:endParaRPr lang="en-US" sz="1300" dirty="0"/>
          </a:p>
          <a:p>
            <a:pPr marL="342900" indent="-342900">
              <a:spcAft>
                <a:spcPts val="700"/>
              </a:spcAft>
              <a:buSzPct val="100000"/>
              <a:buChar char="•"/>
            </a:pPr>
            <a:r>
              <a:rPr lang="en-US" sz="1300" b="1" dirty="0">
                <a:solidFill>
                  <a:schemeClr val="accent1"/>
                </a:solidFill>
              </a:rPr>
              <a:t>Akṣara tokens keep the words. </a:t>
            </a:r>
            <a:r>
              <a:rPr lang="en-US" sz="1300" dirty="0">
                <a:solidFill>
                  <a:schemeClr val="tx1"/>
                </a:solidFill>
              </a:rPr>
              <a:t>Chandohasam 120M keeps 36.9% attested words and 757 distinct ones, about twice the 323–375 of the subword models. Its deficits reflect pretraining without verse.</a:t>
            </a:r>
            <a:endParaRPr lang="en-US" sz="1300" dirty="0"/>
          </a:p>
          <a:p>
            <a:pPr marL="342900" indent="-342900">
              <a:spcAft>
                <a:spcPts val="700"/>
              </a:spcAft>
              <a:buSzPct val="100000"/>
              <a:buChar char="•"/>
            </a:pPr>
            <a:r>
              <a:rPr lang="en-US" sz="1300" b="1" dirty="0">
                <a:solidFill>
                  <a:schemeClr val="accent1"/>
                </a:solidFill>
              </a:rPr>
              <a:t>No one writes like the corpus yet. </a:t>
            </a:r>
            <a:r>
              <a:rPr lang="en-US" sz="1300" dirty="0">
                <a:solidFill>
                  <a:schemeClr val="tx1"/>
                </a:solidFill>
              </a:rPr>
              <a:t>MAUVE 0.006–0.057 for every generated row against 0.965 for real verse; the constraint raises it for every model.</a:t>
            </a:r>
            <a:endParaRPr lang="en-US" sz="1300" dirty="0"/>
          </a:p>
          <a:p>
            <a:pPr marL="342900" indent="-342900">
              <a:spcAft>
                <a:spcPts val="700"/>
              </a:spcAft>
              <a:buSzPct val="100000"/>
              <a:buChar char="•"/>
            </a:pPr>
            <a:r>
              <a:rPr lang="en-US" sz="1300" b="1" dirty="0">
                <a:solidFill>
                  <a:schemeClr val="accent1"/>
                </a:solidFill>
              </a:rPr>
              <a:t>Scale does not buy coherence. </a:t>
            </a:r>
            <a:r>
              <a:rPr lang="en-US" sz="1300" dirty="0">
                <a:solidFill>
                  <a:schemeClr val="tx1"/>
                </a:solidFill>
              </a:rPr>
              <a:t>Layer probes of Gemma E2B and E4B and the recorded token probabilities: all sizes underperform equally.</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Pretraining our own diffusion model, one token per akṣara</a:t>
            </a:r>
            <a:endParaRPr lang="en-US" sz="3200" dirty="0"/>
          </a:p>
        </p:txBody>
      </p:sp>
      <p:sp>
        <p:nvSpPr>
          <p:cNvPr id="4" name="card Why the tokenizer must be akṣara-based"/>
          <p:cNvSpPr/>
          <p:nvPr/>
        </p:nvSpPr>
        <p:spPr>
          <a:xfrm>
            <a:off x="548640" y="1325880"/>
            <a:ext cx="5760720" cy="2240280"/>
          </a:xfrm>
          <a:prstGeom prst="roundRect">
            <a:avLst>
              <a:gd name="adj" fmla="val 4082"/>
            </a:avLst>
          </a:prstGeom>
          <a:solidFill>
            <a:schemeClr val="bg2"/>
          </a:solidFill>
          <a:ln w="12700">
            <a:solidFill>
              <a:schemeClr val="bg2"/>
            </a:solidFill>
            <a:prstDash val="solid"/>
          </a:ln>
        </p:spPr>
      </p:sp>
      <p:sp>
        <p:nvSpPr>
          <p:cNvPr id="5" name="Text 2"/>
          <p:cNvSpPr txBox="1"/>
          <p:nvPr/>
        </p:nvSpPr>
        <p:spPr>
          <a:xfrm>
            <a:off x="749808" y="1490472"/>
            <a:ext cx="5376672" cy="384048"/>
          </a:xfrm>
          <a:prstGeom prst="rect">
            <a:avLst/>
          </a:prstGeom>
          <a:noFill/>
          <a:ln/>
        </p:spPr>
        <p:txBody>
          <a:bodyPr wrap="square" lIns="0" tIns="0" rIns="0" bIns="0" rtlCol="0" anchor="t"/>
          <a:lstStyle/>
          <a:p>
            <a:pPr indent="0" marL="0">
              <a:buNone/>
            </a:pPr>
            <a:r>
              <a:rPr lang="en-US" sz="1600" b="1" dirty="0">
                <a:solidFill>
                  <a:schemeClr val="accent1"/>
                </a:solidFill>
              </a:rPr>
              <a:t>Why the tokenizer must be akṣara-based</a:t>
            </a:r>
            <a:endParaRPr lang="en-US" sz="1600" dirty="0"/>
          </a:p>
        </p:txBody>
      </p:sp>
      <p:sp>
        <p:nvSpPr>
          <p:cNvPr id="6" name="Text 3"/>
          <p:cNvSpPr txBox="1"/>
          <p:nvPr/>
        </p:nvSpPr>
        <p:spPr>
          <a:xfrm>
            <a:off x="749808" y="1911096"/>
            <a:ext cx="5376672" cy="15453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the constraint and the weights live on akṣaras, settled by the next onset</a:t>
            </a:r>
            <a:endParaRPr lang="en-US" sz="1300" dirty="0"/>
          </a:p>
          <a:p>
            <a:pPr marL="342900" indent="-342900">
              <a:spcAft>
                <a:spcPts val="400"/>
              </a:spcAft>
              <a:buSzPct val="100000"/>
              <a:buChar char="•"/>
            </a:pPr>
            <a:r>
              <a:rPr lang="en-US" sz="1300" dirty="0">
                <a:solidFill>
                  <a:schemeClr val="tx1"/>
                </a:solidFill>
              </a:rPr>
              <a:t>subword tokenizers spend 1.2–1.4 tokens per akṣara: a token holds part of an akṣara, or several</a:t>
            </a:r>
            <a:endParaRPr lang="en-US" sz="1300" dirty="0"/>
          </a:p>
          <a:p>
            <a:pPr marL="342900" indent="-342900">
              <a:spcAft>
                <a:spcPts val="400"/>
              </a:spcAft>
              <a:buSzPct val="100000"/>
              <a:buChar char="•"/>
            </a:pPr>
            <a:r>
              <a:rPr lang="en-US" sz="1300" dirty="0">
                <a:solidFill>
                  <a:schemeClr val="tx1"/>
                </a:solidFill>
              </a:rPr>
              <a:t>masking at subword granularity strips vocabulary: attested words fall to 10.7–16.9%</a:t>
            </a:r>
            <a:endParaRPr lang="en-US" sz="1300" dirty="0"/>
          </a:p>
          <a:p>
            <a:pPr marL="342900" indent="-342900">
              <a:spcAft>
                <a:spcPts val="400"/>
              </a:spcAft>
              <a:buSzPct val="100000"/>
              <a:buChar char="•"/>
            </a:pPr>
            <a:r>
              <a:rPr lang="en-US" sz="1300" b="1" dirty="0">
                <a:solidFill>
                  <a:schemeClr val="accent3"/>
                </a:solidFill>
              </a:rPr>
              <a:t>ours: </a:t>
            </a:r>
            <a:r>
              <a:rPr lang="en-US" sz="1300" dirty="0">
                <a:solidFill>
                  <a:schemeClr val="tx1"/>
                </a:solidFill>
              </a:rPr>
              <a:t>45,591 syllable tokens, akṣara-boundary aware, 99.8% of the akṣara types of our verse</a:t>
            </a:r>
            <a:endParaRPr lang="en-US" sz="1300" dirty="0"/>
          </a:p>
        </p:txBody>
      </p:sp>
      <p:sp>
        <p:nvSpPr>
          <p:cNvPr id="7" name="card chandohasam 120M: a masked diffusion language model"/>
          <p:cNvSpPr/>
          <p:nvPr/>
        </p:nvSpPr>
        <p:spPr>
          <a:xfrm>
            <a:off x="548640" y="3749040"/>
            <a:ext cx="5760720" cy="2514600"/>
          </a:xfrm>
          <a:prstGeom prst="roundRect">
            <a:avLst>
              <a:gd name="adj" fmla="val 3636"/>
            </a:avLst>
          </a:prstGeom>
          <a:solidFill>
            <a:schemeClr val="bg2"/>
          </a:solidFill>
          <a:ln w="12700">
            <a:solidFill>
              <a:schemeClr val="bg2"/>
            </a:solidFill>
            <a:prstDash val="solid"/>
          </a:ln>
        </p:spPr>
      </p:sp>
      <p:sp>
        <p:nvSpPr>
          <p:cNvPr id="8" name="Text 5"/>
          <p:cNvSpPr txBox="1"/>
          <p:nvPr/>
        </p:nvSpPr>
        <p:spPr>
          <a:xfrm>
            <a:off x="749808" y="3913632"/>
            <a:ext cx="5376672" cy="384048"/>
          </a:xfrm>
          <a:prstGeom prst="rect">
            <a:avLst/>
          </a:prstGeom>
          <a:noFill/>
          <a:ln/>
        </p:spPr>
        <p:txBody>
          <a:bodyPr wrap="square" lIns="0" tIns="0" rIns="0" bIns="0" rtlCol="0" anchor="t"/>
          <a:lstStyle/>
          <a:p>
            <a:pPr indent="0" marL="0">
              <a:buNone/>
            </a:pPr>
            <a:r>
              <a:rPr lang="en-US" sz="1600" b="1" dirty="0">
                <a:solidFill>
                  <a:schemeClr val="accent1"/>
                </a:solidFill>
              </a:rPr>
              <a:t>chandohasam 120M: a masked diffusion language model</a:t>
            </a:r>
            <a:endParaRPr lang="en-US" sz="1600" dirty="0"/>
          </a:p>
        </p:txBody>
      </p:sp>
      <p:sp>
        <p:nvSpPr>
          <p:cNvPr id="9" name="Text 6"/>
          <p:cNvSpPr txBox="1"/>
          <p:nvPr/>
        </p:nvSpPr>
        <p:spPr>
          <a:xfrm>
            <a:off x="749808" y="4334256"/>
            <a:ext cx="5376672" cy="1819656"/>
          </a:xfrm>
          <a:prstGeom prst="rect">
            <a:avLst/>
          </a:prstGeom>
          <a:noFill/>
          <a:ln/>
        </p:spPr>
        <p:txBody>
          <a:bodyPr wrap="square" lIns="0" tIns="0" rIns="0" bIns="0" rtlCol="0" anchor="t"/>
          <a:lstStyle/>
          <a:p>
            <a:pPr marL="342900" indent="-342900">
              <a:spcAft>
                <a:spcPts val="400"/>
              </a:spcAft>
              <a:buSzPct val="100000"/>
              <a:buChar char="•"/>
            </a:pPr>
            <a:r>
              <a:rPr lang="en-US" sz="1300" b="1" dirty="0">
                <a:solidFill>
                  <a:schemeClr val="accent1"/>
                </a:solidFill>
              </a:rPr>
              <a:t>architecture </a:t>
            </a:r>
            <a:r>
              <a:rPr lang="en-US" sz="1300" dirty="0">
                <a:solidFill>
                  <a:schemeClr val="tx1"/>
                </a:solidFill>
              </a:rPr>
              <a:t>120M-parameter bidirectional transformer: 12 layers, hidden 768, rotary positions, SwiGLU; MDLM (Sahoo et al., 2024), from scratch</a:t>
            </a:r>
            <a:endParaRPr lang="en-US" sz="1300" dirty="0"/>
          </a:p>
          <a:p>
            <a:pPr marL="342900" indent="-342900">
              <a:spcAft>
                <a:spcPts val="400"/>
              </a:spcAft>
              <a:buSzPct val="100000"/>
              <a:buChar char="•"/>
            </a:pPr>
            <a:r>
              <a:rPr lang="en-US" sz="1300" b="1" dirty="0">
                <a:solidFill>
                  <a:schemeClr val="accent1"/>
                </a:solidFill>
              </a:rPr>
              <a:t>data </a:t>
            </a:r>
            <a:r>
              <a:rPr lang="en-US" sz="1300" dirty="0">
                <a:solidFill>
                  <a:schemeClr val="tx1"/>
                </a:solidFill>
              </a:rPr>
              <a:t>4.98B tokens of Telugu prose: Sangraha, IndicCorp v2, Wikipedia</a:t>
            </a:r>
            <a:endParaRPr lang="en-US" sz="1300" dirty="0"/>
          </a:p>
          <a:p>
            <a:pPr marL="342900" indent="-342900">
              <a:spcAft>
                <a:spcPts val="400"/>
              </a:spcAft>
              <a:buSzPct val="100000"/>
              <a:buChar char="•"/>
            </a:pPr>
            <a:r>
              <a:rPr lang="en-US" sz="1300" b="1" dirty="0">
                <a:solidFill>
                  <a:schemeClr val="accent1"/>
                </a:solidFill>
              </a:rPr>
              <a:t>compute </a:t>
            </a:r>
            <a:r>
              <a:rPr lang="en-US" sz="1300" dirty="0">
                <a:solidFill>
                  <a:schemeClr val="tx1"/>
                </a:solidFill>
              </a:rPr>
              <a:t>one 8 GB laptop GPU, 2 days 19 hours</a:t>
            </a:r>
            <a:endParaRPr lang="en-US" sz="1300" dirty="0"/>
          </a:p>
          <a:p>
            <a:pPr marL="342900" indent="-342900">
              <a:spcAft>
                <a:spcPts val="400"/>
              </a:spcAft>
              <a:buSzPct val="100000"/>
              <a:buChar char="•"/>
            </a:pPr>
            <a:r>
              <a:rPr lang="en-US" sz="1300" b="1" dirty="0">
                <a:solidFill>
                  <a:schemeClr val="accent1"/>
                </a:solidFill>
              </a:rPr>
              <a:t>generation </a:t>
            </a:r>
            <a:r>
              <a:rPr lang="en-US" sz="1300" dirty="0">
                <a:solidFill>
                  <a:schemeClr val="tx1"/>
                </a:solidFill>
              </a:rPr>
              <a:t>512-token canvas, meaning given unmasked; lines decoded left to right within the line</a:t>
            </a:r>
            <a:endParaRPr lang="en-US" sz="1300" dirty="0"/>
          </a:p>
        </p:txBody>
      </p:sp>
      <p:pic>
        <p:nvPicPr>
          <p:cNvPr id="10" name="Image 0" descr="/home/samvaran/phd_workspace/anlp_project/presentation/figures/fig_pilot120m_architecture.png">    </p:cNvPr>
          <p:cNvPicPr>
            <a:picLocks noChangeAspect="1"/>
          </p:cNvPicPr>
          <p:nvPr/>
        </p:nvPicPr>
        <p:blipFill>
          <a:blip r:embed="rId1"/>
          <a:stretch>
            <a:fillRect/>
          </a:stretch>
        </p:blipFill>
        <p:spPr>
          <a:xfrm>
            <a:off x="6178047" y="1325880"/>
            <a:ext cx="5870641" cy="4937760"/>
          </a:xfrm>
          <a:prstGeom prst="rect">
            <a:avLst/>
          </a:prstGeom>
        </p:spPr>
      </p:pic>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What pretraining bought us</a:t>
            </a:r>
            <a:endParaRPr lang="en-US" sz="3200" dirty="0"/>
          </a:p>
        </p:txBody>
      </p:sp>
      <p:pic>
        <p:nvPicPr>
          <p:cNvPr id="4" name="Image 0" descr="/home/samvaran/phd_workspace/anlp_project/presentation/figures/fig_pilot120m_loss.png">    </p:cNvPr>
          <p:cNvPicPr>
            <a:picLocks noChangeAspect="1"/>
          </p:cNvPicPr>
          <p:nvPr/>
        </p:nvPicPr>
        <p:blipFill>
          <a:blip r:embed="rId1"/>
          <a:stretch>
            <a:fillRect/>
          </a:stretch>
        </p:blipFill>
        <p:spPr>
          <a:xfrm>
            <a:off x="548640" y="1325880"/>
            <a:ext cx="6035040" cy="3168396"/>
          </a:xfrm>
          <a:prstGeom prst="rect">
            <a:avLst/>
          </a:prstGeom>
        </p:spPr>
      </p:pic>
      <p:sp>
        <p:nvSpPr>
          <p:cNvPr id="5" name="Text 1"/>
          <p:cNvSpPr txBox="1"/>
          <p:nvPr/>
        </p:nvSpPr>
        <p:spPr>
          <a:xfrm>
            <a:off x="548640" y="4539996"/>
            <a:ext cx="6035040" cy="548640"/>
          </a:xfrm>
          <a:prstGeom prst="rect">
            <a:avLst/>
          </a:prstGeom>
          <a:noFill/>
          <a:ln/>
        </p:spPr>
        <p:txBody>
          <a:bodyPr wrap="square" lIns="0" tIns="0" rIns="0" bIns="0" rtlCol="0" anchor="t"/>
          <a:lstStyle/>
          <a:p>
            <a:pPr indent="0" marL="0">
              <a:buNone/>
            </a:pPr>
            <a:r>
              <a:rPr lang="en-US" sz="1100" i="1" dirty="0">
                <a:solidFill>
                  <a:schemeClr val="tx2"/>
                </a:solidFill>
              </a:rPr>
              <a:t>Training loss and validation NELBO over 76,000 optimizer steps of 65,536 tokens (from the project write-up; not in the paper). Validation NELBO 2.921 → 1.747; test NELBO 1.783 nats per token.</a:t>
            </a:r>
            <a:endParaRPr lang="en-US" sz="1100" dirty="0"/>
          </a:p>
        </p:txBody>
      </p:sp>
      <p:sp>
        <p:nvSpPr>
          <p:cNvPr id="6" name="card Trained on prose only"/>
          <p:cNvSpPr/>
          <p:nvPr/>
        </p:nvSpPr>
        <p:spPr>
          <a:xfrm>
            <a:off x="548640" y="5180076"/>
            <a:ext cx="6035040" cy="1083564"/>
          </a:xfrm>
          <a:prstGeom prst="roundRect">
            <a:avLst>
              <a:gd name="adj" fmla="val 8439"/>
            </a:avLst>
          </a:prstGeom>
          <a:solidFill>
            <a:schemeClr val="bg2"/>
          </a:solidFill>
          <a:ln w="12700">
            <a:solidFill>
              <a:schemeClr val="bg2"/>
            </a:solidFill>
            <a:prstDash val="solid"/>
          </a:ln>
        </p:spPr>
      </p:sp>
      <p:sp>
        <p:nvSpPr>
          <p:cNvPr id="7" name="Text 3"/>
          <p:cNvSpPr txBox="1"/>
          <p:nvPr/>
        </p:nvSpPr>
        <p:spPr>
          <a:xfrm>
            <a:off x="749808" y="5344668"/>
            <a:ext cx="5650992" cy="384048"/>
          </a:xfrm>
          <a:prstGeom prst="rect">
            <a:avLst/>
          </a:prstGeom>
          <a:noFill/>
          <a:ln/>
        </p:spPr>
        <p:txBody>
          <a:bodyPr wrap="square" lIns="0" tIns="0" rIns="0" bIns="0" rtlCol="0" anchor="t"/>
          <a:lstStyle/>
          <a:p>
            <a:pPr indent="0" marL="0">
              <a:buNone/>
            </a:pPr>
            <a:r>
              <a:rPr lang="en-US" sz="1600" b="1" dirty="0">
                <a:solidFill>
                  <a:schemeClr val="accent1"/>
                </a:solidFill>
              </a:rPr>
              <a:t>Trained on prose only</a:t>
            </a:r>
            <a:endParaRPr lang="en-US" sz="1600" dirty="0"/>
          </a:p>
        </p:txBody>
      </p:sp>
      <p:sp>
        <p:nvSpPr>
          <p:cNvPr id="8" name="Text 4"/>
          <p:cNvSpPr txBox="1"/>
          <p:nvPr/>
        </p:nvSpPr>
        <p:spPr>
          <a:xfrm>
            <a:off x="749808" y="5765292"/>
            <a:ext cx="5650992" cy="388620"/>
          </a:xfrm>
          <a:prstGeom prst="rect">
            <a:avLst/>
          </a:prstGeom>
          <a:noFill/>
          <a:ln/>
        </p:spPr>
        <p:txBody>
          <a:bodyPr wrap="square" lIns="0" tIns="0" rIns="0" bIns="0" rtlCol="0" anchor="t"/>
          <a:lstStyle/>
          <a:p>
            <a:pPr indent="0" marL="0">
              <a:buNone/>
            </a:pPr>
            <a:r>
              <a:rPr lang="en-US" sz="1300" dirty="0">
                <a:solidFill>
                  <a:schemeClr val="tx1"/>
                </a:solidFill>
              </a:rPr>
              <a:t>4.98B tokens of Telugu prose; no verse in pretraining. The deficits on the right, single-akṣara words and obscurity, are what poetry fine-tuning must fix next.</a:t>
            </a:r>
            <a:endParaRPr lang="en-US" sz="1300" dirty="0"/>
          </a:p>
        </p:txBody>
      </p:sp>
      <p:sp>
        <p:nvSpPr>
          <p:cNvPr id="9" name="Text 5"/>
          <p:cNvSpPr txBox="1"/>
          <p:nvPr/>
        </p:nvSpPr>
        <p:spPr>
          <a:xfrm>
            <a:off x="6858000" y="1325880"/>
            <a:ext cx="4785055" cy="365760"/>
          </a:xfrm>
          <a:prstGeom prst="rect">
            <a:avLst/>
          </a:prstGeom>
          <a:noFill/>
          <a:ln/>
        </p:spPr>
        <p:txBody>
          <a:bodyPr wrap="square" lIns="0" tIns="0" rIns="0" bIns="0" rtlCol="0" anchor="t"/>
          <a:lstStyle/>
          <a:p>
            <a:pPr indent="0" marL="0">
              <a:buNone/>
            </a:pPr>
            <a:r>
              <a:rPr lang="en-US" sz="1500" b="1" dirty="0">
                <a:solidFill>
                  <a:schemeClr val="accent3"/>
                </a:solidFill>
              </a:rPr>
              <a:t>Chandohasam 120M, free → constrained (Table 5)</a:t>
            </a:r>
            <a:endParaRPr lang="en-US" sz="1500" dirty="0"/>
          </a:p>
        </p:txBody>
      </p:sp>
      <p:sp>
        <p:nvSpPr>
          <p:cNvPr id="10" name="Shape 6"/>
          <p:cNvSpPr/>
          <p:nvPr/>
        </p:nvSpPr>
        <p:spPr>
          <a:xfrm>
            <a:off x="6858000" y="1783080"/>
            <a:ext cx="2301088" cy="1417320"/>
          </a:xfrm>
          <a:prstGeom prst="roundRect">
            <a:avLst>
              <a:gd name="adj" fmla="val 6452"/>
            </a:avLst>
          </a:prstGeom>
          <a:solidFill>
            <a:schemeClr val="bg2"/>
          </a:solidFill>
          <a:ln w="12700">
            <a:solidFill>
              <a:schemeClr val="bg2"/>
            </a:solidFill>
            <a:prstDash val="solid"/>
          </a:ln>
        </p:spPr>
      </p:sp>
      <p:sp>
        <p:nvSpPr>
          <p:cNvPr id="11" name="Text 7"/>
          <p:cNvSpPr txBox="1"/>
          <p:nvPr/>
        </p:nvSpPr>
        <p:spPr>
          <a:xfrm>
            <a:off x="6995160" y="1892808"/>
            <a:ext cx="2026768" cy="779526"/>
          </a:xfrm>
          <a:prstGeom prst="rect">
            <a:avLst/>
          </a:prstGeom>
          <a:noFill/>
          <a:ln/>
        </p:spPr>
        <p:txBody>
          <a:bodyPr wrap="square" lIns="0" tIns="0" rIns="0" bIns="0" rtlCol="0" anchor="ctr"/>
          <a:lstStyle/>
          <a:p>
            <a:pPr algn="ctr" indent="0" marL="0">
              <a:buNone/>
            </a:pPr>
            <a:r>
              <a:rPr lang="en-US" sz="2000" b="1" dirty="0">
                <a:solidFill>
                  <a:schemeClr val="accent3"/>
                </a:solidFill>
                <a:latin typeface="Cambria" pitchFamily="34" charset="0"/>
                <a:ea typeface="Cambria" pitchFamily="34" charset="-122"/>
                <a:cs typeface="Cambria" pitchFamily="34" charset="-120"/>
              </a:rPr>
              <a:t>17.9% → 36.9%</a:t>
            </a:r>
            <a:endParaRPr lang="en-US" sz="2000" dirty="0"/>
          </a:p>
        </p:txBody>
      </p:sp>
      <p:sp>
        <p:nvSpPr>
          <p:cNvPr id="12" name="Text 8"/>
          <p:cNvSpPr txBox="1"/>
          <p:nvPr/>
        </p:nvSpPr>
        <p:spPr>
          <a:xfrm>
            <a:off x="6995160" y="2605126"/>
            <a:ext cx="2026768" cy="566928"/>
          </a:xfrm>
          <a:prstGeom prst="rect">
            <a:avLst/>
          </a:prstGeom>
          <a:noFill/>
          <a:ln/>
        </p:spPr>
        <p:txBody>
          <a:bodyPr wrap="square" lIns="0" tIns="0" rIns="0" bIns="0" rtlCol="0" anchor="t"/>
          <a:lstStyle/>
          <a:p>
            <a:pPr algn="ctr" indent="0" marL="0">
              <a:buNone/>
            </a:pPr>
            <a:r>
              <a:rPr lang="en-US" sz="1150" dirty="0">
                <a:solidFill>
                  <a:schemeClr val="tx2"/>
                </a:solidFill>
              </a:rPr>
              <a:t>attested words: the constraint adds vocabulary instead of removing it</a:t>
            </a:r>
            <a:endParaRPr lang="en-US" sz="1150" dirty="0"/>
          </a:p>
        </p:txBody>
      </p:sp>
      <p:sp>
        <p:nvSpPr>
          <p:cNvPr id="13" name="Shape 9"/>
          <p:cNvSpPr/>
          <p:nvPr/>
        </p:nvSpPr>
        <p:spPr>
          <a:xfrm>
            <a:off x="9341968" y="1783080"/>
            <a:ext cx="2301088" cy="1417320"/>
          </a:xfrm>
          <a:prstGeom prst="roundRect">
            <a:avLst>
              <a:gd name="adj" fmla="val 6452"/>
            </a:avLst>
          </a:prstGeom>
          <a:solidFill>
            <a:schemeClr val="bg2"/>
          </a:solidFill>
          <a:ln w="12700">
            <a:solidFill>
              <a:schemeClr val="bg2"/>
            </a:solidFill>
            <a:prstDash val="solid"/>
          </a:ln>
        </p:spPr>
      </p:sp>
      <p:sp>
        <p:nvSpPr>
          <p:cNvPr id="14" name="Text 10"/>
          <p:cNvSpPr txBox="1"/>
          <p:nvPr/>
        </p:nvSpPr>
        <p:spPr>
          <a:xfrm>
            <a:off x="9479128" y="1892808"/>
            <a:ext cx="2026768" cy="779526"/>
          </a:xfrm>
          <a:prstGeom prst="rect">
            <a:avLst/>
          </a:prstGeom>
          <a:noFill/>
          <a:ln/>
        </p:spPr>
        <p:txBody>
          <a:bodyPr wrap="square" lIns="0" tIns="0" rIns="0" bIns="0" rtlCol="0" anchor="ctr"/>
          <a:lstStyle/>
          <a:p>
            <a:pPr algn="ctr" indent="0" marL="0">
              <a:buNone/>
            </a:pPr>
            <a:r>
              <a:rPr lang="en-US" sz="2000" b="1" dirty="0">
                <a:solidFill>
                  <a:schemeClr val="accent3"/>
                </a:solidFill>
                <a:latin typeface="Cambria" pitchFamily="34" charset="0"/>
                <a:ea typeface="Cambria" pitchFamily="34" charset="-122"/>
                <a:cs typeface="Cambria" pitchFamily="34" charset="-120"/>
              </a:rPr>
              <a:t>183 → 757</a:t>
            </a:r>
            <a:endParaRPr lang="en-US" sz="2000" dirty="0"/>
          </a:p>
        </p:txBody>
      </p:sp>
      <p:sp>
        <p:nvSpPr>
          <p:cNvPr id="15" name="Text 11"/>
          <p:cNvSpPr txBox="1"/>
          <p:nvPr/>
        </p:nvSpPr>
        <p:spPr>
          <a:xfrm>
            <a:off x="9479128" y="2605126"/>
            <a:ext cx="2026768" cy="566928"/>
          </a:xfrm>
          <a:prstGeom prst="rect">
            <a:avLst/>
          </a:prstGeom>
          <a:noFill/>
          <a:ln/>
        </p:spPr>
        <p:txBody>
          <a:bodyPr wrap="square" lIns="0" tIns="0" rIns="0" bIns="0" rtlCol="0" anchor="t"/>
          <a:lstStyle/>
          <a:p>
            <a:pPr algn="ctr" indent="0" marL="0">
              <a:buNone/>
            </a:pPr>
            <a:r>
              <a:rPr lang="en-US" sz="1150" dirty="0">
                <a:solidFill>
                  <a:schemeClr val="tx2"/>
                </a:solidFill>
              </a:rPr>
              <a:t>distinct attested words; the subword models reach 323–375</a:t>
            </a:r>
            <a:endParaRPr lang="en-US" sz="1150" dirty="0"/>
          </a:p>
        </p:txBody>
      </p:sp>
      <p:sp>
        <p:nvSpPr>
          <p:cNvPr id="16" name="Shape 12"/>
          <p:cNvSpPr/>
          <p:nvPr/>
        </p:nvSpPr>
        <p:spPr>
          <a:xfrm>
            <a:off x="6858000" y="3383280"/>
            <a:ext cx="2301088" cy="1417320"/>
          </a:xfrm>
          <a:prstGeom prst="roundRect">
            <a:avLst>
              <a:gd name="adj" fmla="val 6452"/>
            </a:avLst>
          </a:prstGeom>
          <a:solidFill>
            <a:schemeClr val="bg2"/>
          </a:solidFill>
          <a:ln w="12700">
            <a:solidFill>
              <a:schemeClr val="bg2"/>
            </a:solidFill>
            <a:prstDash val="solid"/>
          </a:ln>
        </p:spPr>
      </p:sp>
      <p:sp>
        <p:nvSpPr>
          <p:cNvPr id="17" name="Text 13"/>
          <p:cNvSpPr txBox="1"/>
          <p:nvPr/>
        </p:nvSpPr>
        <p:spPr>
          <a:xfrm>
            <a:off x="6995160" y="3493008"/>
            <a:ext cx="2026768" cy="779526"/>
          </a:xfrm>
          <a:prstGeom prst="rect">
            <a:avLst/>
          </a:prstGeom>
          <a:noFill/>
          <a:ln/>
        </p:spPr>
        <p:txBody>
          <a:bodyPr wrap="square" lIns="0" tIns="0" rIns="0" bIns="0" rtlCol="0" anchor="ctr"/>
          <a:lstStyle/>
          <a:p>
            <a:pPr algn="ctr" indent="0" marL="0">
              <a:buNone/>
            </a:pPr>
            <a:r>
              <a:rPr lang="en-US" sz="2000" b="1" dirty="0">
                <a:solidFill>
                  <a:schemeClr val="accent3"/>
                </a:solidFill>
                <a:latin typeface="Cambria" pitchFamily="34" charset="0"/>
                <a:ea typeface="Cambria" pitchFamily="34" charset="-122"/>
                <a:cs typeface="Cambria" pitchFamily="34" charset="-120"/>
              </a:rPr>
              <a:t>0.006 → 0.035</a:t>
            </a:r>
            <a:endParaRPr lang="en-US" sz="2000" dirty="0"/>
          </a:p>
        </p:txBody>
      </p:sp>
      <p:sp>
        <p:nvSpPr>
          <p:cNvPr id="18" name="Text 14"/>
          <p:cNvSpPr txBox="1"/>
          <p:nvPr/>
        </p:nvSpPr>
        <p:spPr>
          <a:xfrm>
            <a:off x="6995160" y="4205326"/>
            <a:ext cx="2026768" cy="566928"/>
          </a:xfrm>
          <a:prstGeom prst="rect">
            <a:avLst/>
          </a:prstGeom>
          <a:noFill/>
          <a:ln/>
        </p:spPr>
        <p:txBody>
          <a:bodyPr wrap="square" lIns="0" tIns="0" rIns="0" bIns="0" rtlCol="0" anchor="t"/>
          <a:lstStyle/>
          <a:p>
            <a:pPr algn="ctr" indent="0" marL="0">
              <a:buNone/>
            </a:pPr>
            <a:r>
              <a:rPr lang="en-US" sz="1150" dirty="0">
                <a:solidFill>
                  <a:schemeClr val="tx2"/>
                </a:solidFill>
              </a:rPr>
              <a:t>MAUVE against real verse of the same metre mix (real: 0.965)</a:t>
            </a:r>
            <a:endParaRPr lang="en-US" sz="1150" dirty="0"/>
          </a:p>
        </p:txBody>
      </p:sp>
      <p:sp>
        <p:nvSpPr>
          <p:cNvPr id="19" name="Shape 15"/>
          <p:cNvSpPr/>
          <p:nvPr/>
        </p:nvSpPr>
        <p:spPr>
          <a:xfrm>
            <a:off x="9341968" y="3383280"/>
            <a:ext cx="2301088" cy="1417320"/>
          </a:xfrm>
          <a:prstGeom prst="roundRect">
            <a:avLst>
              <a:gd name="adj" fmla="val 6452"/>
            </a:avLst>
          </a:prstGeom>
          <a:solidFill>
            <a:schemeClr val="bg2"/>
          </a:solidFill>
          <a:ln w="12700">
            <a:solidFill>
              <a:schemeClr val="bg2"/>
            </a:solidFill>
            <a:prstDash val="solid"/>
          </a:ln>
        </p:spPr>
      </p:sp>
      <p:sp>
        <p:nvSpPr>
          <p:cNvPr id="20" name="Text 16"/>
          <p:cNvSpPr txBox="1"/>
          <p:nvPr/>
        </p:nvSpPr>
        <p:spPr>
          <a:xfrm>
            <a:off x="9479128" y="3493008"/>
            <a:ext cx="2026768" cy="779526"/>
          </a:xfrm>
          <a:prstGeom prst="rect">
            <a:avLst/>
          </a:prstGeom>
          <a:noFill/>
          <a:ln/>
        </p:spPr>
        <p:txBody>
          <a:bodyPr wrap="square" lIns="0" tIns="0" rIns="0" bIns="0" rtlCol="0" anchor="ctr"/>
          <a:lstStyle/>
          <a:p>
            <a:pPr algn="ctr" indent="0" marL="0">
              <a:buNone/>
            </a:pPr>
            <a:r>
              <a:rPr lang="en-US" sz="2000" b="1" dirty="0">
                <a:solidFill>
                  <a:schemeClr val="accent2"/>
                </a:solidFill>
                <a:latin typeface="Cambria" pitchFamily="34" charset="0"/>
                <a:ea typeface="Cambria" pitchFamily="34" charset="-122"/>
                <a:cs typeface="Cambria" pitchFamily="34" charset="-120"/>
              </a:rPr>
              <a:t>19.7% · 62.9%</a:t>
            </a:r>
            <a:endParaRPr lang="en-US" sz="2000" dirty="0"/>
          </a:p>
        </p:txBody>
      </p:sp>
      <p:sp>
        <p:nvSpPr>
          <p:cNvPr id="21" name="Text 17"/>
          <p:cNvSpPr txBox="1"/>
          <p:nvPr/>
        </p:nvSpPr>
        <p:spPr>
          <a:xfrm>
            <a:off x="9479128" y="4205326"/>
            <a:ext cx="2026768" cy="566928"/>
          </a:xfrm>
          <a:prstGeom prst="rect">
            <a:avLst/>
          </a:prstGeom>
          <a:noFill/>
          <a:ln/>
        </p:spPr>
        <p:txBody>
          <a:bodyPr wrap="square" lIns="0" tIns="0" rIns="0" bIns="0" rtlCol="0" anchor="t"/>
          <a:lstStyle/>
          <a:p>
            <a:pPr algn="ctr" indent="0" marL="0">
              <a:buNone/>
            </a:pPr>
            <a:r>
              <a:rPr lang="en-US" sz="1150" dirty="0">
                <a:solidFill>
                  <a:schemeClr val="tx2"/>
                </a:solidFill>
              </a:rPr>
              <a:t>single-akṣara words (real 5.6%) and obscure poems (real 10.0%): no verse in pretraining</a:t>
            </a:r>
            <a:endParaRPr lang="en-US" sz="1150" dirty="0"/>
          </a:p>
        </p:txBody>
      </p:sp>
      <p:sp>
        <p:nvSpPr>
          <p:cNvPr id="22" name="card Reading"/>
          <p:cNvSpPr/>
          <p:nvPr/>
        </p:nvSpPr>
        <p:spPr>
          <a:xfrm>
            <a:off x="6858000" y="4983480"/>
            <a:ext cx="4785055" cy="1280160"/>
          </a:xfrm>
          <a:prstGeom prst="roundRect">
            <a:avLst>
              <a:gd name="adj" fmla="val 7143"/>
            </a:avLst>
          </a:prstGeom>
          <a:solidFill>
            <a:schemeClr val="bg2"/>
          </a:solidFill>
          <a:ln w="12700">
            <a:solidFill>
              <a:schemeClr val="bg2"/>
            </a:solidFill>
            <a:prstDash val="solid"/>
          </a:ln>
        </p:spPr>
      </p:sp>
      <p:sp>
        <p:nvSpPr>
          <p:cNvPr id="23" name="Text 19"/>
          <p:cNvSpPr txBox="1"/>
          <p:nvPr/>
        </p:nvSpPr>
        <p:spPr>
          <a:xfrm>
            <a:off x="7059168" y="5148072"/>
            <a:ext cx="4401007" cy="384048"/>
          </a:xfrm>
          <a:prstGeom prst="rect">
            <a:avLst/>
          </a:prstGeom>
          <a:noFill/>
          <a:ln/>
        </p:spPr>
        <p:txBody>
          <a:bodyPr wrap="square" lIns="0" tIns="0" rIns="0" bIns="0" rtlCol="0" anchor="t"/>
          <a:lstStyle/>
          <a:p>
            <a:pPr indent="0" marL="0">
              <a:buNone/>
            </a:pPr>
            <a:r>
              <a:rPr lang="en-US" sz="1500" b="1" dirty="0">
                <a:solidFill>
                  <a:schemeClr val="accent1"/>
                </a:solidFill>
              </a:rPr>
              <a:t>Reading</a:t>
            </a:r>
            <a:endParaRPr lang="en-US" sz="1500" dirty="0"/>
          </a:p>
        </p:txBody>
      </p:sp>
      <p:sp>
        <p:nvSpPr>
          <p:cNvPr id="24" name="Text 20"/>
          <p:cNvSpPr txBox="1"/>
          <p:nvPr/>
        </p:nvSpPr>
        <p:spPr>
          <a:xfrm>
            <a:off x="7059168" y="5568696"/>
            <a:ext cx="4401007" cy="585216"/>
          </a:xfrm>
          <a:prstGeom prst="rect">
            <a:avLst/>
          </a:prstGeom>
          <a:noFill/>
          <a:ln/>
        </p:spPr>
        <p:txBody>
          <a:bodyPr wrap="square" lIns="0" tIns="0" rIns="0" bIns="0" rtlCol="0" anchor="t"/>
          <a:lstStyle/>
          <a:p>
            <a:pPr indent="0" marL="0">
              <a:buNone/>
            </a:pPr>
            <a:r>
              <a:rPr lang="en-US" sz="1250" dirty="0">
                <a:solidFill>
                  <a:schemeClr val="tx1"/>
                </a:solidFill>
              </a:rPr>
              <a:t>One token per akṣara lets the constraint act on whole syllables, so masking removes options, not words. Form is free; what remains is to teach the model verse.</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Why poetry needs its own metrics, for sound and for sense</a:t>
            </a:r>
            <a:endParaRPr lang="en-US" sz="3200" dirty="0"/>
          </a:p>
        </p:txBody>
      </p:sp>
      <p:sp>
        <p:nvSpPr>
          <p:cNvPr id="4" name="Shape 1"/>
          <p:cNvSpPr/>
          <p:nvPr/>
        </p:nvSpPr>
        <p:spPr>
          <a:xfrm>
            <a:off x="548640" y="1325880"/>
            <a:ext cx="11094415" cy="777240"/>
          </a:xfrm>
          <a:prstGeom prst="roundRect">
            <a:avLst>
              <a:gd name="adj" fmla="val 11765"/>
            </a:avLst>
          </a:prstGeom>
          <a:solidFill>
            <a:schemeClr val="accent1"/>
          </a:solidFill>
          <a:ln w="12700">
            <a:solidFill>
              <a:schemeClr val="accent1"/>
            </a:solidFill>
            <a:prstDash val="solid"/>
          </a:ln>
        </p:spPr>
      </p:sp>
      <p:sp>
        <p:nvSpPr>
          <p:cNvPr id="5" name="Text 2"/>
          <p:cNvSpPr txBox="1"/>
          <p:nvPr/>
        </p:nvSpPr>
        <p:spPr>
          <a:xfrm>
            <a:off x="822960" y="1325880"/>
            <a:ext cx="10545775" cy="777240"/>
          </a:xfrm>
          <a:prstGeom prst="rect">
            <a:avLst/>
          </a:prstGeom>
          <a:noFill/>
          <a:ln/>
        </p:spPr>
        <p:txBody>
          <a:bodyPr wrap="square" lIns="0" tIns="0" rIns="0" bIns="0" rtlCol="0" anchor="ctr"/>
          <a:lstStyle/>
          <a:p>
            <a:pPr indent="0" marL="0">
              <a:buNone/>
            </a:pPr>
            <a:r>
              <a:rPr lang="en-US" sz="1600" dirty="0">
                <a:solidFill>
                  <a:schemeClr val="bg1"/>
                </a:solidFill>
              </a:rPr>
              <a:t>A poem can pass the controller and still be noise. Validity is binary; quality needs graded, deterministic measures, and meaning needs a metric of its own.</a:t>
            </a:r>
            <a:endParaRPr lang="en-US" sz="1600" dirty="0"/>
          </a:p>
        </p:txBody>
      </p:sp>
      <p:sp>
        <p:nvSpPr>
          <p:cNvPr id="6" name="card śabdaṃ: deterministic, from the treatise"/>
          <p:cNvSpPr/>
          <p:nvPr/>
        </p:nvSpPr>
        <p:spPr>
          <a:xfrm>
            <a:off x="548640" y="2331720"/>
            <a:ext cx="5410048" cy="3931920"/>
          </a:xfrm>
          <a:prstGeom prst="roundRect">
            <a:avLst>
              <a:gd name="adj" fmla="val 2326"/>
            </a:avLst>
          </a:prstGeom>
          <a:solidFill>
            <a:schemeClr val="bg2"/>
          </a:solidFill>
          <a:ln w="12700">
            <a:solidFill>
              <a:schemeClr val="bg2"/>
            </a:solidFill>
            <a:prstDash val="solid"/>
          </a:ln>
        </p:spPr>
      </p:sp>
      <p:sp>
        <p:nvSpPr>
          <p:cNvPr id="7" name="Text 4"/>
          <p:cNvSpPr txBox="1"/>
          <p:nvPr/>
        </p:nvSpPr>
        <p:spPr>
          <a:xfrm>
            <a:off x="749808" y="2496312"/>
            <a:ext cx="5026000" cy="384048"/>
          </a:xfrm>
          <a:prstGeom prst="rect">
            <a:avLst/>
          </a:prstGeom>
          <a:noFill/>
          <a:ln/>
        </p:spPr>
        <p:txBody>
          <a:bodyPr wrap="square" lIns="0" tIns="0" rIns="0" bIns="0" rtlCol="0" anchor="t"/>
          <a:lstStyle/>
          <a:p>
            <a:pPr indent="0" marL="0">
              <a:buNone/>
            </a:pPr>
            <a:r>
              <a:rPr lang="en-US" sz="1600" b="1" dirty="0">
                <a:solidFill>
                  <a:schemeClr val="accent1"/>
                </a:solidFill>
              </a:rPr>
              <a:t>śabdaṃ: deterministic, from the treatise</a:t>
            </a:r>
            <a:endParaRPr lang="en-US" sz="1600" dirty="0"/>
          </a:p>
        </p:txBody>
      </p:sp>
      <p:sp>
        <p:nvSpPr>
          <p:cNvPr id="8" name="Text 5"/>
          <p:cNvSpPr txBox="1"/>
          <p:nvPr/>
        </p:nvSpPr>
        <p:spPr>
          <a:xfrm>
            <a:off x="749808" y="2916936"/>
            <a:ext cx="5026000" cy="3236976"/>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accent1"/>
                </a:solidFill>
              </a:rPr>
              <a:t>Source: </a:t>
            </a:r>
            <a:r>
              <a:rPr lang="en-US" sz="1300" dirty="0">
                <a:solidFill>
                  <a:schemeClr val="tx1"/>
                </a:solidFill>
              </a:rPr>
              <a:t>Kāvyālaṅkārasaṅgrahamu (16th c., Bhattumurthy) codifies anuprāsa, mādhurya, ojas, prasāda and the śabdālaṅkāras</a:t>
            </a:r>
            <a:endParaRPr lang="en-US" sz="1300" dirty="0"/>
          </a:p>
          <a:p>
            <a:pPr marL="342900" indent="-342900">
              <a:spcAft>
                <a:spcPts val="500"/>
              </a:spcAft>
              <a:buSzPct val="100000"/>
              <a:buChar char="•"/>
            </a:pPr>
            <a:r>
              <a:rPr lang="en-US" sz="1300" b="1" dirty="0">
                <a:solidFill>
                  <a:schemeClr val="accent1"/>
                </a:solidFill>
              </a:rPr>
              <a:t>caṃdomiti: </a:t>
            </a:r>
            <a:r>
              <a:rPr lang="en-US" sz="1300" dirty="0">
                <a:solidFill>
                  <a:schemeClr val="tx1"/>
                </a:solidFill>
              </a:rPr>
              <a:t>a graded distance to the nearest valid metre, with yati and prāsa edits, where the controller only says yes or no</a:t>
            </a:r>
            <a:endParaRPr lang="en-US" sz="1300" dirty="0"/>
          </a:p>
          <a:p>
            <a:pPr marL="342900" indent="-342900">
              <a:spcAft>
                <a:spcPts val="500"/>
              </a:spcAft>
              <a:buSzPct val="100000"/>
              <a:buChar char="•"/>
            </a:pPr>
            <a:r>
              <a:rPr lang="en-US" sz="1300" b="1" dirty="0">
                <a:solidFill>
                  <a:schemeClr val="accent1"/>
                </a:solidFill>
              </a:rPr>
              <a:t>śabdālaṅkāra identifiers: </a:t>
            </a:r>
            <a:r>
              <a:rPr lang="en-US" sz="1300" dirty="0">
                <a:solidFill>
                  <a:schemeClr val="tx1"/>
                </a:solidFill>
              </a:rPr>
              <a:t>adapted from the Sanskrit yamaka and anuprāsa identifiers; Telugu’s alpha-syllabary allows it</a:t>
            </a:r>
            <a:endParaRPr lang="en-US" sz="1300" dirty="0"/>
          </a:p>
          <a:p>
            <a:pPr marL="342900" indent="-342900">
              <a:spcAft>
                <a:spcPts val="500"/>
              </a:spcAft>
              <a:buSzPct val="100000"/>
              <a:buChar char="•"/>
            </a:pPr>
            <a:r>
              <a:rPr lang="en-US" sz="1300" b="1" dirty="0">
                <a:solidFill>
                  <a:schemeClr val="accent1"/>
                </a:solidFill>
              </a:rPr>
              <a:t>Real verse as the yardstick: </a:t>
            </a:r>
            <a:r>
              <a:rPr lang="en-US" sz="1300" dirty="0">
                <a:solidFill>
                  <a:schemeClr val="tx1"/>
                </a:solidFill>
              </a:rPr>
              <a:t>only 2.7% strong anuprāsa, 10.0% obscure</a:t>
            </a:r>
            <a:endParaRPr lang="en-US" sz="1300" dirty="0"/>
          </a:p>
        </p:txBody>
      </p:sp>
      <p:sp>
        <p:nvSpPr>
          <p:cNvPr id="9" name="card arthaṃ: the missing metric"/>
          <p:cNvSpPr/>
          <p:nvPr/>
        </p:nvSpPr>
        <p:spPr>
          <a:xfrm>
            <a:off x="6233008" y="2331720"/>
            <a:ext cx="5410048" cy="3931920"/>
          </a:xfrm>
          <a:prstGeom prst="roundRect">
            <a:avLst>
              <a:gd name="adj" fmla="val 2326"/>
            </a:avLst>
          </a:prstGeom>
          <a:solidFill>
            <a:schemeClr val="bg2"/>
          </a:solidFill>
          <a:ln w="12700">
            <a:solidFill>
              <a:schemeClr val="bg2"/>
            </a:solidFill>
            <a:prstDash val="solid"/>
          </a:ln>
        </p:spPr>
      </p:sp>
      <p:sp>
        <p:nvSpPr>
          <p:cNvPr id="10" name="Text 7"/>
          <p:cNvSpPr txBox="1"/>
          <p:nvPr/>
        </p:nvSpPr>
        <p:spPr>
          <a:xfrm>
            <a:off x="6434176" y="2496312"/>
            <a:ext cx="5026000" cy="384048"/>
          </a:xfrm>
          <a:prstGeom prst="rect">
            <a:avLst/>
          </a:prstGeom>
          <a:noFill/>
          <a:ln/>
        </p:spPr>
        <p:txBody>
          <a:bodyPr wrap="square" lIns="0" tIns="0" rIns="0" bIns="0" rtlCol="0" anchor="t"/>
          <a:lstStyle/>
          <a:p>
            <a:pPr indent="0" marL="0">
              <a:buNone/>
            </a:pPr>
            <a:r>
              <a:rPr lang="en-US" sz="1600" b="1" dirty="0">
                <a:solidFill>
                  <a:schemeClr val="accent3"/>
                </a:solidFill>
              </a:rPr>
              <a:t>arthaṃ: the missing metric</a:t>
            </a:r>
            <a:endParaRPr lang="en-US" sz="1600" dirty="0"/>
          </a:p>
        </p:txBody>
      </p:sp>
      <p:sp>
        <p:nvSpPr>
          <p:cNvPr id="11" name="Text 8"/>
          <p:cNvSpPr txBox="1"/>
          <p:nvPr/>
        </p:nvSpPr>
        <p:spPr>
          <a:xfrm>
            <a:off x="6434176" y="2916936"/>
            <a:ext cx="5026000" cy="3236976"/>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accent3"/>
                </a:solidFill>
              </a:rPr>
              <a:t>Nothing existed: </a:t>
            </a:r>
            <a:r>
              <a:rPr lang="en-US" sz="1300" dirty="0">
                <a:solidFill>
                  <a:schemeClr val="tx1"/>
                </a:solidFill>
              </a:rPr>
              <a:t>Sanskrit systems fell back on human ratings (2.1–2.7 of 5); MAUVE is built for human-vs-AI detection and unvalidated on classical poetry</a:t>
            </a:r>
            <a:endParaRPr lang="en-US" sz="1300" dirty="0"/>
          </a:p>
          <a:p>
            <a:pPr marL="342900" indent="-342900">
              <a:spcAft>
                <a:spcPts val="500"/>
              </a:spcAft>
              <a:buSzPct val="100000"/>
              <a:buChar char="•"/>
            </a:pPr>
            <a:r>
              <a:rPr lang="en-US" sz="1300" b="1" dirty="0">
                <a:solidFill>
                  <a:schemeClr val="accent3"/>
                </a:solidFill>
              </a:rPr>
              <a:t>Semantic coherence: </a:t>
            </a:r>
            <a:r>
              <a:rPr lang="en-US" sz="1300" dirty="0">
                <a:solidFill>
                  <a:schemeClr val="tx1"/>
                </a:solidFill>
              </a:rPr>
              <a:t>to be modelled on expert human acceptability judgements; it cannot be reduced to formal constraints, so it is evaluated apart from the controller</a:t>
            </a:r>
            <a:endParaRPr lang="en-US" sz="1300" dirty="0"/>
          </a:p>
          <a:p>
            <a:pPr marL="342900" indent="-342900">
              <a:spcAft>
                <a:spcPts val="500"/>
              </a:spcAft>
              <a:buSzPct val="100000"/>
              <a:buChar char="•"/>
            </a:pPr>
            <a:r>
              <a:rPr lang="en-US" sz="1300" b="1" dirty="0">
                <a:solidFill>
                  <a:schemeClr val="accent3"/>
                </a:solidFill>
              </a:rPr>
              <a:t>Word resolution: </a:t>
            </a:r>
            <a:r>
              <a:rPr lang="en-US" sz="1300" dirty="0">
                <a:solidFill>
                  <a:schemeClr val="tx1"/>
                </a:solidFill>
              </a:rPr>
              <a:t>does each string resolve to a Telugu word through a macro-dictionary with sandhi and samāsa splitting?</a:t>
            </a:r>
            <a:endParaRPr lang="en-US" sz="1300" dirty="0"/>
          </a:p>
          <a:p>
            <a:pPr marL="342900" indent="-342900">
              <a:spcAft>
                <a:spcPts val="500"/>
              </a:spcAft>
              <a:buSzPct val="100000"/>
              <a:buChar char="•"/>
            </a:pPr>
            <a:r>
              <a:rPr lang="en-US" sz="1300" b="1" dirty="0">
                <a:solidFill>
                  <a:schemeClr val="accent3"/>
                </a:solidFill>
              </a:rPr>
              <a:t>arthālaṅkāras </a:t>
            </a:r>
            <a:r>
              <a:rPr lang="en-US" sz="1300" dirty="0">
                <a:solidFill>
                  <a:schemeClr val="tx1"/>
                </a:solidFill>
              </a:rPr>
              <a:t>are outside the scope: inherently semantic, not deterministic</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poetry evaluation suite: four sound qualities</a:t>
            </a:r>
            <a:endParaRPr lang="en-US" sz="3200" dirty="0"/>
          </a:p>
        </p:txBody>
      </p:sp>
      <p:sp>
        <p:nvSpPr>
          <p:cNvPr id="4" name="Shape 1"/>
          <p:cNvSpPr/>
          <p:nvPr/>
        </p:nvSpPr>
        <p:spPr>
          <a:xfrm>
            <a:off x="548640" y="1325880"/>
            <a:ext cx="5410048" cy="2354580"/>
          </a:xfrm>
          <a:prstGeom prst="roundRect">
            <a:avLst>
              <a:gd name="adj" fmla="val 3883"/>
            </a:avLst>
          </a:prstGeom>
          <a:solidFill>
            <a:schemeClr val="bg2"/>
          </a:solidFill>
          <a:ln w="12700">
            <a:solidFill>
              <a:schemeClr val="bg2"/>
            </a:solidFill>
            <a:prstDash val="solid"/>
          </a:ln>
        </p:spPr>
      </p:sp>
      <p:sp>
        <p:nvSpPr>
          <p:cNvPr id="5" name="Text 2"/>
          <p:cNvSpPr txBox="1"/>
          <p:nvPr/>
        </p:nvSpPr>
        <p:spPr>
          <a:xfrm>
            <a:off x="749808" y="1435608"/>
            <a:ext cx="5007712" cy="347472"/>
          </a:xfrm>
          <a:prstGeom prst="rect">
            <a:avLst/>
          </a:prstGeom>
          <a:noFill/>
          <a:ln/>
        </p:spPr>
        <p:txBody>
          <a:bodyPr wrap="square" lIns="0" tIns="0" rIns="0" bIns="0" rtlCol="0" anchor="t"/>
          <a:lstStyle/>
          <a:p>
            <a:pPr indent="0" marL="0">
              <a:buNone/>
            </a:pPr>
            <a:r>
              <a:rPr lang="en-US" sz="1600" b="1" dirty="0">
                <a:solidFill>
                  <a:schemeClr val="accent1"/>
                </a:solidFill>
              </a:rPr>
              <a:t>anuprāsa · alliteration</a:t>
            </a:r>
            <a:endParaRPr lang="en-US" sz="1600" dirty="0"/>
          </a:p>
        </p:txBody>
      </p:sp>
      <p:sp>
        <p:nvSpPr>
          <p:cNvPr id="6" name="Text 3"/>
          <p:cNvSpPr txBox="1"/>
          <p:nvPr/>
        </p:nvSpPr>
        <p:spPr>
          <a:xfrm>
            <a:off x="749808" y="1783080"/>
            <a:ext cx="5007712" cy="365760"/>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z = (A − E) / √V</a:t>
            </a:r>
            <a:endParaRPr lang="en-US" sz="1500" dirty="0"/>
          </a:p>
        </p:txBody>
      </p:sp>
      <p:sp>
        <p:nvSpPr>
          <p:cNvPr id="7" name="Text 4"/>
          <p:cNvSpPr txBox="1"/>
          <p:nvPr/>
        </p:nvSpPr>
        <p:spPr>
          <a:xfrm>
            <a:off x="749808" y="2194560"/>
            <a:ext cx="5007712" cy="457200"/>
          </a:xfrm>
          <a:prstGeom prst="rect">
            <a:avLst/>
          </a:prstGeom>
          <a:noFill/>
          <a:ln/>
        </p:spPr>
        <p:txBody>
          <a:bodyPr wrap="square" lIns="0" tIns="0" rIns="0" bIns="0" rtlCol="0" anchor="t"/>
          <a:lstStyle/>
          <a:p>
            <a:pPr indent="0" marL="0">
              <a:buNone/>
            </a:pPr>
            <a:r>
              <a:rPr lang="en-US" sz="1250" dirty="0">
                <a:solidFill>
                  <a:schemeClr val="tx1"/>
                </a:solidFill>
              </a:rPr>
              <a:t>Repeated consonant sounds across different akṣaras within a line.</a:t>
            </a:r>
            <a:endParaRPr lang="en-US" sz="1250" dirty="0"/>
          </a:p>
        </p:txBody>
      </p:sp>
      <p:sp>
        <p:nvSpPr>
          <p:cNvPr id="8" name="Text 5"/>
          <p:cNvSpPr txBox="1"/>
          <p:nvPr/>
        </p:nvSpPr>
        <p:spPr>
          <a:xfrm>
            <a:off x="749808" y="2651760"/>
            <a:ext cx="5007712" cy="457200"/>
          </a:xfrm>
          <a:prstGeom prst="rect">
            <a:avLst/>
          </a:prstGeom>
          <a:noFill/>
          <a:ln/>
        </p:spPr>
        <p:txBody>
          <a:bodyPr wrap="square" lIns="0" tIns="0" rIns="0" bIns="0" rtlCol="0" anchor="t"/>
          <a:lstStyle/>
          <a:p>
            <a:pPr indent="0" marL="0">
              <a:buNone/>
            </a:pPr>
            <a:r>
              <a:rPr lang="en-US" sz="1200" i="1" dirty="0">
                <a:solidFill>
                  <a:schemeClr val="tx2"/>
                </a:solidFill>
              </a:rPr>
              <a:t>A observed same-sound pairs; E expected under corpus unigram frequencies; V chance variance</a:t>
            </a:r>
            <a:endParaRPr lang="en-US" sz="1200" dirty="0"/>
          </a:p>
        </p:txBody>
      </p:sp>
      <p:sp>
        <p:nvSpPr>
          <p:cNvPr id="9" name="Text 6"/>
          <p:cNvSpPr txBox="1"/>
          <p:nvPr/>
        </p:nvSpPr>
        <p:spPr>
          <a:xfrm>
            <a:off x="749808" y="3108960"/>
            <a:ext cx="5007712" cy="480060"/>
          </a:xfrm>
          <a:prstGeom prst="rect">
            <a:avLst/>
          </a:prstGeom>
          <a:noFill/>
          <a:ln/>
        </p:spPr>
        <p:txBody>
          <a:bodyPr wrap="square" lIns="0" tIns="0" rIns="0" bIns="0" rtlCol="0" anchor="t"/>
          <a:lstStyle/>
          <a:p>
            <a:pPr indent="0" marL="0">
              <a:buNone/>
            </a:pPr>
            <a:r>
              <a:rPr lang="en-US" sz="1200" b="1" dirty="0">
                <a:solidFill>
                  <a:schemeClr val="accent3"/>
                </a:solidFill>
              </a:rPr>
              <a:t>Rubric: </a:t>
            </a:r>
            <a:r>
              <a:rPr lang="en-US" sz="1200" dirty="0">
                <a:solidFill>
                  <a:schemeClr val="tx1"/>
                </a:solidFill>
              </a:rPr>
              <a:t>Line levels at z = 1.645, 2.326, 3.090; poem score = mean line level</a:t>
            </a:r>
            <a:endParaRPr lang="en-US" sz="1200" dirty="0"/>
          </a:p>
        </p:txBody>
      </p:sp>
      <p:sp>
        <p:nvSpPr>
          <p:cNvPr id="10" name="Shape 7"/>
          <p:cNvSpPr/>
          <p:nvPr/>
        </p:nvSpPr>
        <p:spPr>
          <a:xfrm>
            <a:off x="6233008" y="1325880"/>
            <a:ext cx="5410048" cy="2354580"/>
          </a:xfrm>
          <a:prstGeom prst="roundRect">
            <a:avLst>
              <a:gd name="adj" fmla="val 3883"/>
            </a:avLst>
          </a:prstGeom>
          <a:solidFill>
            <a:schemeClr val="bg2"/>
          </a:solidFill>
          <a:ln w="12700">
            <a:solidFill>
              <a:schemeClr val="bg2"/>
            </a:solidFill>
            <a:prstDash val="solid"/>
          </a:ln>
        </p:spPr>
      </p:sp>
      <p:sp>
        <p:nvSpPr>
          <p:cNvPr id="11" name="Text 8"/>
          <p:cNvSpPr txBox="1"/>
          <p:nvPr/>
        </p:nvSpPr>
        <p:spPr>
          <a:xfrm>
            <a:off x="6434176" y="1435608"/>
            <a:ext cx="5007712" cy="347472"/>
          </a:xfrm>
          <a:prstGeom prst="rect">
            <a:avLst/>
          </a:prstGeom>
          <a:noFill/>
          <a:ln/>
        </p:spPr>
        <p:txBody>
          <a:bodyPr wrap="square" lIns="0" tIns="0" rIns="0" bIns="0" rtlCol="0" anchor="t"/>
          <a:lstStyle/>
          <a:p>
            <a:pPr indent="0" marL="0">
              <a:buNone/>
            </a:pPr>
            <a:r>
              <a:rPr lang="en-US" sz="1600" b="1" dirty="0">
                <a:solidFill>
                  <a:schemeClr val="accent1"/>
                </a:solidFill>
              </a:rPr>
              <a:t>mādhurya · euphony</a:t>
            </a:r>
            <a:endParaRPr lang="en-US" sz="1600" dirty="0"/>
          </a:p>
        </p:txBody>
      </p:sp>
      <p:sp>
        <p:nvSpPr>
          <p:cNvPr id="12" name="Text 9"/>
          <p:cNvSpPr txBox="1"/>
          <p:nvPr/>
        </p:nvSpPr>
        <p:spPr>
          <a:xfrm>
            <a:off x="6434176" y="1783080"/>
            <a:ext cx="5007712" cy="365760"/>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M = I − P</a:t>
            </a:r>
            <a:endParaRPr lang="en-US" sz="1500" dirty="0"/>
          </a:p>
        </p:txBody>
      </p:sp>
      <p:sp>
        <p:nvSpPr>
          <p:cNvPr id="13" name="Text 10"/>
          <p:cNvSpPr txBox="1"/>
          <p:nvPr/>
        </p:nvSpPr>
        <p:spPr>
          <a:xfrm>
            <a:off x="6434176" y="2194560"/>
            <a:ext cx="5007712" cy="457200"/>
          </a:xfrm>
          <a:prstGeom prst="rect">
            <a:avLst/>
          </a:prstGeom>
          <a:noFill/>
          <a:ln/>
        </p:spPr>
        <p:txBody>
          <a:bodyPr wrap="square" lIns="0" tIns="0" rIns="0" bIns="0" rtlCol="0" anchor="t"/>
          <a:lstStyle/>
          <a:p>
            <a:pPr indent="0" marL="0">
              <a:buNone/>
            </a:pPr>
            <a:r>
              <a:rPr lang="en-US" sz="1250" dirty="0">
                <a:solidFill>
                  <a:schemeClr val="tx1"/>
                </a:solidFill>
              </a:rPr>
              <a:t>Phonetic softness: the balance of soft and harsh akṣaras and the accumulation of harsh ones.</a:t>
            </a:r>
            <a:endParaRPr lang="en-US" sz="1250" dirty="0"/>
          </a:p>
        </p:txBody>
      </p:sp>
      <p:sp>
        <p:nvSpPr>
          <p:cNvPr id="14" name="Text 11"/>
          <p:cNvSpPr txBox="1"/>
          <p:nvPr/>
        </p:nvSpPr>
        <p:spPr>
          <a:xfrm>
            <a:off x="6434176" y="2651760"/>
            <a:ext cx="5007712" cy="457200"/>
          </a:xfrm>
          <a:prstGeom prst="rect">
            <a:avLst/>
          </a:prstGeom>
          <a:noFill/>
          <a:ln/>
        </p:spPr>
        <p:txBody>
          <a:bodyPr wrap="square" lIns="0" tIns="0" rIns="0" bIns="0" rtlCol="0" anchor="t"/>
          <a:lstStyle/>
          <a:p>
            <a:pPr indent="0" marL="0">
              <a:buNone/>
            </a:pPr>
            <a:r>
              <a:rPr lang="en-US" sz="1200" i="1" dirty="0">
                <a:solidFill>
                  <a:schemeClr val="tx2"/>
                </a:solidFill>
              </a:rPr>
              <a:t>I mean akṣara weight; P mean harsh-akṣara run load</a:t>
            </a:r>
            <a:endParaRPr lang="en-US" sz="1200" dirty="0"/>
          </a:p>
        </p:txBody>
      </p:sp>
      <p:sp>
        <p:nvSpPr>
          <p:cNvPr id="15" name="Text 12"/>
          <p:cNvSpPr txBox="1"/>
          <p:nvPr/>
        </p:nvSpPr>
        <p:spPr>
          <a:xfrm>
            <a:off x="6434176" y="3108960"/>
            <a:ext cx="5007712" cy="480060"/>
          </a:xfrm>
          <a:prstGeom prst="rect">
            <a:avLst/>
          </a:prstGeom>
          <a:noFill/>
          <a:ln/>
        </p:spPr>
        <p:txBody>
          <a:bodyPr wrap="square" lIns="0" tIns="0" rIns="0" bIns="0" rtlCol="0" anchor="t"/>
          <a:lstStyle/>
          <a:p>
            <a:pPr indent="0" marL="0">
              <a:buNone/>
            </a:pPr>
            <a:r>
              <a:rPr lang="en-US" sz="1200" b="1" dirty="0">
                <a:solidFill>
                  <a:schemeClr val="accent3"/>
                </a:solidFill>
              </a:rPr>
              <a:t>Rubric: </a:t>
            </a:r>
            <a:r>
              <a:rPr lang="en-US" sz="1200" dirty="0">
                <a:solidFill>
                  <a:schemeClr val="tx1"/>
                </a:solidFill>
              </a:rPr>
              <a:t>harsh &lt; −0.283 ≤ leaning harsh &lt; −0.123 ≤ balanced &lt; 0.049 ≤ leaning soft &lt; 0.156 ≤ soft</a:t>
            </a:r>
            <a:endParaRPr lang="en-US" sz="1200" dirty="0"/>
          </a:p>
        </p:txBody>
      </p:sp>
      <p:sp>
        <p:nvSpPr>
          <p:cNvPr id="16" name="Shape 13"/>
          <p:cNvSpPr/>
          <p:nvPr/>
        </p:nvSpPr>
        <p:spPr>
          <a:xfrm>
            <a:off x="548640" y="3909060"/>
            <a:ext cx="5410048" cy="2354580"/>
          </a:xfrm>
          <a:prstGeom prst="roundRect">
            <a:avLst>
              <a:gd name="adj" fmla="val 3883"/>
            </a:avLst>
          </a:prstGeom>
          <a:solidFill>
            <a:schemeClr val="bg2"/>
          </a:solidFill>
          <a:ln w="12700">
            <a:solidFill>
              <a:schemeClr val="bg2"/>
            </a:solidFill>
            <a:prstDash val="solid"/>
          </a:ln>
        </p:spPr>
      </p:sp>
      <p:sp>
        <p:nvSpPr>
          <p:cNvPr id="17" name="Text 14"/>
          <p:cNvSpPr txBox="1"/>
          <p:nvPr/>
        </p:nvSpPr>
        <p:spPr>
          <a:xfrm>
            <a:off x="749808" y="4018788"/>
            <a:ext cx="5007712" cy="347472"/>
          </a:xfrm>
          <a:prstGeom prst="rect">
            <a:avLst/>
          </a:prstGeom>
          <a:noFill/>
          <a:ln/>
        </p:spPr>
        <p:txBody>
          <a:bodyPr wrap="square" lIns="0" tIns="0" rIns="0" bIns="0" rtlCol="0" anchor="t"/>
          <a:lstStyle/>
          <a:p>
            <a:pPr indent="0" marL="0">
              <a:buNone/>
            </a:pPr>
            <a:r>
              <a:rPr lang="en-US" sz="1600" b="1" dirty="0">
                <a:solidFill>
                  <a:schemeClr val="accent1"/>
                </a:solidFill>
              </a:rPr>
              <a:t>ojas · lexical density</a:t>
            </a:r>
            <a:endParaRPr lang="en-US" sz="1600" dirty="0"/>
          </a:p>
        </p:txBody>
      </p:sp>
      <p:sp>
        <p:nvSpPr>
          <p:cNvPr id="18" name="Text 15"/>
          <p:cNvSpPr txBox="1"/>
          <p:nvPr/>
        </p:nvSpPr>
        <p:spPr>
          <a:xfrm>
            <a:off x="749808" y="4366260"/>
            <a:ext cx="5007712" cy="365760"/>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O = (W + J) / 2</a:t>
            </a:r>
            <a:endParaRPr lang="en-US" sz="1500" dirty="0"/>
          </a:p>
        </p:txBody>
      </p:sp>
      <p:sp>
        <p:nvSpPr>
          <p:cNvPr id="19" name="Text 16"/>
          <p:cNvSpPr txBox="1"/>
          <p:nvPr/>
        </p:nvSpPr>
        <p:spPr>
          <a:xfrm>
            <a:off x="749808" y="4777740"/>
            <a:ext cx="5007712" cy="457200"/>
          </a:xfrm>
          <a:prstGeom prst="rect">
            <a:avLst/>
          </a:prstGeom>
          <a:noFill/>
          <a:ln/>
        </p:spPr>
        <p:txBody>
          <a:bodyPr wrap="square" lIns="0" tIns="0" rIns="0" bIns="0" rtlCol="0" anchor="t"/>
          <a:lstStyle/>
          <a:p>
            <a:pPr indent="0" marL="0">
              <a:buNone/>
            </a:pPr>
            <a:r>
              <a:rPr lang="en-US" sz="1250" dirty="0">
                <a:solidFill>
                  <a:schemeClr val="tx1"/>
                </a:solidFill>
              </a:rPr>
              <a:t>Word and consonant clustering: word-bound akṣaras and conjunct-initial akṣaras.</a:t>
            </a:r>
            <a:endParaRPr lang="en-US" sz="1250" dirty="0"/>
          </a:p>
        </p:txBody>
      </p:sp>
      <p:sp>
        <p:nvSpPr>
          <p:cNvPr id="20" name="Text 17"/>
          <p:cNvSpPr txBox="1"/>
          <p:nvPr/>
        </p:nvSpPr>
        <p:spPr>
          <a:xfrm>
            <a:off x="749808" y="5234940"/>
            <a:ext cx="5007712" cy="457200"/>
          </a:xfrm>
          <a:prstGeom prst="rect">
            <a:avLst/>
          </a:prstGeom>
          <a:noFill/>
          <a:ln/>
        </p:spPr>
        <p:txBody>
          <a:bodyPr wrap="square" lIns="0" tIns="0" rIns="0" bIns="0" rtlCol="0" anchor="t"/>
          <a:lstStyle/>
          <a:p>
            <a:pPr indent="0" marL="0">
              <a:buNone/>
            </a:pPr>
            <a:r>
              <a:rPr lang="en-US" sz="1200" i="1" dirty="0">
                <a:solidFill>
                  <a:schemeClr val="tx2"/>
                </a:solidFill>
              </a:rPr>
              <a:t>W = 100 (1 − words / akṣaras); J = 100 (conjunct-initial akṣaras / akṣaras)</a:t>
            </a:r>
            <a:endParaRPr lang="en-US" sz="1200" dirty="0"/>
          </a:p>
        </p:txBody>
      </p:sp>
      <p:sp>
        <p:nvSpPr>
          <p:cNvPr id="21" name="Text 18"/>
          <p:cNvSpPr txBox="1"/>
          <p:nvPr/>
        </p:nvSpPr>
        <p:spPr>
          <a:xfrm>
            <a:off x="749808" y="5692140"/>
            <a:ext cx="5007712" cy="480060"/>
          </a:xfrm>
          <a:prstGeom prst="rect">
            <a:avLst/>
          </a:prstGeom>
          <a:noFill/>
          <a:ln/>
        </p:spPr>
        <p:txBody>
          <a:bodyPr wrap="square" lIns="0" tIns="0" rIns="0" bIns="0" rtlCol="0" anchor="t"/>
          <a:lstStyle/>
          <a:p>
            <a:pPr indent="0" marL="0">
              <a:buNone/>
            </a:pPr>
            <a:r>
              <a:rPr lang="en-US" sz="1200" b="1" dirty="0">
                <a:solidFill>
                  <a:schemeClr val="accent3"/>
                </a:solidFill>
              </a:rPr>
              <a:t>Rubric: </a:t>
            </a:r>
            <a:r>
              <a:rPr lang="en-US" sz="1200" dirty="0">
                <a:solidFill>
                  <a:schemeClr val="tx1"/>
                </a:solidFill>
              </a:rPr>
              <a:t>light &lt; 39.3; leaning light; moderate; leaning dense; dense ≥ 47.5</a:t>
            </a:r>
            <a:endParaRPr lang="en-US" sz="1200" dirty="0"/>
          </a:p>
        </p:txBody>
      </p:sp>
      <p:sp>
        <p:nvSpPr>
          <p:cNvPr id="22" name="Shape 19"/>
          <p:cNvSpPr/>
          <p:nvPr/>
        </p:nvSpPr>
        <p:spPr>
          <a:xfrm>
            <a:off x="6233008" y="3909060"/>
            <a:ext cx="5410048" cy="2354580"/>
          </a:xfrm>
          <a:prstGeom prst="roundRect">
            <a:avLst>
              <a:gd name="adj" fmla="val 3883"/>
            </a:avLst>
          </a:prstGeom>
          <a:solidFill>
            <a:schemeClr val="bg2"/>
          </a:solidFill>
          <a:ln w="12700">
            <a:solidFill>
              <a:schemeClr val="bg2"/>
            </a:solidFill>
            <a:prstDash val="solid"/>
          </a:ln>
        </p:spPr>
      </p:sp>
      <p:sp>
        <p:nvSpPr>
          <p:cNvPr id="23" name="Text 20"/>
          <p:cNvSpPr txBox="1"/>
          <p:nvPr/>
        </p:nvSpPr>
        <p:spPr>
          <a:xfrm>
            <a:off x="6434176" y="4018788"/>
            <a:ext cx="5007712" cy="347472"/>
          </a:xfrm>
          <a:prstGeom prst="rect">
            <a:avLst/>
          </a:prstGeom>
          <a:noFill/>
          <a:ln/>
        </p:spPr>
        <p:txBody>
          <a:bodyPr wrap="square" lIns="0" tIns="0" rIns="0" bIns="0" rtlCol="0" anchor="t"/>
          <a:lstStyle/>
          <a:p>
            <a:pPr indent="0" marL="0">
              <a:buNone/>
            </a:pPr>
            <a:r>
              <a:rPr lang="en-US" sz="1600" b="1" dirty="0">
                <a:solidFill>
                  <a:schemeClr val="accent1"/>
                </a:solidFill>
              </a:rPr>
              <a:t>prasāda · clarity</a:t>
            </a:r>
            <a:endParaRPr lang="en-US" sz="1600" dirty="0"/>
          </a:p>
        </p:txBody>
      </p:sp>
      <p:sp>
        <p:nvSpPr>
          <p:cNvPr id="24" name="Text 21"/>
          <p:cNvSpPr txBox="1"/>
          <p:nvPr/>
        </p:nvSpPr>
        <p:spPr>
          <a:xfrm>
            <a:off x="6434176" y="4366260"/>
            <a:ext cx="5007712" cy="365760"/>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H = −(1/N) Σ log₂ P(aₜ | aₜ₋₂, aₜ₋₁)</a:t>
            </a:r>
            <a:endParaRPr lang="en-US" sz="1500" dirty="0"/>
          </a:p>
        </p:txBody>
      </p:sp>
      <p:sp>
        <p:nvSpPr>
          <p:cNvPr id="25" name="Text 22"/>
          <p:cNvSpPr txBox="1"/>
          <p:nvPr/>
        </p:nvSpPr>
        <p:spPr>
          <a:xfrm>
            <a:off x="6434176" y="4777740"/>
            <a:ext cx="5007712" cy="457200"/>
          </a:xfrm>
          <a:prstGeom prst="rect">
            <a:avLst/>
          </a:prstGeom>
          <a:noFill/>
          <a:ln/>
        </p:spPr>
        <p:txBody>
          <a:bodyPr wrap="square" lIns="0" tIns="0" rIns="0" bIns="0" rtlCol="0" anchor="t"/>
          <a:lstStyle/>
          <a:p>
            <a:pPr indent="0" marL="0">
              <a:buNone/>
            </a:pPr>
            <a:r>
              <a:rPr lang="en-US" sz="1250" dirty="0">
                <a:solidFill>
                  <a:schemeClr val="tx1"/>
                </a:solidFill>
              </a:rPr>
              <a:t>Predictability of the akṣara sequence under a reference akṣara trigram model.</a:t>
            </a:r>
            <a:endParaRPr lang="en-US" sz="1250" dirty="0"/>
          </a:p>
        </p:txBody>
      </p:sp>
      <p:sp>
        <p:nvSpPr>
          <p:cNvPr id="26" name="Text 23"/>
          <p:cNvSpPr txBox="1"/>
          <p:nvPr/>
        </p:nvSpPr>
        <p:spPr>
          <a:xfrm>
            <a:off x="6434176" y="5234940"/>
            <a:ext cx="5007712" cy="457200"/>
          </a:xfrm>
          <a:prstGeom prst="rect">
            <a:avLst/>
          </a:prstGeom>
          <a:noFill/>
          <a:ln/>
        </p:spPr>
        <p:txBody>
          <a:bodyPr wrap="square" lIns="0" tIns="0" rIns="0" bIns="0" rtlCol="0" anchor="t"/>
          <a:lstStyle/>
          <a:p>
            <a:pPr indent="0" marL="0">
              <a:buNone/>
            </a:pPr>
            <a:r>
              <a:rPr lang="en-US" sz="1200" i="1" dirty="0">
                <a:solidFill>
                  <a:schemeClr val="tx2"/>
                </a:solidFill>
              </a:rPr>
              <a:t>bits per akṣara</a:t>
            </a:r>
            <a:endParaRPr lang="en-US" sz="1200" dirty="0"/>
          </a:p>
        </p:txBody>
      </p:sp>
      <p:sp>
        <p:nvSpPr>
          <p:cNvPr id="27" name="Text 24"/>
          <p:cNvSpPr txBox="1"/>
          <p:nvPr/>
        </p:nvSpPr>
        <p:spPr>
          <a:xfrm>
            <a:off x="6434176" y="5692140"/>
            <a:ext cx="5007712" cy="480060"/>
          </a:xfrm>
          <a:prstGeom prst="rect">
            <a:avLst/>
          </a:prstGeom>
          <a:noFill/>
          <a:ln/>
        </p:spPr>
        <p:txBody>
          <a:bodyPr wrap="square" lIns="0" tIns="0" rIns="0" bIns="0" rtlCol="0" anchor="t"/>
          <a:lstStyle/>
          <a:p>
            <a:pPr indent="0" marL="0">
              <a:buNone/>
            </a:pPr>
            <a:r>
              <a:rPr lang="en-US" sz="1200" b="1" dirty="0">
                <a:solidFill>
                  <a:schemeClr val="accent3"/>
                </a:solidFill>
              </a:rPr>
              <a:t>Rubric: </a:t>
            </a:r>
            <a:r>
              <a:rPr lang="en-US" sz="1200" dirty="0">
                <a:solidFill>
                  <a:schemeClr val="tx1"/>
                </a:solidFill>
              </a:rPr>
              <a:t>clear &lt; 5.12 ≤ leaning clear &lt; 5.54 ≤ ordinary &lt; 6.33 ≤ leaning obscure &lt; 7.06 ≤ obscure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caṃdomiti: a graded distance to the nearest valid metre</a:t>
            </a:r>
            <a:endParaRPr lang="en-US" sz="3200" dirty="0"/>
          </a:p>
        </p:txBody>
      </p:sp>
      <p:sp>
        <p:nvSpPr>
          <p:cNvPr id="4" name="Shape 1"/>
          <p:cNvSpPr/>
          <p:nvPr/>
        </p:nvSpPr>
        <p:spPr>
          <a:xfrm>
            <a:off x="548640" y="1325880"/>
            <a:ext cx="4572000" cy="2103120"/>
          </a:xfrm>
          <a:prstGeom prst="roundRect">
            <a:avLst>
              <a:gd name="adj" fmla="val 4348"/>
            </a:avLst>
          </a:prstGeom>
          <a:solidFill>
            <a:schemeClr val="accent1"/>
          </a:solidFill>
          <a:ln w="12700">
            <a:solidFill>
              <a:schemeClr val="accent1"/>
            </a:solidFill>
            <a:prstDash val="solid"/>
          </a:ln>
        </p:spPr>
      </p:sp>
      <p:sp>
        <p:nvSpPr>
          <p:cNvPr id="5" name="Text 2"/>
          <p:cNvSpPr txBox="1"/>
          <p:nvPr/>
        </p:nvSpPr>
        <p:spPr>
          <a:xfrm>
            <a:off x="822960" y="1463040"/>
            <a:ext cx="4023360" cy="1828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D = Dw + Dy + Dp</a:t>
            </a:r>
            <a:endParaRPr lang="en-US" sz="1400" dirty="0"/>
          </a:p>
          <a:p>
            <a:pPr algn="ctr" indent="0" marL="0">
              <a:buNone/>
            </a:pPr>
            <a:r>
              <a:rPr lang="en-US" sz="1800" dirty="0">
                <a:solidFill>
                  <a:schemeClr val="bg1"/>
                </a:solidFill>
                <a:latin typeface="Cambria" pitchFamily="34" charset="0"/>
                <a:ea typeface="Cambria" pitchFamily="34" charset="-122"/>
                <a:cs typeface="Cambria" pitchFamily="34" charset="-120"/>
              </a:rPr>
              <a:t>r = D / max(n, N)</a:t>
            </a:r>
            <a:endParaRPr lang="en-US" sz="1400" dirty="0"/>
          </a:p>
          <a:p>
            <a:pPr algn="ctr" indent="0" marL="0">
              <a:buNone/>
            </a:pPr>
            <a:r>
              <a:rPr lang="en-US" sz="1800" dirty="0">
                <a:solidFill>
                  <a:schemeClr val="bg1"/>
                </a:solidFill>
                <a:latin typeface="Cambria" pitchFamily="34" charset="0"/>
                <a:ea typeface="Cambria" pitchFamily="34" charset="-122"/>
                <a:cs typeface="Cambria" pitchFamily="34" charset="-120"/>
              </a:rPr>
              <a:t>S = 1 − r / r_chance(m)</a:t>
            </a:r>
            <a:endParaRPr lang="en-US" sz="1400" dirty="0"/>
          </a:p>
        </p:txBody>
      </p:sp>
      <p:sp>
        <p:nvSpPr>
          <p:cNvPr id="6" name="Text 3"/>
          <p:cNvSpPr txBox="1"/>
          <p:nvPr/>
        </p:nvSpPr>
        <p:spPr>
          <a:xfrm>
            <a:off x="548640" y="3611880"/>
            <a:ext cx="4572000" cy="1554480"/>
          </a:xfrm>
          <a:prstGeom prst="rect">
            <a:avLst/>
          </a:prstGeom>
          <a:noFill/>
          <a:ln/>
        </p:spPr>
        <p:txBody>
          <a:bodyPr wrap="square" lIns="0" tIns="0" rIns="0" bIns="0" rtlCol="0" anchor="t"/>
          <a:lstStyle/>
          <a:p>
            <a:pPr marL="342900" indent="-342900">
              <a:spcAft>
                <a:spcPts val="400"/>
              </a:spcAft>
              <a:buSzPct val="100000"/>
              <a:buChar char="•"/>
            </a:pPr>
            <a:r>
              <a:rPr lang="en-US" sz="1300" b="1" dirty="0">
                <a:solidFill>
                  <a:schemeClr val="accent1"/>
                </a:solidFill>
              </a:rPr>
              <a:t>Dw, Dy, Dp </a:t>
            </a:r>
            <a:r>
              <a:rPr lang="en-US" sz="1300" dirty="0">
                <a:solidFill>
                  <a:schemeClr val="tx1"/>
                </a:solidFill>
              </a:rPr>
              <a:t>weight, yati and prāsa edits</a:t>
            </a:r>
            <a:endParaRPr lang="en-US" sz="1300" dirty="0"/>
          </a:p>
          <a:p>
            <a:pPr marL="342900" indent="-342900">
              <a:spcAft>
                <a:spcPts val="400"/>
              </a:spcAft>
              <a:buSzPct val="100000"/>
              <a:buChar char="•"/>
            </a:pPr>
            <a:r>
              <a:rPr lang="en-US" sz="1300" b="1" dirty="0">
                <a:solidFill>
                  <a:schemeClr val="accent1"/>
                </a:solidFill>
              </a:rPr>
              <a:t>n, N </a:t>
            </a:r>
            <a:r>
              <a:rPr lang="en-US" sz="1300" dirty="0">
                <a:solidFill>
                  <a:schemeClr val="tx1"/>
                </a:solidFill>
              </a:rPr>
              <a:t>akṣaras in the poem and in the nearest valid poem</a:t>
            </a:r>
            <a:endParaRPr lang="en-US" sz="1300" dirty="0"/>
          </a:p>
          <a:p>
            <a:pPr marL="342900" indent="-342900">
              <a:spcAft>
                <a:spcPts val="400"/>
              </a:spcAft>
              <a:buSzPct val="100000"/>
              <a:buChar char="•"/>
            </a:pPr>
            <a:r>
              <a:rPr lang="en-US" sz="1300" b="1" dirty="0">
                <a:solidFill>
                  <a:schemeClr val="accent1"/>
                </a:solidFill>
              </a:rPr>
              <a:t>r_chance(m) </a:t>
            </a:r>
            <a:r>
              <a:rPr lang="en-US" sz="1300" dirty="0">
                <a:solidFill>
                  <a:schemeClr val="tx1"/>
                </a:solidFill>
              </a:rPr>
              <a:t>mean edit rate of prose cut to the line lengths of metre m</a:t>
            </a:r>
            <a:endParaRPr lang="en-US" sz="1300" dirty="0"/>
          </a:p>
          <a:p>
            <a:pPr marL="342900" indent="-342900">
              <a:spcAft>
                <a:spcPts val="400"/>
              </a:spcAft>
              <a:buSzPct val="100000"/>
              <a:buChar char="•"/>
            </a:pPr>
            <a:r>
              <a:rPr lang="en-US" sz="1300" b="1" dirty="0">
                <a:solidFill>
                  <a:schemeClr val="accent1"/>
                </a:solidFill>
              </a:rPr>
              <a:t>S </a:t>
            </a:r>
            <a:r>
              <a:rPr lang="en-US" sz="1300" dirty="0">
                <a:solidFill>
                  <a:schemeClr val="tx1"/>
                </a:solidFill>
              </a:rPr>
              <a:t>1 for a poem in metre, 0 for one no nearer to m than prose</a:t>
            </a:r>
            <a:endParaRPr lang="en-US" sz="1300" dirty="0"/>
          </a:p>
        </p:txBody>
      </p:sp>
      <p:sp>
        <p:nvSpPr>
          <p:cNvPr id="7" name="card Rubric"/>
          <p:cNvSpPr/>
          <p:nvPr/>
        </p:nvSpPr>
        <p:spPr>
          <a:xfrm>
            <a:off x="548640" y="5212080"/>
            <a:ext cx="4572000" cy="1051560"/>
          </a:xfrm>
          <a:prstGeom prst="roundRect">
            <a:avLst>
              <a:gd name="adj" fmla="val 8696"/>
            </a:avLst>
          </a:prstGeom>
          <a:solidFill>
            <a:schemeClr val="bg2"/>
          </a:solidFill>
          <a:ln w="12700">
            <a:solidFill>
              <a:schemeClr val="bg2"/>
            </a:solidFill>
            <a:prstDash val="solid"/>
          </a:ln>
        </p:spPr>
      </p:sp>
      <p:sp>
        <p:nvSpPr>
          <p:cNvPr id="8" name="Text 5"/>
          <p:cNvSpPr txBox="1"/>
          <p:nvPr/>
        </p:nvSpPr>
        <p:spPr>
          <a:xfrm>
            <a:off x="749808" y="5376672"/>
            <a:ext cx="4187952" cy="384048"/>
          </a:xfrm>
          <a:prstGeom prst="rect">
            <a:avLst/>
          </a:prstGeom>
          <a:noFill/>
          <a:ln/>
        </p:spPr>
        <p:txBody>
          <a:bodyPr wrap="square" lIns="0" tIns="0" rIns="0" bIns="0" rtlCol="0" anchor="t"/>
          <a:lstStyle/>
          <a:p>
            <a:pPr indent="0" marL="0">
              <a:buNone/>
            </a:pPr>
            <a:r>
              <a:rPr lang="en-US" sz="1600" b="1" dirty="0">
                <a:solidFill>
                  <a:schemeClr val="accent1"/>
                </a:solidFill>
              </a:rPr>
              <a:t>Rubric</a:t>
            </a:r>
            <a:endParaRPr lang="en-US" sz="1600" dirty="0"/>
          </a:p>
        </p:txBody>
      </p:sp>
      <p:sp>
        <p:nvSpPr>
          <p:cNvPr id="9" name="Text 6"/>
          <p:cNvSpPr txBox="1"/>
          <p:nvPr/>
        </p:nvSpPr>
        <p:spPr>
          <a:xfrm>
            <a:off x="749808" y="5797296"/>
            <a:ext cx="4187952" cy="356616"/>
          </a:xfrm>
          <a:prstGeom prst="rect">
            <a:avLst/>
          </a:prstGeom>
          <a:noFill/>
          <a:ln/>
        </p:spPr>
        <p:txBody>
          <a:bodyPr wrap="square" lIns="0" tIns="0" rIns="0" bIns="0" rtlCol="0" anchor="t"/>
          <a:lstStyle/>
          <a:p>
            <a:pPr indent="0" marL="0">
              <a:buNone/>
            </a:pPr>
            <a:r>
              <a:rPr lang="en-US" sz="1300" dirty="0">
                <a:solidFill>
                  <a:schemeClr val="tx1"/>
                </a:solidFill>
              </a:rPr>
              <a:t>exact (D = 0) · slip · partial · weak · unmetered (r at or above the metre-specific chance cut)</a:t>
            </a:r>
            <a:endParaRPr lang="en-US" sz="1300" dirty="0"/>
          </a:p>
        </p:txBody>
      </p:sp>
      <p:sp>
        <p:nvSpPr>
          <p:cNvPr id="10" name="Text 7"/>
          <p:cNvSpPr txBox="1"/>
          <p:nvPr/>
        </p:nvSpPr>
        <p:spPr>
          <a:xfrm>
            <a:off x="5440680" y="1325880"/>
            <a:ext cx="6202375" cy="320040"/>
          </a:xfrm>
          <a:prstGeom prst="rect">
            <a:avLst/>
          </a:prstGeom>
          <a:noFill/>
          <a:ln/>
        </p:spPr>
        <p:txBody>
          <a:bodyPr wrap="square" lIns="0" tIns="0" rIns="0" bIns="0" rtlCol="0" anchor="t"/>
          <a:lstStyle/>
          <a:p>
            <a:pPr indent="0" marL="0">
              <a:buNone/>
            </a:pPr>
            <a:r>
              <a:rPr lang="en-US" sz="1500" b="1" dirty="0">
                <a:solidFill>
                  <a:schemeClr val="accent3"/>
                </a:solidFill>
              </a:rPr>
              <a:t>How the edits are counted (Algorithm 4)</a:t>
            </a:r>
            <a:endParaRPr lang="en-US" sz="1500" dirty="0"/>
          </a:p>
        </p:txBody>
      </p:sp>
      <p:sp>
        <p:nvSpPr>
          <p:cNvPr id="11" name="Shape 8"/>
          <p:cNvSpPr/>
          <p:nvPr/>
        </p:nvSpPr>
        <p:spPr>
          <a:xfrm>
            <a:off x="5440680" y="1755648"/>
            <a:ext cx="420624" cy="420624"/>
          </a:xfrm>
          <a:prstGeom prst="ellipse">
            <a:avLst/>
          </a:prstGeom>
          <a:solidFill>
            <a:schemeClr val="accent3"/>
          </a:solidFill>
          <a:ln w="12700">
            <a:solidFill>
              <a:schemeClr val="accent3"/>
            </a:solidFill>
            <a:prstDash val="solid"/>
          </a:ln>
        </p:spPr>
      </p:sp>
      <p:sp>
        <p:nvSpPr>
          <p:cNvPr id="12" name="Text 9"/>
          <p:cNvSpPr txBox="1"/>
          <p:nvPr/>
        </p:nvSpPr>
        <p:spPr>
          <a:xfrm>
            <a:off x="5440680" y="175564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3" name="Text 10"/>
          <p:cNvSpPr txBox="1"/>
          <p:nvPr/>
        </p:nvSpPr>
        <p:spPr>
          <a:xfrm>
            <a:off x="6007608" y="1737360"/>
            <a:ext cx="5635447" cy="292608"/>
          </a:xfrm>
          <a:prstGeom prst="rect">
            <a:avLst/>
          </a:prstGeom>
          <a:noFill/>
          <a:ln/>
        </p:spPr>
        <p:txBody>
          <a:bodyPr wrap="square" lIns="0" tIns="0" rIns="0" bIns="0" rtlCol="0" anchor="t"/>
          <a:lstStyle/>
          <a:p>
            <a:pPr indent="0" marL="0">
              <a:buNone/>
            </a:pPr>
            <a:r>
              <a:rPr lang="en-US" sz="1400" b="1" dirty="0">
                <a:solidFill>
                  <a:schemeClr val="tx1"/>
                </a:solidFill>
              </a:rPr>
              <a:t>Weight edits, per line</a:t>
            </a:r>
            <a:endParaRPr lang="en-US" sz="1400" dirty="0"/>
          </a:p>
        </p:txBody>
      </p:sp>
      <p:sp>
        <p:nvSpPr>
          <p:cNvPr id="14" name="Text 11"/>
          <p:cNvSpPr txBox="1"/>
          <p:nvPr/>
        </p:nvSpPr>
        <p:spPr>
          <a:xfrm>
            <a:off x="6007608" y="2029968"/>
            <a:ext cx="5635447" cy="896112"/>
          </a:xfrm>
          <a:prstGeom prst="rect">
            <a:avLst/>
          </a:prstGeom>
          <a:noFill/>
          <a:ln/>
        </p:spPr>
        <p:txBody>
          <a:bodyPr wrap="square" lIns="0" tIns="0" rIns="0" bIns="0" rtlCol="0" anchor="t"/>
          <a:lstStyle/>
          <a:p>
            <a:pPr indent="0" marL="0">
              <a:buNone/>
            </a:pPr>
            <a:r>
              <a:rPr lang="en-US" sz="1250" dirty="0">
                <a:solidFill>
                  <a:schemeClr val="tx2"/>
                </a:solidFill>
              </a:rPr>
              <a:t>A dynamic programme over the slot’s own automaton: reading an akṣara along an edge costs 0 if the edge’s weight is one it may take, else 1 (substitution); skipping it costs 1 (deletion); an edge without reading costs 1 (insertion). A pāda-final laghu may read as U. The path gives the nearest legal line.</a:t>
            </a:r>
            <a:endParaRPr lang="en-US" sz="1250" dirty="0"/>
          </a:p>
        </p:txBody>
      </p:sp>
      <p:sp>
        <p:nvSpPr>
          <p:cNvPr id="15" name="Shape 12"/>
          <p:cNvSpPr/>
          <p:nvPr/>
        </p:nvSpPr>
        <p:spPr>
          <a:xfrm>
            <a:off x="5440680" y="3081528"/>
            <a:ext cx="420624" cy="420624"/>
          </a:xfrm>
          <a:prstGeom prst="ellipse">
            <a:avLst/>
          </a:prstGeom>
          <a:solidFill>
            <a:schemeClr val="accent3"/>
          </a:solidFill>
          <a:ln w="12700">
            <a:solidFill>
              <a:schemeClr val="accent3"/>
            </a:solidFill>
            <a:prstDash val="solid"/>
          </a:ln>
        </p:spPr>
      </p:sp>
      <p:sp>
        <p:nvSpPr>
          <p:cNvPr id="16" name="Text 13"/>
          <p:cNvSpPr txBox="1"/>
          <p:nvPr/>
        </p:nvSpPr>
        <p:spPr>
          <a:xfrm>
            <a:off x="5440680" y="30815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Text 14"/>
          <p:cNvSpPr txBox="1"/>
          <p:nvPr/>
        </p:nvSpPr>
        <p:spPr>
          <a:xfrm>
            <a:off x="6007608" y="3063240"/>
            <a:ext cx="5635447" cy="292608"/>
          </a:xfrm>
          <a:prstGeom prst="rect">
            <a:avLst/>
          </a:prstGeom>
          <a:noFill/>
          <a:ln/>
        </p:spPr>
        <p:txBody>
          <a:bodyPr wrap="square" lIns="0" tIns="0" rIns="0" bIns="0" rtlCol="0" anchor="t"/>
          <a:lstStyle/>
          <a:p>
            <a:pPr indent="0" marL="0">
              <a:buNone/>
            </a:pPr>
            <a:r>
              <a:rPr lang="en-US" sz="1400" b="1" dirty="0">
                <a:solidFill>
                  <a:schemeClr val="tx1"/>
                </a:solidFill>
              </a:rPr>
              <a:t>Match lines to pādas</a:t>
            </a:r>
            <a:endParaRPr lang="en-US" sz="1400" dirty="0"/>
          </a:p>
        </p:txBody>
      </p:sp>
      <p:sp>
        <p:nvSpPr>
          <p:cNvPr id="18" name="Text 15"/>
          <p:cNvSpPr txBox="1"/>
          <p:nvPr/>
        </p:nvSpPr>
        <p:spPr>
          <a:xfrm>
            <a:off x="6007608" y="3355848"/>
            <a:ext cx="5635447" cy="484632"/>
          </a:xfrm>
          <a:prstGeom prst="rect">
            <a:avLst/>
          </a:prstGeom>
          <a:noFill/>
          <a:ln/>
        </p:spPr>
        <p:txBody>
          <a:bodyPr wrap="square" lIns="0" tIns="0" rIns="0" bIns="0" rtlCol="0" anchor="t"/>
          <a:lstStyle/>
          <a:p>
            <a:pPr indent="0" marL="0">
              <a:buNone/>
            </a:pPr>
            <a:r>
              <a:rPr lang="en-US" sz="1250" dirty="0">
                <a:solidFill>
                  <a:schemeClr val="tx2"/>
                </a:solidFill>
              </a:rPr>
              <a:t>Lines are matched to the metre’s pādas with the fewest edits; a line left over costs its length, a pāda left empty its shortest line.</a:t>
            </a:r>
            <a:endParaRPr lang="en-US" sz="1250" dirty="0"/>
          </a:p>
        </p:txBody>
      </p:sp>
      <p:sp>
        <p:nvSpPr>
          <p:cNvPr id="19" name="Shape 16"/>
          <p:cNvSpPr/>
          <p:nvPr/>
        </p:nvSpPr>
        <p:spPr>
          <a:xfrm>
            <a:off x="5440680" y="3995928"/>
            <a:ext cx="420624" cy="420624"/>
          </a:xfrm>
          <a:prstGeom prst="ellipse">
            <a:avLst/>
          </a:prstGeom>
          <a:solidFill>
            <a:schemeClr val="accent3"/>
          </a:solidFill>
          <a:ln w="12700">
            <a:solidFill>
              <a:schemeClr val="accent3"/>
            </a:solidFill>
            <a:prstDash val="solid"/>
          </a:ln>
        </p:spPr>
      </p:sp>
      <p:sp>
        <p:nvSpPr>
          <p:cNvPr id="20" name="Text 17"/>
          <p:cNvSpPr txBox="1"/>
          <p:nvPr/>
        </p:nvSpPr>
        <p:spPr>
          <a:xfrm>
            <a:off x="5440680" y="3995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8"/>
          <p:cNvSpPr txBox="1"/>
          <p:nvPr/>
        </p:nvSpPr>
        <p:spPr>
          <a:xfrm>
            <a:off x="6007608" y="3977640"/>
            <a:ext cx="5635447" cy="292608"/>
          </a:xfrm>
          <a:prstGeom prst="rect">
            <a:avLst/>
          </a:prstGeom>
          <a:noFill/>
          <a:ln/>
        </p:spPr>
        <p:txBody>
          <a:bodyPr wrap="square" lIns="0" tIns="0" rIns="0" bIns="0" rtlCol="0" anchor="t"/>
          <a:lstStyle/>
          <a:p>
            <a:pPr indent="0" marL="0">
              <a:buNone/>
            </a:pPr>
            <a:r>
              <a:rPr lang="en-US" sz="1400" b="1" dirty="0">
                <a:solidFill>
                  <a:schemeClr val="tx1"/>
                </a:solidFill>
              </a:rPr>
              <a:t>Yati edits</a:t>
            </a:r>
            <a:endParaRPr lang="en-US" sz="1400" dirty="0"/>
          </a:p>
        </p:txBody>
      </p:sp>
      <p:sp>
        <p:nvSpPr>
          <p:cNvPr id="22" name="Text 19"/>
          <p:cNvSpPr txBox="1"/>
          <p:nvPr/>
        </p:nvSpPr>
        <p:spPr>
          <a:xfrm>
            <a:off x="6007608" y="4270248"/>
            <a:ext cx="5635447" cy="301752"/>
          </a:xfrm>
          <a:prstGeom prst="rect">
            <a:avLst/>
          </a:prstGeom>
          <a:noFill/>
          <a:ln/>
        </p:spPr>
        <p:txBody>
          <a:bodyPr wrap="square" lIns="0" tIns="0" rIns="0" bIns="0" rtlCol="0" anchor="t"/>
          <a:lstStyle/>
          <a:p>
            <a:pPr indent="0" marL="0">
              <a:buNone/>
            </a:pPr>
            <a:r>
              <a:rPr lang="en-US" sz="1250" dirty="0">
                <a:solidFill>
                  <a:schemeClr val="tx2"/>
                </a:solidFill>
              </a:rPr>
              <a:t>One for each yati seat whose akṣara is not in maitri with the vaḷi.</a:t>
            </a:r>
            <a:endParaRPr lang="en-US" sz="1250" dirty="0"/>
          </a:p>
        </p:txBody>
      </p:sp>
      <p:sp>
        <p:nvSpPr>
          <p:cNvPr id="23" name="Shape 20"/>
          <p:cNvSpPr/>
          <p:nvPr/>
        </p:nvSpPr>
        <p:spPr>
          <a:xfrm>
            <a:off x="5440680" y="4727448"/>
            <a:ext cx="420624" cy="420624"/>
          </a:xfrm>
          <a:prstGeom prst="ellipse">
            <a:avLst/>
          </a:prstGeom>
          <a:solidFill>
            <a:schemeClr val="accent3"/>
          </a:solidFill>
          <a:ln w="12700">
            <a:solidFill>
              <a:schemeClr val="accent3"/>
            </a:solidFill>
            <a:prstDash val="solid"/>
          </a:ln>
        </p:spPr>
      </p:sp>
      <p:sp>
        <p:nvSpPr>
          <p:cNvPr id="24" name="Text 21"/>
          <p:cNvSpPr txBox="1"/>
          <p:nvPr/>
        </p:nvSpPr>
        <p:spPr>
          <a:xfrm>
            <a:off x="5440680" y="472744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2"/>
          <p:cNvSpPr txBox="1"/>
          <p:nvPr/>
        </p:nvSpPr>
        <p:spPr>
          <a:xfrm>
            <a:off x="6007608" y="4709160"/>
            <a:ext cx="5635447" cy="292608"/>
          </a:xfrm>
          <a:prstGeom prst="rect">
            <a:avLst/>
          </a:prstGeom>
          <a:noFill/>
          <a:ln/>
        </p:spPr>
        <p:txBody>
          <a:bodyPr wrap="square" lIns="0" tIns="0" rIns="0" bIns="0" rtlCol="0" anchor="t"/>
          <a:lstStyle/>
          <a:p>
            <a:pPr indent="0" marL="0">
              <a:buNone/>
            </a:pPr>
            <a:r>
              <a:rPr lang="en-US" sz="1400" b="1" dirty="0">
                <a:solidFill>
                  <a:schemeClr val="tx1"/>
                </a:solidFill>
              </a:rPr>
              <a:t>Prāsa edits</a:t>
            </a:r>
            <a:endParaRPr lang="en-US" sz="1400" dirty="0"/>
          </a:p>
        </p:txBody>
      </p:sp>
      <p:sp>
        <p:nvSpPr>
          <p:cNvPr id="26" name="Text 23"/>
          <p:cNvSpPr txBox="1"/>
          <p:nvPr/>
        </p:nvSpPr>
        <p:spPr>
          <a:xfrm>
            <a:off x="6007608" y="5001768"/>
            <a:ext cx="5635447" cy="484632"/>
          </a:xfrm>
          <a:prstGeom prst="rect">
            <a:avLst/>
          </a:prstGeom>
          <a:noFill/>
          <a:ln/>
        </p:spPr>
        <p:txBody>
          <a:bodyPr wrap="square" lIns="0" tIns="0" rIns="0" bIns="0" rtlCol="0" anchor="t"/>
          <a:lstStyle/>
          <a:p>
            <a:pPr indent="0" marL="0">
              <a:buNone/>
            </a:pPr>
            <a:r>
              <a:rPr lang="en-US" sz="1250" dirty="0">
                <a:solidFill>
                  <a:schemeClr val="tx2"/>
                </a:solidFill>
              </a:rPr>
              <a:t>The fewest pādas to change so that all the pādas rhyme. An akṣara a weight edit already rewrites is counted once.</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Metrics in design</a:t>
            </a:r>
            <a:endParaRPr lang="en-US" sz="3200" dirty="0"/>
          </a:p>
        </p:txBody>
      </p:sp>
      <p:sp>
        <p:nvSpPr>
          <p:cNvPr id="4" name="card Word resolution metric"/>
          <p:cNvSpPr/>
          <p:nvPr/>
        </p:nvSpPr>
        <p:spPr>
          <a:xfrm>
            <a:off x="548640" y="1325880"/>
            <a:ext cx="5410048" cy="2354580"/>
          </a:xfrm>
          <a:prstGeom prst="roundRect">
            <a:avLst>
              <a:gd name="adj" fmla="val 3883"/>
            </a:avLst>
          </a:prstGeom>
          <a:solidFill>
            <a:schemeClr val="bg2"/>
          </a:solidFill>
          <a:ln w="12700">
            <a:solidFill>
              <a:schemeClr val="bg2"/>
            </a:solidFill>
            <a:prstDash val="solid"/>
          </a:ln>
        </p:spPr>
      </p:sp>
      <p:sp>
        <p:nvSpPr>
          <p:cNvPr id="5" name="Shape 2"/>
          <p:cNvSpPr/>
          <p:nvPr/>
        </p:nvSpPr>
        <p:spPr>
          <a:xfrm>
            <a:off x="749808" y="1508760"/>
            <a:ext cx="420624" cy="420624"/>
          </a:xfrm>
          <a:prstGeom prst="ellipse">
            <a:avLst/>
          </a:prstGeom>
          <a:solidFill>
            <a:schemeClr val="accent3"/>
          </a:solidFill>
          <a:ln w="12700">
            <a:solidFill>
              <a:schemeClr val="accent3"/>
            </a:solidFill>
            <a:prstDash val="solid"/>
          </a:ln>
        </p:spPr>
      </p:sp>
      <p:sp>
        <p:nvSpPr>
          <p:cNvPr id="6" name="Text 3"/>
          <p:cNvSpPr txBox="1"/>
          <p:nvPr/>
        </p:nvSpPr>
        <p:spPr>
          <a:xfrm>
            <a:off x="749808"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80160" y="1490472"/>
            <a:ext cx="4495648" cy="457200"/>
          </a:xfrm>
          <a:prstGeom prst="rect">
            <a:avLst/>
          </a:prstGeom>
          <a:noFill/>
          <a:ln/>
        </p:spPr>
        <p:txBody>
          <a:bodyPr wrap="square" lIns="0" tIns="0" rIns="0" bIns="0" rtlCol="0" anchor="ctr"/>
          <a:lstStyle/>
          <a:p>
            <a:pPr indent="0" marL="0">
              <a:buNone/>
            </a:pPr>
            <a:r>
              <a:rPr lang="en-US" sz="1600" b="1" dirty="0">
                <a:solidFill>
                  <a:schemeClr val="accent3"/>
                </a:solidFill>
              </a:rPr>
              <a:t>Word resolution metric</a:t>
            </a:r>
            <a:endParaRPr lang="en-US" sz="1600" dirty="0"/>
          </a:p>
        </p:txBody>
      </p:sp>
      <p:sp>
        <p:nvSpPr>
          <p:cNvPr id="8" name="Text 5"/>
          <p:cNvSpPr txBox="1"/>
          <p:nvPr/>
        </p:nvSpPr>
        <p:spPr>
          <a:xfrm>
            <a:off x="749808" y="2057400"/>
            <a:ext cx="5026000" cy="15133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align every string with a compiled Telugu macro-dictionary</a:t>
            </a:r>
            <a:endParaRPr lang="en-US" sz="1300" dirty="0"/>
          </a:p>
          <a:p>
            <a:pPr marL="342900" indent="-342900">
              <a:spcAft>
                <a:spcPts val="400"/>
              </a:spcAft>
              <a:buSzPct val="100000"/>
              <a:buChar char="•"/>
            </a:pPr>
            <a:r>
              <a:rPr lang="en-US" sz="1300" dirty="0">
                <a:solidFill>
                  <a:schemeClr val="tx1"/>
                </a:solidFill>
              </a:rPr>
              <a:t>sandhi and samāsa splitting, then word resolution</a:t>
            </a:r>
            <a:endParaRPr lang="en-US" sz="1300" dirty="0"/>
          </a:p>
          <a:p>
            <a:pPr marL="342900" indent="-342900">
              <a:spcAft>
                <a:spcPts val="400"/>
              </a:spcAft>
              <a:buSzPct val="100000"/>
              <a:buChar char="•"/>
            </a:pPr>
            <a:r>
              <a:rPr lang="en-US" sz="1300" dirty="0">
                <a:solidFill>
                  <a:schemeClr val="tx1"/>
                </a:solidFill>
              </a:rPr>
              <a:t>measures word-level coherence across the poem</a:t>
            </a:r>
            <a:endParaRPr lang="en-US" sz="1300" dirty="0"/>
          </a:p>
          <a:p>
            <a:pPr marL="342900" indent="-342900">
              <a:spcAft>
                <a:spcPts val="400"/>
              </a:spcAft>
              <a:buSzPct val="100000"/>
              <a:buChar char="•"/>
            </a:pPr>
            <a:r>
              <a:rPr lang="en-US" sz="1300" dirty="0">
                <a:solidFill>
                  <a:schemeClr val="tx1"/>
                </a:solidFill>
              </a:rPr>
              <a:t>doubles as a lexical gate: reject candidates with no valid segmentation</a:t>
            </a:r>
            <a:endParaRPr lang="en-US" sz="1300" dirty="0"/>
          </a:p>
        </p:txBody>
      </p:sp>
      <p:sp>
        <p:nvSpPr>
          <p:cNvPr id="9" name="card Semantic coherence metric"/>
          <p:cNvSpPr/>
          <p:nvPr/>
        </p:nvSpPr>
        <p:spPr>
          <a:xfrm>
            <a:off x="6233008" y="1325880"/>
            <a:ext cx="5410048" cy="2354580"/>
          </a:xfrm>
          <a:prstGeom prst="roundRect">
            <a:avLst>
              <a:gd name="adj" fmla="val 3883"/>
            </a:avLst>
          </a:prstGeom>
          <a:solidFill>
            <a:schemeClr val="bg2"/>
          </a:solidFill>
          <a:ln w="12700">
            <a:solidFill>
              <a:schemeClr val="bg2"/>
            </a:solidFill>
            <a:prstDash val="solid"/>
          </a:ln>
        </p:spPr>
      </p:sp>
      <p:sp>
        <p:nvSpPr>
          <p:cNvPr id="10" name="Shape 7"/>
          <p:cNvSpPr/>
          <p:nvPr/>
        </p:nvSpPr>
        <p:spPr>
          <a:xfrm>
            <a:off x="6434176" y="1508760"/>
            <a:ext cx="420624" cy="420624"/>
          </a:xfrm>
          <a:prstGeom prst="ellipse">
            <a:avLst/>
          </a:prstGeom>
          <a:solidFill>
            <a:schemeClr val="accent3"/>
          </a:solidFill>
          <a:ln w="12700">
            <a:solidFill>
              <a:schemeClr val="accent3"/>
            </a:solidFill>
            <a:prstDash val="solid"/>
          </a:ln>
        </p:spPr>
      </p:sp>
      <p:sp>
        <p:nvSpPr>
          <p:cNvPr id="11" name="Text 8"/>
          <p:cNvSpPr txBox="1"/>
          <p:nvPr/>
        </p:nvSpPr>
        <p:spPr>
          <a:xfrm>
            <a:off x="6434176"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6964528" y="1490472"/>
            <a:ext cx="4495648" cy="457200"/>
          </a:xfrm>
          <a:prstGeom prst="rect">
            <a:avLst/>
          </a:prstGeom>
          <a:noFill/>
          <a:ln/>
        </p:spPr>
        <p:txBody>
          <a:bodyPr wrap="square" lIns="0" tIns="0" rIns="0" bIns="0" rtlCol="0" anchor="ctr"/>
          <a:lstStyle/>
          <a:p>
            <a:pPr indent="0" marL="0">
              <a:buNone/>
            </a:pPr>
            <a:r>
              <a:rPr lang="en-US" sz="1600" b="1" dirty="0">
                <a:solidFill>
                  <a:schemeClr val="accent3"/>
                </a:solidFill>
              </a:rPr>
              <a:t>Semantic coherence metric</a:t>
            </a:r>
            <a:endParaRPr lang="en-US" sz="1600" dirty="0"/>
          </a:p>
        </p:txBody>
      </p:sp>
      <p:sp>
        <p:nvSpPr>
          <p:cNvPr id="13" name="Text 10"/>
          <p:cNvSpPr txBox="1"/>
          <p:nvPr/>
        </p:nvSpPr>
        <p:spPr>
          <a:xfrm>
            <a:off x="6434176" y="2057400"/>
            <a:ext cx="5026000" cy="15133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modelled on expert human acceptability judgements of Telugu metrical poetry</a:t>
            </a:r>
            <a:endParaRPr lang="en-US" sz="1300" dirty="0"/>
          </a:p>
          <a:p>
            <a:pPr marL="342900" indent="-342900">
              <a:spcAft>
                <a:spcPts val="400"/>
              </a:spcAft>
              <a:buSzPct val="100000"/>
              <a:buChar char="•"/>
            </a:pPr>
            <a:r>
              <a:rPr lang="en-US" sz="1300" dirty="0">
                <a:solidFill>
                  <a:schemeClr val="tx1"/>
                </a:solidFill>
              </a:rPr>
              <a:t>validated against the human ratings on a frozen test split</a:t>
            </a:r>
            <a:endParaRPr lang="en-US" sz="1300" dirty="0"/>
          </a:p>
          <a:p>
            <a:pPr marL="342900" indent="-342900">
              <a:spcAft>
                <a:spcPts val="400"/>
              </a:spcAft>
              <a:buSzPct val="100000"/>
              <a:buChar char="•"/>
            </a:pPr>
            <a:r>
              <a:rPr lang="en-US" sz="1300" dirty="0">
                <a:solidFill>
                  <a:schemeClr val="tx1"/>
                </a:solidFill>
              </a:rPr>
              <a:t>cannot be reduced to formal constraints, so it is evaluated apart from the controller</a:t>
            </a:r>
            <a:endParaRPr lang="en-US" sz="1300" dirty="0"/>
          </a:p>
        </p:txBody>
      </p:sp>
      <p:sp>
        <p:nvSpPr>
          <p:cNvPr id="14" name="card śabdālaṅkāra identifiers"/>
          <p:cNvSpPr/>
          <p:nvPr/>
        </p:nvSpPr>
        <p:spPr>
          <a:xfrm>
            <a:off x="548640" y="3909060"/>
            <a:ext cx="5410048" cy="2354580"/>
          </a:xfrm>
          <a:prstGeom prst="roundRect">
            <a:avLst>
              <a:gd name="adj" fmla="val 3883"/>
            </a:avLst>
          </a:prstGeom>
          <a:solidFill>
            <a:schemeClr val="bg2"/>
          </a:solidFill>
          <a:ln w="12700">
            <a:solidFill>
              <a:schemeClr val="bg2"/>
            </a:solidFill>
            <a:prstDash val="solid"/>
          </a:ln>
        </p:spPr>
      </p:sp>
      <p:sp>
        <p:nvSpPr>
          <p:cNvPr id="15" name="Shape 12"/>
          <p:cNvSpPr/>
          <p:nvPr/>
        </p:nvSpPr>
        <p:spPr>
          <a:xfrm>
            <a:off x="749808" y="4091940"/>
            <a:ext cx="420624" cy="420624"/>
          </a:xfrm>
          <a:prstGeom prst="ellipse">
            <a:avLst/>
          </a:prstGeom>
          <a:solidFill>
            <a:schemeClr val="accent3"/>
          </a:solidFill>
          <a:ln w="12700">
            <a:solidFill>
              <a:schemeClr val="accent3"/>
            </a:solidFill>
            <a:prstDash val="solid"/>
          </a:ln>
        </p:spPr>
      </p:sp>
      <p:sp>
        <p:nvSpPr>
          <p:cNvPr id="16" name="Text 13"/>
          <p:cNvSpPr txBox="1"/>
          <p:nvPr/>
        </p:nvSpPr>
        <p:spPr>
          <a:xfrm>
            <a:off x="749808" y="40919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280160" y="4073652"/>
            <a:ext cx="4495648" cy="457200"/>
          </a:xfrm>
          <a:prstGeom prst="rect">
            <a:avLst/>
          </a:prstGeom>
          <a:noFill/>
          <a:ln/>
        </p:spPr>
        <p:txBody>
          <a:bodyPr wrap="square" lIns="0" tIns="0" rIns="0" bIns="0" rtlCol="0" anchor="ctr"/>
          <a:lstStyle/>
          <a:p>
            <a:pPr indent="0" marL="0">
              <a:buNone/>
            </a:pPr>
            <a:r>
              <a:rPr lang="en-US" sz="1600" b="1" dirty="0">
                <a:solidFill>
                  <a:schemeClr val="accent3"/>
                </a:solidFill>
              </a:rPr>
              <a:t>śabdālaṅkāra identifiers</a:t>
            </a:r>
            <a:endParaRPr lang="en-US" sz="1600" dirty="0"/>
          </a:p>
        </p:txBody>
      </p:sp>
      <p:sp>
        <p:nvSpPr>
          <p:cNvPr id="18" name="Text 15"/>
          <p:cNvSpPr txBox="1"/>
          <p:nvPr/>
        </p:nvSpPr>
        <p:spPr>
          <a:xfrm>
            <a:off x="749808" y="4640580"/>
            <a:ext cx="5026000" cy="15133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deterministic identifiers for figures of sound</a:t>
            </a:r>
            <a:endParaRPr lang="en-US" sz="1300" dirty="0"/>
          </a:p>
          <a:p>
            <a:pPr marL="342900" indent="-342900">
              <a:spcAft>
                <a:spcPts val="400"/>
              </a:spcAft>
              <a:buSzPct val="100000"/>
              <a:buChar char="•"/>
            </a:pPr>
            <a:r>
              <a:rPr lang="en-US" sz="1300" dirty="0">
                <a:solidFill>
                  <a:schemeClr val="tx1"/>
                </a:solidFill>
              </a:rPr>
              <a:t>adapted from the Sanskrit yamaka and anuprāsa identifiers (Barbadikar and Kulkarni, 2023, 2024)</a:t>
            </a:r>
            <a:endParaRPr lang="en-US" sz="1300" dirty="0"/>
          </a:p>
          <a:p>
            <a:pPr marL="342900" indent="-342900">
              <a:spcAft>
                <a:spcPts val="400"/>
              </a:spcAft>
              <a:buSzPct val="100000"/>
              <a:buChar char="•"/>
            </a:pPr>
            <a:r>
              <a:rPr lang="en-US" sz="1300" dirty="0">
                <a:solidFill>
                  <a:schemeClr val="tx1"/>
                </a:solidFill>
              </a:rPr>
              <a:t>arthālaṅkāras (figures of sense) remain outside the scope</a:t>
            </a:r>
            <a:endParaRPr lang="en-US" sz="1300" dirty="0"/>
          </a:p>
        </p:txBody>
      </p:sp>
      <p:sp>
        <p:nvSpPr>
          <p:cNvPr id="19" name="card Euphony index"/>
          <p:cNvSpPr/>
          <p:nvPr/>
        </p:nvSpPr>
        <p:spPr>
          <a:xfrm>
            <a:off x="6233008" y="3909060"/>
            <a:ext cx="5410048" cy="2354580"/>
          </a:xfrm>
          <a:prstGeom prst="roundRect">
            <a:avLst>
              <a:gd name="adj" fmla="val 3883"/>
            </a:avLst>
          </a:prstGeom>
          <a:solidFill>
            <a:schemeClr val="bg2"/>
          </a:solidFill>
          <a:ln w="12700">
            <a:solidFill>
              <a:schemeClr val="bg2"/>
            </a:solidFill>
            <a:prstDash val="solid"/>
          </a:ln>
        </p:spPr>
      </p:sp>
      <p:sp>
        <p:nvSpPr>
          <p:cNvPr id="20" name="Shape 17"/>
          <p:cNvSpPr/>
          <p:nvPr/>
        </p:nvSpPr>
        <p:spPr>
          <a:xfrm>
            <a:off x="6434176" y="4091940"/>
            <a:ext cx="420624" cy="420624"/>
          </a:xfrm>
          <a:prstGeom prst="ellipse">
            <a:avLst/>
          </a:prstGeom>
          <a:solidFill>
            <a:schemeClr val="accent3"/>
          </a:solidFill>
          <a:ln w="12700">
            <a:solidFill>
              <a:schemeClr val="accent3"/>
            </a:solidFill>
            <a:prstDash val="solid"/>
          </a:ln>
        </p:spPr>
      </p:sp>
      <p:sp>
        <p:nvSpPr>
          <p:cNvPr id="21" name="Text 18"/>
          <p:cNvSpPr txBox="1"/>
          <p:nvPr/>
        </p:nvSpPr>
        <p:spPr>
          <a:xfrm>
            <a:off x="6434176" y="40919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6964528" y="4073652"/>
            <a:ext cx="4495648" cy="457200"/>
          </a:xfrm>
          <a:prstGeom prst="rect">
            <a:avLst/>
          </a:prstGeom>
          <a:noFill/>
          <a:ln/>
        </p:spPr>
        <p:txBody>
          <a:bodyPr wrap="square" lIns="0" tIns="0" rIns="0" bIns="0" rtlCol="0" anchor="ctr"/>
          <a:lstStyle/>
          <a:p>
            <a:pPr indent="0" marL="0">
              <a:buNone/>
            </a:pPr>
            <a:r>
              <a:rPr lang="en-US" sz="1600" b="1" dirty="0">
                <a:solidFill>
                  <a:schemeClr val="accent3"/>
                </a:solidFill>
              </a:rPr>
              <a:t>Euphony index</a:t>
            </a:r>
            <a:endParaRPr lang="en-US" sz="1600" dirty="0"/>
          </a:p>
        </p:txBody>
      </p:sp>
      <p:sp>
        <p:nvSpPr>
          <p:cNvPr id="23" name="Text 20"/>
          <p:cNvSpPr txBox="1"/>
          <p:nvPr/>
        </p:nvSpPr>
        <p:spPr>
          <a:xfrm>
            <a:off x="6434176" y="4640580"/>
            <a:ext cx="5026000" cy="15133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one score combining sound euphony, alliteration and word density</a:t>
            </a:r>
            <a:endParaRPr lang="en-US" sz="1300" dirty="0"/>
          </a:p>
          <a:p>
            <a:pPr marL="342900" indent="-342900">
              <a:spcAft>
                <a:spcPts val="400"/>
              </a:spcAft>
              <a:buSzPct val="100000"/>
              <a:buChar char="•"/>
            </a:pPr>
            <a:r>
              <a:rPr lang="en-US" sz="1300" dirty="0">
                <a:solidFill>
                  <a:schemeClr val="tx1"/>
                </a:solidFill>
              </a:rPr>
              <a:t>its weights are learned against the human ratings</a:t>
            </a:r>
            <a:endParaRPr lang="en-US" sz="1300" dirty="0"/>
          </a:p>
          <a:p>
            <a:pPr marL="342900" indent="-342900">
              <a:spcAft>
                <a:spcPts val="400"/>
              </a:spcAft>
              <a:buSzPct val="100000"/>
              <a:buChar char="•"/>
            </a:pPr>
            <a:r>
              <a:rPr lang="en-US" sz="1300" dirty="0">
                <a:solidFill>
                  <a:schemeClr val="tx1"/>
                </a:solidFill>
              </a:rPr>
              <a:t>all of the above feed the RLVR reward</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Chandohasam framework: diffusion, controller, rewards</a:t>
            </a:r>
            <a:endParaRPr lang="en-US" sz="3200" dirty="0"/>
          </a:p>
        </p:txBody>
      </p:sp>
      <p:pic>
        <p:nvPicPr>
          <p:cNvPr id="4" name="Image 0" descr="/home/samvaran/phd_workspace/anlp_project/presentation/figures/fig_framework.png">    </p:cNvPr>
          <p:cNvPicPr>
            <a:picLocks noChangeAspect="1"/>
          </p:cNvPicPr>
          <p:nvPr/>
        </p:nvPicPr>
        <p:blipFill>
          <a:blip r:embed="rId1"/>
          <a:stretch>
            <a:fillRect/>
          </a:stretch>
        </p:blipFill>
        <p:spPr>
          <a:xfrm>
            <a:off x="1661008" y="1234440"/>
            <a:ext cx="8869680" cy="3692230"/>
          </a:xfrm>
          <a:prstGeom prst="rect">
            <a:avLst/>
          </a:prstGeom>
        </p:spPr>
      </p:pic>
      <p:sp>
        <p:nvSpPr>
          <p:cNvPr id="5" name="card Controller, not classifier"/>
          <p:cNvSpPr/>
          <p:nvPr/>
        </p:nvSpPr>
        <p:spPr>
          <a:xfrm>
            <a:off x="548640" y="5036398"/>
            <a:ext cx="3515258" cy="1227242"/>
          </a:xfrm>
          <a:prstGeom prst="roundRect">
            <a:avLst>
              <a:gd name="adj" fmla="val 7451"/>
            </a:avLst>
          </a:prstGeom>
          <a:solidFill>
            <a:schemeClr val="bg2"/>
          </a:solidFill>
          <a:ln w="12700">
            <a:solidFill>
              <a:schemeClr val="bg2"/>
            </a:solidFill>
            <a:prstDash val="solid"/>
          </a:ln>
        </p:spPr>
      </p:sp>
      <p:sp>
        <p:nvSpPr>
          <p:cNvPr id="6" name="Text 2"/>
          <p:cNvSpPr txBox="1"/>
          <p:nvPr/>
        </p:nvSpPr>
        <p:spPr>
          <a:xfrm>
            <a:off x="749808" y="5200990"/>
            <a:ext cx="3131210" cy="384048"/>
          </a:xfrm>
          <a:prstGeom prst="rect">
            <a:avLst/>
          </a:prstGeom>
          <a:noFill/>
          <a:ln/>
        </p:spPr>
        <p:txBody>
          <a:bodyPr wrap="square" lIns="0" tIns="0" rIns="0" bIns="0" rtlCol="0" anchor="t"/>
          <a:lstStyle/>
          <a:p>
            <a:pPr indent="0" marL="0">
              <a:buNone/>
            </a:pPr>
            <a:r>
              <a:rPr lang="en-US" sz="1400" b="1" dirty="0">
                <a:solidFill>
                  <a:schemeClr val="accent1"/>
                </a:solidFill>
              </a:rPr>
              <a:t>Controller, not classifier</a:t>
            </a:r>
            <a:endParaRPr lang="en-US" sz="1400" dirty="0"/>
          </a:p>
        </p:txBody>
      </p:sp>
      <p:sp>
        <p:nvSpPr>
          <p:cNvPr id="7" name="Text 3"/>
          <p:cNvSpPr txBox="1"/>
          <p:nvPr/>
        </p:nvSpPr>
        <p:spPr>
          <a:xfrm>
            <a:off x="749808" y="5621614"/>
            <a:ext cx="3131210" cy="532298"/>
          </a:xfrm>
          <a:prstGeom prst="rect">
            <a:avLst/>
          </a:prstGeom>
          <a:noFill/>
          <a:ln/>
        </p:spPr>
        <p:txBody>
          <a:bodyPr wrap="square" lIns="0" tIns="0" rIns="0" bIns="0" rtlCol="0" anchor="t"/>
          <a:lstStyle/>
          <a:p>
            <a:pPr indent="0" marL="0">
              <a:buNone/>
            </a:pPr>
            <a:r>
              <a:rPr lang="en-US" sz="1200" dirty="0">
                <a:solidFill>
                  <a:schemeClr val="tx1"/>
                </a:solidFill>
              </a:rPr>
              <a:t>The DAWG replaces PoetryDiffusion’s learned BERT metrical classifier: no loss terms, no gradients; an exact 0/1 verdict plus the edit distance D.</a:t>
            </a:r>
            <a:endParaRPr lang="en-US" sz="1200" dirty="0"/>
          </a:p>
        </p:txBody>
      </p:sp>
      <p:sp>
        <p:nvSpPr>
          <p:cNvPr id="8" name="card Lexical gate"/>
          <p:cNvSpPr/>
          <p:nvPr/>
        </p:nvSpPr>
        <p:spPr>
          <a:xfrm>
            <a:off x="4338218" y="5036398"/>
            <a:ext cx="3515258" cy="1227242"/>
          </a:xfrm>
          <a:prstGeom prst="roundRect">
            <a:avLst>
              <a:gd name="adj" fmla="val 7451"/>
            </a:avLst>
          </a:prstGeom>
          <a:solidFill>
            <a:schemeClr val="bg2"/>
          </a:solidFill>
          <a:ln w="12700">
            <a:solidFill>
              <a:schemeClr val="bg2"/>
            </a:solidFill>
            <a:prstDash val="solid"/>
          </a:ln>
        </p:spPr>
      </p:sp>
      <p:sp>
        <p:nvSpPr>
          <p:cNvPr id="9" name="Text 5"/>
          <p:cNvSpPr txBox="1"/>
          <p:nvPr/>
        </p:nvSpPr>
        <p:spPr>
          <a:xfrm>
            <a:off x="4539386" y="5200990"/>
            <a:ext cx="3131210" cy="384048"/>
          </a:xfrm>
          <a:prstGeom prst="rect">
            <a:avLst/>
          </a:prstGeom>
          <a:noFill/>
          <a:ln/>
        </p:spPr>
        <p:txBody>
          <a:bodyPr wrap="square" lIns="0" tIns="0" rIns="0" bIns="0" rtlCol="0" anchor="t"/>
          <a:lstStyle/>
          <a:p>
            <a:pPr indent="0" marL="0">
              <a:buNone/>
            </a:pPr>
            <a:r>
              <a:rPr lang="en-US" sz="1400" b="1" dirty="0">
                <a:solidFill>
                  <a:schemeClr val="accent1"/>
                </a:solidFill>
              </a:rPr>
              <a:t>Lexical gate</a:t>
            </a:r>
            <a:endParaRPr lang="en-US" sz="1400" dirty="0"/>
          </a:p>
        </p:txBody>
      </p:sp>
      <p:sp>
        <p:nvSpPr>
          <p:cNvPr id="10" name="Text 6"/>
          <p:cNvSpPr txBox="1"/>
          <p:nvPr/>
        </p:nvSpPr>
        <p:spPr>
          <a:xfrm>
            <a:off x="4539386" y="5621614"/>
            <a:ext cx="3131210" cy="532298"/>
          </a:xfrm>
          <a:prstGeom prst="rect">
            <a:avLst/>
          </a:prstGeom>
          <a:noFill/>
          <a:ln/>
        </p:spPr>
        <p:txBody>
          <a:bodyPr wrap="square" lIns="0" tIns="0" rIns="0" bIns="0" rtlCol="0" anchor="t"/>
          <a:lstStyle/>
          <a:p>
            <a:pPr indent="0" marL="0">
              <a:buNone/>
            </a:pPr>
            <a:r>
              <a:rPr lang="en-US" sz="1200" dirty="0">
                <a:solidFill>
                  <a:schemeClr val="tx1"/>
                </a:solidFill>
              </a:rPr>
              <a:t>A macro-dictionary resolves words after sandhi and samāsa splitting and rejects candidates with no valid segmentation.</a:t>
            </a:r>
            <a:endParaRPr lang="en-US" sz="1200" dirty="0"/>
          </a:p>
        </p:txBody>
      </p:sp>
      <p:sp>
        <p:nvSpPr>
          <p:cNvPr id="11" name="card RLVR: R = Σ λᵢ rᵢ"/>
          <p:cNvSpPr/>
          <p:nvPr/>
        </p:nvSpPr>
        <p:spPr>
          <a:xfrm>
            <a:off x="8127797" y="5036398"/>
            <a:ext cx="3515258" cy="1227242"/>
          </a:xfrm>
          <a:prstGeom prst="roundRect">
            <a:avLst>
              <a:gd name="adj" fmla="val 7451"/>
            </a:avLst>
          </a:prstGeom>
          <a:solidFill>
            <a:schemeClr val="bg2"/>
          </a:solidFill>
          <a:ln w="12700">
            <a:solidFill>
              <a:schemeClr val="bg2"/>
            </a:solidFill>
            <a:prstDash val="solid"/>
          </a:ln>
        </p:spPr>
      </p:sp>
      <p:sp>
        <p:nvSpPr>
          <p:cNvPr id="12" name="Text 8"/>
          <p:cNvSpPr txBox="1"/>
          <p:nvPr/>
        </p:nvSpPr>
        <p:spPr>
          <a:xfrm>
            <a:off x="8328965" y="5200990"/>
            <a:ext cx="3131210" cy="384048"/>
          </a:xfrm>
          <a:prstGeom prst="rect">
            <a:avLst/>
          </a:prstGeom>
          <a:noFill/>
          <a:ln/>
        </p:spPr>
        <p:txBody>
          <a:bodyPr wrap="square" lIns="0" tIns="0" rIns="0" bIns="0" rtlCol="0" anchor="t"/>
          <a:lstStyle/>
          <a:p>
            <a:pPr indent="0" marL="0">
              <a:buNone/>
            </a:pPr>
            <a:r>
              <a:rPr lang="en-US" sz="1400" b="1" dirty="0">
                <a:solidFill>
                  <a:schemeClr val="accent1"/>
                </a:solidFill>
              </a:rPr>
              <a:t>RLVR: R = Σ λᵢ rᵢ</a:t>
            </a:r>
            <a:endParaRPr lang="en-US" sz="1400" dirty="0"/>
          </a:p>
        </p:txBody>
      </p:sp>
      <p:sp>
        <p:nvSpPr>
          <p:cNvPr id="13" name="Text 9"/>
          <p:cNvSpPr txBox="1"/>
          <p:nvPr/>
        </p:nvSpPr>
        <p:spPr>
          <a:xfrm>
            <a:off x="8328965" y="5621614"/>
            <a:ext cx="3131210" cy="532298"/>
          </a:xfrm>
          <a:prstGeom prst="rect">
            <a:avLst/>
          </a:prstGeom>
          <a:noFill/>
          <a:ln/>
        </p:spPr>
        <p:txBody>
          <a:bodyPr wrap="square" lIns="0" tIns="0" rIns="0" bIns="0" rtlCol="0" anchor="t"/>
          <a:lstStyle/>
          <a:p>
            <a:pPr indent="0" marL="0">
              <a:buNone/>
            </a:pPr>
            <a:r>
              <a:rPr lang="en-US" sz="1200" dirty="0">
                <a:solidFill>
                  <a:schemeClr val="tx1"/>
                </a:solidFill>
              </a:rPr>
              <a:t>Poetics suite, śabdālaṅkāra checks and the coherence metric as verifiable rewards; the DAWG stays active, so RLVR optimises within the valid region.</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Progress so far</a:t>
            </a:r>
            <a:endParaRPr lang="en-US" sz="3200" dirty="0"/>
          </a:p>
        </p:txBody>
      </p:sp>
      <p:sp>
        <p:nvSpPr>
          <p:cNvPr id="4" name="Shape 1"/>
          <p:cNvSpPr/>
          <p:nvPr/>
        </p:nvSpPr>
        <p:spPr>
          <a:xfrm>
            <a:off x="548640" y="1325880"/>
            <a:ext cx="3515258" cy="1600200"/>
          </a:xfrm>
          <a:prstGeom prst="roundRect">
            <a:avLst>
              <a:gd name="adj" fmla="val 5714"/>
            </a:avLst>
          </a:prstGeom>
          <a:solidFill>
            <a:schemeClr val="bg2"/>
          </a:solidFill>
          <a:ln w="12700">
            <a:solidFill>
              <a:schemeClr val="bg2"/>
            </a:solidFill>
            <a:prstDash val="solid"/>
          </a:ln>
        </p:spPr>
      </p:sp>
      <p:sp>
        <p:nvSpPr>
          <p:cNvPr id="5" name="Text 2"/>
          <p:cNvSpPr txBox="1"/>
          <p:nvPr/>
        </p:nvSpPr>
        <p:spPr>
          <a:xfrm>
            <a:off x="685800" y="1435608"/>
            <a:ext cx="3240938" cy="88011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12,673</a:t>
            </a:r>
            <a:endParaRPr lang="en-US" sz="3600" dirty="0"/>
          </a:p>
        </p:txBody>
      </p:sp>
      <p:sp>
        <p:nvSpPr>
          <p:cNvPr id="6" name="Text 3"/>
          <p:cNvSpPr txBox="1"/>
          <p:nvPr/>
        </p:nvSpPr>
        <p:spPr>
          <a:xfrm>
            <a:off x="685800" y="2253996"/>
            <a:ext cx="3240938" cy="640080"/>
          </a:xfrm>
          <a:prstGeom prst="rect">
            <a:avLst/>
          </a:prstGeom>
          <a:noFill/>
          <a:ln/>
        </p:spPr>
        <p:txBody>
          <a:bodyPr wrap="square" lIns="0" tIns="0" rIns="0" bIns="0" rtlCol="0" anchor="t"/>
          <a:lstStyle/>
          <a:p>
            <a:pPr algn="ctr" indent="0" marL="0">
              <a:buNone/>
            </a:pPr>
            <a:r>
              <a:rPr lang="en-US" sz="1250" dirty="0">
                <a:solidFill>
                  <a:schemeClr val="tx2"/>
                </a:solidFill>
              </a:rPr>
              <a:t>labelled poems in the benchmark, four sources, audited</a:t>
            </a:r>
            <a:endParaRPr lang="en-US" sz="1250" dirty="0"/>
          </a:p>
        </p:txBody>
      </p:sp>
      <p:sp>
        <p:nvSpPr>
          <p:cNvPr id="7" name="Shape 4"/>
          <p:cNvSpPr/>
          <p:nvPr/>
        </p:nvSpPr>
        <p:spPr>
          <a:xfrm>
            <a:off x="4338218" y="1325880"/>
            <a:ext cx="3515258" cy="1600200"/>
          </a:xfrm>
          <a:prstGeom prst="roundRect">
            <a:avLst>
              <a:gd name="adj" fmla="val 5714"/>
            </a:avLst>
          </a:prstGeom>
          <a:solidFill>
            <a:schemeClr val="bg2"/>
          </a:solidFill>
          <a:ln w="12700">
            <a:solidFill>
              <a:schemeClr val="bg2"/>
            </a:solidFill>
            <a:prstDash val="solid"/>
          </a:ln>
        </p:spPr>
      </p:sp>
      <p:sp>
        <p:nvSpPr>
          <p:cNvPr id="8" name="Text 5"/>
          <p:cNvSpPr txBox="1"/>
          <p:nvPr/>
        </p:nvSpPr>
        <p:spPr>
          <a:xfrm>
            <a:off x="4475378" y="1435608"/>
            <a:ext cx="3240938" cy="88011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37</a:t>
            </a:r>
            <a:endParaRPr lang="en-US" sz="3600" dirty="0"/>
          </a:p>
        </p:txBody>
      </p:sp>
      <p:sp>
        <p:nvSpPr>
          <p:cNvPr id="9" name="Text 6"/>
          <p:cNvSpPr txBox="1"/>
          <p:nvPr/>
        </p:nvSpPr>
        <p:spPr>
          <a:xfrm>
            <a:off x="4475378" y="2253996"/>
            <a:ext cx="3240938" cy="640080"/>
          </a:xfrm>
          <a:prstGeom prst="rect">
            <a:avLst/>
          </a:prstGeom>
          <a:noFill/>
          <a:ln/>
        </p:spPr>
        <p:txBody>
          <a:bodyPr wrap="square" lIns="0" tIns="0" rIns="0" bIns="0" rtlCol="0" anchor="t"/>
          <a:lstStyle/>
          <a:p>
            <a:pPr algn="ctr" indent="0" marL="0">
              <a:buNone/>
            </a:pPr>
            <a:r>
              <a:rPr lang="en-US" sz="1250" dirty="0">
                <a:solidFill>
                  <a:schemeClr val="tx2"/>
                </a:solidFill>
              </a:rPr>
              <a:t>metres in one labelled DAWG; 370,315 legal lines</a:t>
            </a:r>
            <a:endParaRPr lang="en-US" sz="1250" dirty="0"/>
          </a:p>
        </p:txBody>
      </p:sp>
      <p:sp>
        <p:nvSpPr>
          <p:cNvPr id="10" name="Shape 7"/>
          <p:cNvSpPr/>
          <p:nvPr/>
        </p:nvSpPr>
        <p:spPr>
          <a:xfrm>
            <a:off x="8127797" y="1325880"/>
            <a:ext cx="3515258" cy="1600200"/>
          </a:xfrm>
          <a:prstGeom prst="roundRect">
            <a:avLst>
              <a:gd name="adj" fmla="val 5714"/>
            </a:avLst>
          </a:prstGeom>
          <a:solidFill>
            <a:schemeClr val="bg2"/>
          </a:solidFill>
          <a:ln w="12700">
            <a:solidFill>
              <a:schemeClr val="bg2"/>
            </a:solidFill>
            <a:prstDash val="solid"/>
          </a:ln>
        </p:spPr>
      </p:sp>
      <p:sp>
        <p:nvSpPr>
          <p:cNvPr id="11" name="Text 8"/>
          <p:cNvSpPr txBox="1"/>
          <p:nvPr/>
        </p:nvSpPr>
        <p:spPr>
          <a:xfrm>
            <a:off x="8264957" y="1435608"/>
            <a:ext cx="3240938" cy="88011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99.85%</a:t>
            </a:r>
            <a:endParaRPr lang="en-US" sz="3600" dirty="0"/>
          </a:p>
        </p:txBody>
      </p:sp>
      <p:sp>
        <p:nvSpPr>
          <p:cNvPr id="12" name="Text 9"/>
          <p:cNvSpPr txBox="1"/>
          <p:nvPr/>
        </p:nvSpPr>
        <p:spPr>
          <a:xfrm>
            <a:off x="8264957" y="2253996"/>
            <a:ext cx="3240938" cy="640080"/>
          </a:xfrm>
          <a:prstGeom prst="rect">
            <a:avLst/>
          </a:prstGeom>
          <a:noFill/>
          <a:ln/>
        </p:spPr>
        <p:txBody>
          <a:bodyPr wrap="square" lIns="0" tIns="0" rIns="0" bIns="0" rtlCol="0" anchor="t"/>
          <a:lstStyle/>
          <a:p>
            <a:pPr algn="ctr" indent="0" marL="0">
              <a:buNone/>
            </a:pPr>
            <a:r>
              <a:rPr lang="en-US" sz="1250" dirty="0">
                <a:solidFill>
                  <a:schemeClr val="tx2"/>
                </a:solidFill>
              </a:rPr>
              <a:t>Bhāgavatamu poems identified with their labelled metre</a:t>
            </a:r>
            <a:endParaRPr lang="en-US" sz="1250" dirty="0"/>
          </a:p>
        </p:txBody>
      </p:sp>
      <p:sp>
        <p:nvSpPr>
          <p:cNvPr id="13" name="Shape 10"/>
          <p:cNvSpPr/>
          <p:nvPr/>
        </p:nvSpPr>
        <p:spPr>
          <a:xfrm>
            <a:off x="548640" y="3154680"/>
            <a:ext cx="3515258" cy="1600200"/>
          </a:xfrm>
          <a:prstGeom prst="roundRect">
            <a:avLst>
              <a:gd name="adj" fmla="val 5714"/>
            </a:avLst>
          </a:prstGeom>
          <a:solidFill>
            <a:schemeClr val="bg2"/>
          </a:solidFill>
          <a:ln w="12700">
            <a:solidFill>
              <a:schemeClr val="bg2"/>
            </a:solidFill>
            <a:prstDash val="solid"/>
          </a:ln>
        </p:spPr>
      </p:sp>
      <p:sp>
        <p:nvSpPr>
          <p:cNvPr id="14" name="Text 11"/>
          <p:cNvSpPr txBox="1"/>
          <p:nvPr/>
        </p:nvSpPr>
        <p:spPr>
          <a:xfrm>
            <a:off x="685800" y="3264408"/>
            <a:ext cx="3240938" cy="88011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555 × 8</a:t>
            </a:r>
            <a:endParaRPr lang="en-US" sz="3600" dirty="0"/>
          </a:p>
        </p:txBody>
      </p:sp>
      <p:sp>
        <p:nvSpPr>
          <p:cNvPr id="15" name="Text 12"/>
          <p:cNvSpPr txBox="1"/>
          <p:nvPr/>
        </p:nvSpPr>
        <p:spPr>
          <a:xfrm>
            <a:off x="685800" y="4082796"/>
            <a:ext cx="3240938" cy="640080"/>
          </a:xfrm>
          <a:prstGeom prst="rect">
            <a:avLst/>
          </a:prstGeom>
          <a:noFill/>
          <a:ln/>
        </p:spPr>
        <p:txBody>
          <a:bodyPr wrap="square" lIns="0" tIns="0" rIns="0" bIns="0" rtlCol="0" anchor="t"/>
          <a:lstStyle/>
          <a:p>
            <a:pPr algn="ctr" indent="0" marL="0">
              <a:buNone/>
            </a:pPr>
            <a:r>
              <a:rPr lang="en-US" sz="1250" dirty="0">
                <a:solidFill>
                  <a:schemeClr val="tx2"/>
                </a:solidFill>
              </a:rPr>
              <a:t>poems per model and mode, four models, free and constrained</a:t>
            </a:r>
            <a:endParaRPr lang="en-US" sz="1250" dirty="0"/>
          </a:p>
        </p:txBody>
      </p:sp>
      <p:sp>
        <p:nvSpPr>
          <p:cNvPr id="16" name="Shape 13"/>
          <p:cNvSpPr/>
          <p:nvPr/>
        </p:nvSpPr>
        <p:spPr>
          <a:xfrm>
            <a:off x="4338218" y="3154680"/>
            <a:ext cx="3515258" cy="1600200"/>
          </a:xfrm>
          <a:prstGeom prst="roundRect">
            <a:avLst>
              <a:gd name="adj" fmla="val 5714"/>
            </a:avLst>
          </a:prstGeom>
          <a:solidFill>
            <a:schemeClr val="bg2"/>
          </a:solidFill>
          <a:ln w="12700">
            <a:solidFill>
              <a:schemeClr val="bg2"/>
            </a:solidFill>
            <a:prstDash val="solid"/>
          </a:ln>
        </p:spPr>
      </p:sp>
      <p:sp>
        <p:nvSpPr>
          <p:cNvPr id="17" name="Text 14"/>
          <p:cNvSpPr txBox="1"/>
          <p:nvPr/>
        </p:nvSpPr>
        <p:spPr>
          <a:xfrm>
            <a:off x="4475378" y="3264408"/>
            <a:ext cx="3240938" cy="88011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5</a:t>
            </a:r>
            <a:endParaRPr lang="en-US" sz="3600" dirty="0"/>
          </a:p>
        </p:txBody>
      </p:sp>
      <p:sp>
        <p:nvSpPr>
          <p:cNvPr id="18" name="Text 15"/>
          <p:cNvSpPr txBox="1"/>
          <p:nvPr/>
        </p:nvSpPr>
        <p:spPr>
          <a:xfrm>
            <a:off x="4475378" y="4082796"/>
            <a:ext cx="3240938" cy="640080"/>
          </a:xfrm>
          <a:prstGeom prst="rect">
            <a:avLst/>
          </a:prstGeom>
          <a:noFill/>
          <a:ln/>
        </p:spPr>
        <p:txBody>
          <a:bodyPr wrap="square" lIns="0" tIns="0" rIns="0" bIns="0" rtlCol="0" anchor="t"/>
          <a:lstStyle/>
          <a:p>
            <a:pPr algn="ctr" indent="0" marL="0">
              <a:buNone/>
            </a:pPr>
            <a:r>
              <a:rPr lang="en-US" sz="1250" dirty="0">
                <a:solidFill>
                  <a:schemeClr val="tx2"/>
                </a:solidFill>
              </a:rPr>
              <a:t>deterministic poetics metrics from Kāvyālaṅkārasaṅgrahamu</a:t>
            </a:r>
            <a:endParaRPr lang="en-US" sz="1250" dirty="0"/>
          </a:p>
        </p:txBody>
      </p:sp>
      <p:sp>
        <p:nvSpPr>
          <p:cNvPr id="19" name="Shape 16"/>
          <p:cNvSpPr/>
          <p:nvPr/>
        </p:nvSpPr>
        <p:spPr>
          <a:xfrm>
            <a:off x="8127797" y="3154680"/>
            <a:ext cx="3515258" cy="1600200"/>
          </a:xfrm>
          <a:prstGeom prst="roundRect">
            <a:avLst>
              <a:gd name="adj" fmla="val 5714"/>
            </a:avLst>
          </a:prstGeom>
          <a:solidFill>
            <a:schemeClr val="bg2"/>
          </a:solidFill>
          <a:ln w="12700">
            <a:solidFill>
              <a:schemeClr val="bg2"/>
            </a:solidFill>
            <a:prstDash val="solid"/>
          </a:ln>
        </p:spPr>
      </p:sp>
      <p:sp>
        <p:nvSpPr>
          <p:cNvPr id="20" name="Text 17"/>
          <p:cNvSpPr txBox="1"/>
          <p:nvPr/>
        </p:nvSpPr>
        <p:spPr>
          <a:xfrm>
            <a:off x="8264957" y="3264408"/>
            <a:ext cx="3240938" cy="88011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120M</a:t>
            </a:r>
            <a:endParaRPr lang="en-US" sz="3600" dirty="0"/>
          </a:p>
        </p:txBody>
      </p:sp>
      <p:sp>
        <p:nvSpPr>
          <p:cNvPr id="21" name="Text 18"/>
          <p:cNvSpPr txBox="1"/>
          <p:nvPr/>
        </p:nvSpPr>
        <p:spPr>
          <a:xfrm>
            <a:off x="8264957" y="4082796"/>
            <a:ext cx="3240938" cy="640080"/>
          </a:xfrm>
          <a:prstGeom prst="rect">
            <a:avLst/>
          </a:prstGeom>
          <a:noFill/>
          <a:ln/>
        </p:spPr>
        <p:txBody>
          <a:bodyPr wrap="square" lIns="0" tIns="0" rIns="0" bIns="0" rtlCol="0" anchor="t"/>
          <a:lstStyle/>
          <a:p>
            <a:pPr algn="ctr" indent="0" marL="0">
              <a:buNone/>
            </a:pPr>
            <a:r>
              <a:rPr lang="en-US" sz="1250" dirty="0">
                <a:solidFill>
                  <a:schemeClr val="tx2"/>
                </a:solidFill>
              </a:rPr>
              <a:t>parameters, our masked-diffusion model on 4.98B Telugu tokens</a:t>
            </a:r>
            <a:endParaRPr lang="en-US" sz="1250" dirty="0"/>
          </a:p>
        </p:txBody>
      </p:sp>
      <p:sp>
        <p:nvSpPr>
          <p:cNvPr id="22" name="Shape 19"/>
          <p:cNvSpPr/>
          <p:nvPr/>
        </p:nvSpPr>
        <p:spPr>
          <a:xfrm>
            <a:off x="548640" y="4983480"/>
            <a:ext cx="11094415" cy="1280160"/>
          </a:xfrm>
          <a:prstGeom prst="roundRect">
            <a:avLst>
              <a:gd name="adj" fmla="val 7143"/>
            </a:avLst>
          </a:prstGeom>
          <a:solidFill>
            <a:schemeClr val="accent1"/>
          </a:solidFill>
          <a:ln w="12700">
            <a:solidFill>
              <a:schemeClr val="accent1"/>
            </a:solidFill>
            <a:prstDash val="solid"/>
          </a:ln>
        </p:spPr>
      </p:sp>
      <p:sp>
        <p:nvSpPr>
          <p:cNvPr id="23" name="Text 20"/>
          <p:cNvSpPr txBox="1"/>
          <p:nvPr/>
        </p:nvSpPr>
        <p:spPr>
          <a:xfrm>
            <a:off x="822960" y="4983480"/>
            <a:ext cx="10545775" cy="1280160"/>
          </a:xfrm>
          <a:prstGeom prst="rect">
            <a:avLst/>
          </a:prstGeom>
          <a:noFill/>
          <a:ln/>
        </p:spPr>
        <p:txBody>
          <a:bodyPr wrap="square" lIns="0" tIns="0" rIns="0" bIns="0" rtlCol="0" anchor="ctr"/>
          <a:lstStyle/>
          <a:p>
            <a:pPr indent="0" marL="0">
              <a:buNone/>
            </a:pPr>
            <a:r>
              <a:rPr lang="en-US" sz="1500" b="1" dirty="0">
                <a:solidFill>
                  <a:schemeClr val="bg1"/>
                </a:solidFill>
              </a:rPr>
              <a:t>Form is solved by construction. </a:t>
            </a:r>
            <a:r>
              <a:rPr lang="en-US" sz="1500" dirty="0">
                <a:solidFill>
                  <a:schemeClr val="bg1"/>
                </a:solidFill>
              </a:rPr>
              <a:t>What remains is meaning: evaluating and improving semantic coherence, extending the metrics, and modelling the coherence metric against human judgements.</a:t>
            </a:r>
            <a:endParaRPr lang="en-US" sz="15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Next steps and timeline</a:t>
            </a:r>
            <a:endParaRPr lang="en-US" sz="3200" dirty="0"/>
          </a:p>
        </p:txBody>
      </p:sp>
      <p:sp>
        <p:nvSpPr>
          <p:cNvPr id="4" name="Shape 1"/>
          <p:cNvSpPr/>
          <p:nvPr/>
        </p:nvSpPr>
        <p:spPr>
          <a:xfrm>
            <a:off x="548640" y="1325880"/>
            <a:ext cx="5410048" cy="1024128"/>
          </a:xfrm>
          <a:prstGeom prst="roundRect">
            <a:avLst>
              <a:gd name="adj" fmla="val 8929"/>
            </a:avLst>
          </a:prstGeom>
          <a:solidFill>
            <a:schemeClr val="bg2"/>
          </a:solidFill>
          <a:ln w="12700">
            <a:solidFill>
              <a:schemeClr val="bg2"/>
            </a:solidFill>
            <a:prstDash val="solid"/>
          </a:ln>
        </p:spPr>
      </p:sp>
      <p:sp>
        <p:nvSpPr>
          <p:cNvPr id="5" name="Shape 2"/>
          <p:cNvSpPr/>
          <p:nvPr/>
        </p:nvSpPr>
        <p:spPr>
          <a:xfrm>
            <a:off x="731520" y="1627632"/>
            <a:ext cx="420624" cy="420624"/>
          </a:xfrm>
          <a:prstGeom prst="ellipse">
            <a:avLst/>
          </a:prstGeom>
          <a:solidFill>
            <a:schemeClr val="accent1"/>
          </a:solidFill>
          <a:ln w="12700">
            <a:solidFill>
              <a:schemeClr val="accent1"/>
            </a:solidFill>
            <a:prstDash val="solid"/>
          </a:ln>
        </p:spPr>
      </p:sp>
      <p:sp>
        <p:nvSpPr>
          <p:cNvPr id="6" name="Text 3"/>
          <p:cNvSpPr txBox="1"/>
          <p:nvPr/>
        </p:nvSpPr>
        <p:spPr>
          <a:xfrm>
            <a:off x="731520" y="162763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325880" y="1417320"/>
            <a:ext cx="4495648" cy="292608"/>
          </a:xfrm>
          <a:prstGeom prst="rect">
            <a:avLst/>
          </a:prstGeom>
          <a:noFill/>
          <a:ln/>
        </p:spPr>
        <p:txBody>
          <a:bodyPr wrap="square" lIns="0" tIns="0" rIns="0" bIns="0" rtlCol="0" anchor="t"/>
          <a:lstStyle/>
          <a:p>
            <a:pPr indent="0" marL="0">
              <a:buNone/>
            </a:pPr>
            <a:r>
              <a:rPr lang="en-US" sz="1450" b="1" dirty="0">
                <a:solidFill>
                  <a:schemeClr val="accent1"/>
                </a:solidFill>
              </a:rPr>
              <a:t>Word resolution metric</a:t>
            </a:r>
            <a:endParaRPr lang="en-US" sz="1450" dirty="0"/>
          </a:p>
        </p:txBody>
      </p:sp>
      <p:sp>
        <p:nvSpPr>
          <p:cNvPr id="8" name="Text 5"/>
          <p:cNvSpPr txBox="1"/>
          <p:nvPr/>
        </p:nvSpPr>
        <p:spPr>
          <a:xfrm>
            <a:off x="1325880" y="1709928"/>
            <a:ext cx="4495648" cy="585216"/>
          </a:xfrm>
          <a:prstGeom prst="rect">
            <a:avLst/>
          </a:prstGeom>
          <a:noFill/>
          <a:ln/>
        </p:spPr>
        <p:txBody>
          <a:bodyPr wrap="square" lIns="0" tIns="0" rIns="0" bIns="0" rtlCol="0" anchor="t"/>
          <a:lstStyle/>
          <a:p>
            <a:pPr indent="0" marL="0">
              <a:buNone/>
            </a:pPr>
            <a:r>
              <a:rPr lang="en-US" sz="1200" dirty="0">
                <a:solidFill>
                  <a:schemeClr val="tx2"/>
                </a:solidFill>
              </a:rPr>
              <a:t>word-level coherence inside a poem, via the macro-dictionary</a:t>
            </a:r>
            <a:endParaRPr lang="en-US" sz="1200" dirty="0"/>
          </a:p>
        </p:txBody>
      </p:sp>
      <p:sp>
        <p:nvSpPr>
          <p:cNvPr id="9" name="Shape 6"/>
          <p:cNvSpPr/>
          <p:nvPr/>
        </p:nvSpPr>
        <p:spPr>
          <a:xfrm>
            <a:off x="548640" y="2459736"/>
            <a:ext cx="5410048" cy="1024128"/>
          </a:xfrm>
          <a:prstGeom prst="roundRect">
            <a:avLst>
              <a:gd name="adj" fmla="val 8929"/>
            </a:avLst>
          </a:prstGeom>
          <a:solidFill>
            <a:schemeClr val="bg2"/>
          </a:solidFill>
          <a:ln w="12700">
            <a:solidFill>
              <a:schemeClr val="bg2"/>
            </a:solidFill>
            <a:prstDash val="solid"/>
          </a:ln>
        </p:spPr>
      </p:sp>
      <p:sp>
        <p:nvSpPr>
          <p:cNvPr id="10" name="Shape 7"/>
          <p:cNvSpPr/>
          <p:nvPr/>
        </p:nvSpPr>
        <p:spPr>
          <a:xfrm>
            <a:off x="731520" y="2761488"/>
            <a:ext cx="420624" cy="420624"/>
          </a:xfrm>
          <a:prstGeom prst="ellipse">
            <a:avLst/>
          </a:prstGeom>
          <a:solidFill>
            <a:schemeClr val="accent1"/>
          </a:solidFill>
          <a:ln w="12700">
            <a:solidFill>
              <a:schemeClr val="accent1"/>
            </a:solidFill>
            <a:prstDash val="solid"/>
          </a:ln>
        </p:spPr>
      </p:sp>
      <p:sp>
        <p:nvSpPr>
          <p:cNvPr id="11" name="Text 8"/>
          <p:cNvSpPr txBox="1"/>
          <p:nvPr/>
        </p:nvSpPr>
        <p:spPr>
          <a:xfrm>
            <a:off x="731520" y="27614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1325880" y="2551176"/>
            <a:ext cx="4495648" cy="292608"/>
          </a:xfrm>
          <a:prstGeom prst="rect">
            <a:avLst/>
          </a:prstGeom>
          <a:noFill/>
          <a:ln/>
        </p:spPr>
        <p:txBody>
          <a:bodyPr wrap="square" lIns="0" tIns="0" rIns="0" bIns="0" rtlCol="0" anchor="t"/>
          <a:lstStyle/>
          <a:p>
            <a:pPr indent="0" marL="0">
              <a:buNone/>
            </a:pPr>
            <a:r>
              <a:rPr lang="en-US" sz="1450" b="1" dirty="0">
                <a:solidFill>
                  <a:schemeClr val="accent1"/>
                </a:solidFill>
              </a:rPr>
              <a:t>Human evaluation</a:t>
            </a:r>
            <a:endParaRPr lang="en-US" sz="1450" dirty="0"/>
          </a:p>
        </p:txBody>
      </p:sp>
      <p:sp>
        <p:nvSpPr>
          <p:cNvPr id="13" name="Text 10"/>
          <p:cNvSpPr txBox="1"/>
          <p:nvPr/>
        </p:nvSpPr>
        <p:spPr>
          <a:xfrm>
            <a:off x="1325880" y="2843784"/>
            <a:ext cx="4495648" cy="585216"/>
          </a:xfrm>
          <a:prstGeom prst="rect">
            <a:avLst/>
          </a:prstGeom>
          <a:noFill/>
          <a:ln/>
        </p:spPr>
        <p:txBody>
          <a:bodyPr wrap="square" lIns="0" tIns="0" rIns="0" bIns="0" rtlCol="0" anchor="t"/>
          <a:lstStyle/>
          <a:p>
            <a:pPr indent="0" marL="0">
              <a:buNone/>
            </a:pPr>
            <a:r>
              <a:rPr lang="en-US" sz="1200" dirty="0">
                <a:solidFill>
                  <a:schemeClr val="tx2"/>
                </a:solidFill>
              </a:rPr>
              <a:t>generated and reference poems; final rubric, frozen test split</a:t>
            </a:r>
            <a:endParaRPr lang="en-US" sz="1200" dirty="0"/>
          </a:p>
        </p:txBody>
      </p:sp>
      <p:sp>
        <p:nvSpPr>
          <p:cNvPr id="14" name="Shape 11"/>
          <p:cNvSpPr/>
          <p:nvPr/>
        </p:nvSpPr>
        <p:spPr>
          <a:xfrm>
            <a:off x="548640" y="3593592"/>
            <a:ext cx="5410048" cy="1024128"/>
          </a:xfrm>
          <a:prstGeom prst="roundRect">
            <a:avLst>
              <a:gd name="adj" fmla="val 8929"/>
            </a:avLst>
          </a:prstGeom>
          <a:solidFill>
            <a:schemeClr val="bg2"/>
          </a:solidFill>
          <a:ln w="12700">
            <a:solidFill>
              <a:schemeClr val="bg2"/>
            </a:solidFill>
            <a:prstDash val="solid"/>
          </a:ln>
        </p:spPr>
      </p:sp>
      <p:sp>
        <p:nvSpPr>
          <p:cNvPr id="15" name="Shape 12"/>
          <p:cNvSpPr/>
          <p:nvPr/>
        </p:nvSpPr>
        <p:spPr>
          <a:xfrm>
            <a:off x="731520" y="3895344"/>
            <a:ext cx="420624" cy="420624"/>
          </a:xfrm>
          <a:prstGeom prst="ellipse">
            <a:avLst/>
          </a:prstGeom>
          <a:solidFill>
            <a:schemeClr val="accent1"/>
          </a:solidFill>
          <a:ln w="12700">
            <a:solidFill>
              <a:schemeClr val="accent1"/>
            </a:solidFill>
            <a:prstDash val="solid"/>
          </a:ln>
        </p:spPr>
      </p:sp>
      <p:sp>
        <p:nvSpPr>
          <p:cNvPr id="16" name="Text 13"/>
          <p:cNvSpPr txBox="1"/>
          <p:nvPr/>
        </p:nvSpPr>
        <p:spPr>
          <a:xfrm>
            <a:off x="731520" y="389534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325880" y="3685032"/>
            <a:ext cx="4495648" cy="292608"/>
          </a:xfrm>
          <a:prstGeom prst="rect">
            <a:avLst/>
          </a:prstGeom>
          <a:noFill/>
          <a:ln/>
        </p:spPr>
        <p:txBody>
          <a:bodyPr wrap="square" lIns="0" tIns="0" rIns="0" bIns="0" rtlCol="0" anchor="t"/>
          <a:lstStyle/>
          <a:p>
            <a:pPr indent="0" marL="0">
              <a:buNone/>
            </a:pPr>
            <a:r>
              <a:rPr lang="en-US" sz="1450" b="1" dirty="0">
                <a:solidFill>
                  <a:schemeClr val="accent1"/>
                </a:solidFill>
              </a:rPr>
              <a:t>Semantic coherence metric</a:t>
            </a:r>
            <a:endParaRPr lang="en-US" sz="1450" dirty="0"/>
          </a:p>
        </p:txBody>
      </p:sp>
      <p:sp>
        <p:nvSpPr>
          <p:cNvPr id="18" name="Text 15"/>
          <p:cNvSpPr txBox="1"/>
          <p:nvPr/>
        </p:nvSpPr>
        <p:spPr>
          <a:xfrm>
            <a:off x="1325880" y="3977640"/>
            <a:ext cx="4495648" cy="585216"/>
          </a:xfrm>
          <a:prstGeom prst="rect">
            <a:avLst/>
          </a:prstGeom>
          <a:noFill/>
          <a:ln/>
        </p:spPr>
        <p:txBody>
          <a:bodyPr wrap="square" lIns="0" tIns="0" rIns="0" bIns="0" rtlCol="0" anchor="t"/>
          <a:lstStyle/>
          <a:p>
            <a:pPr indent="0" marL="0">
              <a:buNone/>
            </a:pPr>
            <a:r>
              <a:rPr lang="en-US" sz="1200" dirty="0">
                <a:solidFill>
                  <a:schemeClr val="tx2"/>
                </a:solidFill>
              </a:rPr>
              <a:t>from the human acceptability judgements, validated against them; learn the euphony-index weights</a:t>
            </a:r>
            <a:endParaRPr lang="en-US" sz="1200" dirty="0"/>
          </a:p>
        </p:txBody>
      </p:sp>
      <p:sp>
        <p:nvSpPr>
          <p:cNvPr id="19" name="Shape 16"/>
          <p:cNvSpPr/>
          <p:nvPr/>
        </p:nvSpPr>
        <p:spPr>
          <a:xfrm>
            <a:off x="548640" y="4727448"/>
            <a:ext cx="5410048" cy="1024128"/>
          </a:xfrm>
          <a:prstGeom prst="roundRect">
            <a:avLst>
              <a:gd name="adj" fmla="val 8929"/>
            </a:avLst>
          </a:prstGeom>
          <a:solidFill>
            <a:schemeClr val="bg2"/>
          </a:solidFill>
          <a:ln w="12700">
            <a:solidFill>
              <a:schemeClr val="bg2"/>
            </a:solidFill>
            <a:prstDash val="solid"/>
          </a:ln>
        </p:spPr>
      </p:sp>
      <p:sp>
        <p:nvSpPr>
          <p:cNvPr id="20" name="Shape 17"/>
          <p:cNvSpPr/>
          <p:nvPr/>
        </p:nvSpPr>
        <p:spPr>
          <a:xfrm>
            <a:off x="731520" y="5029200"/>
            <a:ext cx="420624" cy="420624"/>
          </a:xfrm>
          <a:prstGeom prst="ellipse">
            <a:avLst/>
          </a:prstGeom>
          <a:solidFill>
            <a:schemeClr val="accent1"/>
          </a:solidFill>
          <a:ln w="12700">
            <a:solidFill>
              <a:schemeClr val="accent1"/>
            </a:solidFill>
            <a:prstDash val="solid"/>
          </a:ln>
        </p:spPr>
      </p:sp>
      <p:sp>
        <p:nvSpPr>
          <p:cNvPr id="21" name="Text 18"/>
          <p:cNvSpPr txBox="1"/>
          <p:nvPr/>
        </p:nvSpPr>
        <p:spPr>
          <a:xfrm>
            <a:off x="731520" y="50292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1325880" y="4818888"/>
            <a:ext cx="4495648" cy="292608"/>
          </a:xfrm>
          <a:prstGeom prst="rect">
            <a:avLst/>
          </a:prstGeom>
          <a:noFill/>
          <a:ln/>
        </p:spPr>
        <p:txBody>
          <a:bodyPr wrap="square" lIns="0" tIns="0" rIns="0" bIns="0" rtlCol="0" anchor="t"/>
          <a:lstStyle/>
          <a:p>
            <a:pPr indent="0" marL="0">
              <a:buNone/>
            </a:pPr>
            <a:r>
              <a:rPr lang="en-US" sz="1450" b="1" dirty="0">
                <a:solidFill>
                  <a:schemeClr val="accent1"/>
                </a:solidFill>
              </a:rPr>
              <a:t>Poetry fine-tuning</a:t>
            </a:r>
            <a:endParaRPr lang="en-US" sz="1450" dirty="0"/>
          </a:p>
        </p:txBody>
      </p:sp>
      <p:sp>
        <p:nvSpPr>
          <p:cNvPr id="23" name="Text 20"/>
          <p:cNvSpPr txBox="1"/>
          <p:nvPr/>
        </p:nvSpPr>
        <p:spPr>
          <a:xfrm>
            <a:off x="1325880" y="5111496"/>
            <a:ext cx="4495648" cy="585216"/>
          </a:xfrm>
          <a:prstGeom prst="rect">
            <a:avLst/>
          </a:prstGeom>
          <a:noFill/>
          <a:ln/>
        </p:spPr>
        <p:txBody>
          <a:bodyPr wrap="square" lIns="0" tIns="0" rIns="0" bIns="0" rtlCol="0" anchor="t"/>
          <a:lstStyle/>
          <a:p>
            <a:pPr indent="0" marL="0">
              <a:buNone/>
            </a:pPr>
            <a:r>
              <a:rPr lang="en-US" sz="1200" dirty="0">
                <a:solidFill>
                  <a:schemeClr val="tx2"/>
                </a:solidFill>
              </a:rPr>
              <a:t>the diffusion model on the curated corpus; meaning-to-poem setting and ablations</a:t>
            </a:r>
            <a:endParaRPr lang="en-US" sz="1200" dirty="0"/>
          </a:p>
        </p:txBody>
      </p:sp>
      <p:sp>
        <p:nvSpPr>
          <p:cNvPr id="24" name="Shape 21"/>
          <p:cNvSpPr/>
          <p:nvPr/>
        </p:nvSpPr>
        <p:spPr>
          <a:xfrm>
            <a:off x="6233008" y="1325880"/>
            <a:ext cx="5410048" cy="1024128"/>
          </a:xfrm>
          <a:prstGeom prst="roundRect">
            <a:avLst>
              <a:gd name="adj" fmla="val 8929"/>
            </a:avLst>
          </a:prstGeom>
          <a:solidFill>
            <a:schemeClr val="bg2"/>
          </a:solidFill>
          <a:ln w="12700">
            <a:solidFill>
              <a:schemeClr val="bg2"/>
            </a:solidFill>
            <a:prstDash val="solid"/>
          </a:ln>
        </p:spPr>
      </p:sp>
      <p:sp>
        <p:nvSpPr>
          <p:cNvPr id="25" name="Shape 22"/>
          <p:cNvSpPr/>
          <p:nvPr/>
        </p:nvSpPr>
        <p:spPr>
          <a:xfrm>
            <a:off x="6415888" y="1627632"/>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6415888" y="162763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7010248" y="1417320"/>
            <a:ext cx="4495648" cy="292608"/>
          </a:xfrm>
          <a:prstGeom prst="rect">
            <a:avLst/>
          </a:prstGeom>
          <a:noFill/>
          <a:ln/>
        </p:spPr>
        <p:txBody>
          <a:bodyPr wrap="square" lIns="0" tIns="0" rIns="0" bIns="0" rtlCol="0" anchor="t"/>
          <a:lstStyle/>
          <a:p>
            <a:pPr indent="0" marL="0">
              <a:buNone/>
            </a:pPr>
            <a:r>
              <a:rPr lang="en-US" sz="1450" b="1" dirty="0">
                <a:solidFill>
                  <a:schemeClr val="accent1"/>
                </a:solidFill>
              </a:rPr>
              <a:t>RLVR</a:t>
            </a:r>
            <a:endParaRPr lang="en-US" sz="1450" dirty="0"/>
          </a:p>
        </p:txBody>
      </p:sp>
      <p:sp>
        <p:nvSpPr>
          <p:cNvPr id="28" name="Text 25"/>
          <p:cNvSpPr txBox="1"/>
          <p:nvPr/>
        </p:nvSpPr>
        <p:spPr>
          <a:xfrm>
            <a:off x="7010248" y="1709928"/>
            <a:ext cx="4495648" cy="585216"/>
          </a:xfrm>
          <a:prstGeom prst="rect">
            <a:avLst/>
          </a:prstGeom>
          <a:noFill/>
          <a:ln/>
        </p:spPr>
        <p:txBody>
          <a:bodyPr wrap="square" lIns="0" tIns="0" rIns="0" bIns="0" rtlCol="0" anchor="t"/>
          <a:lstStyle/>
          <a:p>
            <a:pPr indent="0" marL="0">
              <a:buNone/>
            </a:pPr>
            <a:r>
              <a:rPr lang="en-US" sz="1200" dirty="0">
                <a:solidFill>
                  <a:schemeClr val="tx2"/>
                </a:solidFill>
              </a:rPr>
              <a:t>metrical constraints, evaluation suite and coherence metric as verifiable rewards; rejection-sampling and constrained baselines</a:t>
            </a:r>
            <a:endParaRPr lang="en-US" sz="1200" dirty="0"/>
          </a:p>
        </p:txBody>
      </p:sp>
      <p:sp>
        <p:nvSpPr>
          <p:cNvPr id="29" name="Shape 26"/>
          <p:cNvSpPr/>
          <p:nvPr/>
        </p:nvSpPr>
        <p:spPr>
          <a:xfrm>
            <a:off x="6233008" y="2459736"/>
            <a:ext cx="5410048" cy="1024128"/>
          </a:xfrm>
          <a:prstGeom prst="roundRect">
            <a:avLst>
              <a:gd name="adj" fmla="val 8929"/>
            </a:avLst>
          </a:prstGeom>
          <a:solidFill>
            <a:schemeClr val="bg2"/>
          </a:solidFill>
          <a:ln w="12700">
            <a:solidFill>
              <a:schemeClr val="bg2"/>
            </a:solidFill>
            <a:prstDash val="solid"/>
          </a:ln>
        </p:spPr>
      </p:sp>
      <p:sp>
        <p:nvSpPr>
          <p:cNvPr id="30" name="Shape 27"/>
          <p:cNvSpPr/>
          <p:nvPr/>
        </p:nvSpPr>
        <p:spPr>
          <a:xfrm>
            <a:off x="6415888" y="2761488"/>
            <a:ext cx="420624" cy="420624"/>
          </a:xfrm>
          <a:prstGeom prst="ellipse">
            <a:avLst/>
          </a:prstGeom>
          <a:solidFill>
            <a:schemeClr val="accent1"/>
          </a:solidFill>
          <a:ln w="12700">
            <a:solidFill>
              <a:schemeClr val="accent1"/>
            </a:solidFill>
            <a:prstDash val="solid"/>
          </a:ln>
        </p:spPr>
      </p:sp>
      <p:sp>
        <p:nvSpPr>
          <p:cNvPr id="31" name="Text 28"/>
          <p:cNvSpPr txBox="1"/>
          <p:nvPr/>
        </p:nvSpPr>
        <p:spPr>
          <a:xfrm>
            <a:off x="6415888" y="27614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7010248" y="2551176"/>
            <a:ext cx="4495648" cy="292608"/>
          </a:xfrm>
          <a:prstGeom prst="rect">
            <a:avLst/>
          </a:prstGeom>
          <a:noFill/>
          <a:ln/>
        </p:spPr>
        <p:txBody>
          <a:bodyPr wrap="square" lIns="0" tIns="0" rIns="0" bIns="0" rtlCol="0" anchor="t"/>
          <a:lstStyle/>
          <a:p>
            <a:pPr indent="0" marL="0">
              <a:buNone/>
            </a:pPr>
            <a:r>
              <a:rPr lang="en-US" sz="1450" b="1" dirty="0">
                <a:solidFill>
                  <a:schemeClr val="accent1"/>
                </a:solidFill>
              </a:rPr>
              <a:t>Final evaluation</a:t>
            </a:r>
            <a:endParaRPr lang="en-US" sz="1450" dirty="0"/>
          </a:p>
        </p:txBody>
      </p:sp>
      <p:sp>
        <p:nvSpPr>
          <p:cNvPr id="33" name="Text 30"/>
          <p:cNvSpPr txBox="1"/>
          <p:nvPr/>
        </p:nvSpPr>
        <p:spPr>
          <a:xfrm>
            <a:off x="7010248" y="2843784"/>
            <a:ext cx="4495648" cy="585216"/>
          </a:xfrm>
          <a:prstGeom prst="rect">
            <a:avLst/>
          </a:prstGeom>
          <a:noFill/>
          <a:ln/>
        </p:spPr>
        <p:txBody>
          <a:bodyPr wrap="square" lIns="0" tIns="0" rIns="0" bIns="0" rtlCol="0" anchor="t"/>
          <a:lstStyle/>
          <a:p>
            <a:pPr indent="0" marL="0">
              <a:buNone/>
            </a:pPr>
            <a:r>
              <a:rPr lang="en-US" sz="1200" dirty="0">
                <a:solidFill>
                  <a:schemeClr val="tx2"/>
                </a:solidFill>
              </a:rPr>
              <a:t>all systems and the corpus: automatic metrics, MAUVE, human evaluation; automatic vs. human analysis</a:t>
            </a:r>
            <a:endParaRPr lang="en-US" sz="1200" dirty="0"/>
          </a:p>
        </p:txBody>
      </p:sp>
      <p:sp>
        <p:nvSpPr>
          <p:cNvPr id="34" name="Shape 31"/>
          <p:cNvSpPr/>
          <p:nvPr/>
        </p:nvSpPr>
        <p:spPr>
          <a:xfrm>
            <a:off x="6233008" y="3593592"/>
            <a:ext cx="5410048" cy="1024128"/>
          </a:xfrm>
          <a:prstGeom prst="roundRect">
            <a:avLst>
              <a:gd name="adj" fmla="val 8929"/>
            </a:avLst>
          </a:prstGeom>
          <a:solidFill>
            <a:schemeClr val="bg2"/>
          </a:solidFill>
          <a:ln w="12700">
            <a:solidFill>
              <a:schemeClr val="bg2"/>
            </a:solidFill>
            <a:prstDash val="solid"/>
          </a:ln>
        </p:spPr>
      </p:sp>
      <p:sp>
        <p:nvSpPr>
          <p:cNvPr id="35" name="Shape 32"/>
          <p:cNvSpPr/>
          <p:nvPr/>
        </p:nvSpPr>
        <p:spPr>
          <a:xfrm>
            <a:off x="6415888" y="3895344"/>
            <a:ext cx="420624" cy="420624"/>
          </a:xfrm>
          <a:prstGeom prst="ellipse">
            <a:avLst/>
          </a:prstGeom>
          <a:solidFill>
            <a:schemeClr val="accent1"/>
          </a:solidFill>
          <a:ln w="12700">
            <a:solidFill>
              <a:schemeClr val="accent1"/>
            </a:solidFill>
            <a:prstDash val="solid"/>
          </a:ln>
        </p:spPr>
      </p:sp>
      <p:sp>
        <p:nvSpPr>
          <p:cNvPr id="36" name="Text 33"/>
          <p:cNvSpPr txBox="1"/>
          <p:nvPr/>
        </p:nvSpPr>
        <p:spPr>
          <a:xfrm>
            <a:off x="6415888" y="389534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7" name="Text 34"/>
          <p:cNvSpPr txBox="1"/>
          <p:nvPr/>
        </p:nvSpPr>
        <p:spPr>
          <a:xfrm>
            <a:off x="7010248" y="3685032"/>
            <a:ext cx="4495648" cy="292608"/>
          </a:xfrm>
          <a:prstGeom prst="rect">
            <a:avLst/>
          </a:prstGeom>
          <a:noFill/>
          <a:ln/>
        </p:spPr>
        <p:txBody>
          <a:bodyPr wrap="square" lIns="0" tIns="0" rIns="0" bIns="0" rtlCol="0" anchor="t"/>
          <a:lstStyle/>
          <a:p>
            <a:pPr indent="0" marL="0">
              <a:buNone/>
            </a:pPr>
            <a:r>
              <a:rPr lang="en-US" sz="1450" b="1" dirty="0">
                <a:solidFill>
                  <a:schemeClr val="accent1"/>
                </a:solidFill>
              </a:rPr>
              <a:t>Final report and release</a:t>
            </a:r>
            <a:endParaRPr lang="en-US" sz="1450" dirty="0"/>
          </a:p>
        </p:txBody>
      </p:sp>
      <p:sp>
        <p:nvSpPr>
          <p:cNvPr id="38" name="Text 35"/>
          <p:cNvSpPr txBox="1"/>
          <p:nvPr/>
        </p:nvSpPr>
        <p:spPr>
          <a:xfrm>
            <a:off x="7010248" y="3977640"/>
            <a:ext cx="4495648" cy="585216"/>
          </a:xfrm>
          <a:prstGeom prst="rect">
            <a:avLst/>
          </a:prstGeom>
          <a:noFill/>
          <a:ln/>
        </p:spPr>
        <p:txBody>
          <a:bodyPr wrap="square" lIns="0" tIns="0" rIns="0" bIns="0" rtlCol="0" anchor="t"/>
          <a:lstStyle/>
          <a:p>
            <a:pPr indent="0" marL="0">
              <a:buNone/>
            </a:pPr>
            <a:r>
              <a:rPr lang="en-US" sz="1200" dirty="0">
                <a:solidFill>
                  <a:schemeClr val="tx2"/>
                </a:solidFill>
              </a:rPr>
              <a:t>controller, benchmark, evaluation suite, human ratings</a:t>
            </a:r>
            <a:endParaRPr lang="en-US" sz="1200" dirty="0"/>
          </a:p>
        </p:txBody>
      </p:sp>
      <p:sp>
        <p:nvSpPr>
          <p:cNvPr id="39" name="Shape 36"/>
          <p:cNvSpPr/>
          <p:nvPr/>
        </p:nvSpPr>
        <p:spPr>
          <a:xfrm>
            <a:off x="6233008" y="4727448"/>
            <a:ext cx="5410048" cy="1024128"/>
          </a:xfrm>
          <a:prstGeom prst="roundRect">
            <a:avLst>
              <a:gd name="adj" fmla="val 8929"/>
            </a:avLst>
          </a:prstGeom>
          <a:solidFill>
            <a:schemeClr val="accent3"/>
          </a:solidFill>
          <a:ln w="12700">
            <a:solidFill>
              <a:schemeClr val="accent3"/>
            </a:solidFill>
            <a:prstDash val="solid"/>
          </a:ln>
        </p:spPr>
      </p:sp>
      <p:sp>
        <p:nvSpPr>
          <p:cNvPr id="40" name="Text 37"/>
          <p:cNvSpPr txBox="1"/>
          <p:nvPr/>
        </p:nvSpPr>
        <p:spPr>
          <a:xfrm>
            <a:off x="6461608" y="4727448"/>
            <a:ext cx="4952848" cy="1024128"/>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Final paper: 31 October 2026</a:t>
            </a:r>
            <a:endParaRPr lang="en-US" sz="1400" dirty="0"/>
          </a:p>
          <a:p>
            <a:pPr indent="0" marL="0">
              <a:buNone/>
            </a:pPr>
            <a:r>
              <a:rPr lang="en-US" sz="1200" dirty="0">
                <a:solidFill>
                  <a:schemeClr val="bg1"/>
                </a:solidFill>
              </a:rPr>
              <a:t>consolidate the results and release the controller, benchmark, evaluation suite and human ratings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Demonstration: reading Pothana’s opening verse</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685800"/>
                <a:gridCol w="1600200"/>
                <a:gridCol w="1463040"/>
                <a:gridCol w="1463040"/>
                <a:gridCol w="1417320"/>
                <a:gridCol w="1691640"/>
                <a:gridCol w="1600200"/>
                <a:gridCol w="1170432"/>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pāda</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Nirmala UI" pitchFamily="34" charset="0"/>
                          <a:ea typeface="Nirmala UI" pitchFamily="34" charset="-122"/>
                          <a:cs typeface="Nirmala UI" pitchFamily="34" charset="-120"/>
                        </a:rPr>
                        <a:t>మ UUU</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Nirmala UI" pitchFamily="34" charset="0"/>
                          <a:ea typeface="Nirmala UI" pitchFamily="34" charset="-122"/>
                          <a:cs typeface="Nirmala UI" pitchFamily="34" charset="-120"/>
                        </a:rPr>
                        <a:t>స IIU</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Nirmala UI" pitchFamily="34" charset="0"/>
                          <a:ea typeface="Nirmala UI" pitchFamily="34" charset="-122"/>
                          <a:cs typeface="Nirmala UI" pitchFamily="34" charset="-120"/>
                        </a:rPr>
                        <a:t>జ IUI</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Nirmala UI" pitchFamily="34" charset="0"/>
                          <a:ea typeface="Nirmala UI" pitchFamily="34" charset="-122"/>
                          <a:cs typeface="Nirmala UI" pitchFamily="34" charset="-120"/>
                        </a:rPr>
                        <a:t>స IIU</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Nirmala UI" pitchFamily="34" charset="0"/>
                          <a:ea typeface="Nirmala UI" pitchFamily="34" charset="-122"/>
                          <a:cs typeface="Nirmala UI" pitchFamily="34" charset="-120"/>
                        </a:rPr>
                        <a:t>త UUI</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Nirmala UI" pitchFamily="34" charset="0"/>
                          <a:ea typeface="Nirmala UI" pitchFamily="34" charset="-122"/>
                          <a:cs typeface="Nirmala UI" pitchFamily="34" charset="-120"/>
                        </a:rPr>
                        <a:t>త UUI</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c>
                  <a:txBody>
                    <a:bodyPr/>
                    <a:lstStyle/>
                    <a:p>
                      <a:pPr algn="ctr" indent="0" marL="0">
                        <a:buNone/>
                      </a:pPr>
                      <a:r>
                        <a:rPr lang="en-US" sz="1300" b="1" dirty="0">
                          <a:solidFill>
                            <a:srgbClr val="FFFFFF"/>
                          </a:solidFill>
                          <a:latin typeface="Nirmala UI" pitchFamily="34" charset="0"/>
                          <a:ea typeface="Nirmala UI" pitchFamily="34" charset="-122"/>
                          <a:cs typeface="Nirmala UI" pitchFamily="34" charset="-120"/>
                        </a:rPr>
                        <a:t>గ U</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7B2D43"/>
                    </a:solidFill>
                  </a:tcPr>
                </a:tc>
              </a:tr>
              <a:tr h="402336">
                <a:tc>
                  <a:txBody>
                    <a:bodyPr/>
                    <a:lstStyle/>
                    <a:p>
                      <a:pPr algn="l" indent="0" marL="0">
                        <a:buNone/>
                      </a:pPr>
                      <a:r>
                        <a:rPr lang="en-US" sz="1300" b="1" dirty="0">
                          <a:solidFill>
                            <a:srgbClr val="7B2D4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శ్రీ కై వ</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ల్య ప దం</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బుఁ జే రు</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ట కు నై</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చిం తిం చె</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దన్ లో క</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ర</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r>
              <a:tr h="402336">
                <a:tc>
                  <a:txBody>
                    <a:bodyPr/>
                    <a:lstStyle/>
                    <a:p>
                      <a:pPr algn="l" indent="0" marL="0">
                        <a:buNone/>
                      </a:pPr>
                      <a:r>
                        <a:rPr lang="en-US" sz="1300" b="1" dirty="0">
                          <a:solidFill>
                            <a:srgbClr val="7B2D4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క్షై కా రం</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భ కు భ</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క్త పా ల</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న క ళా</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సం రం భ</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కున్ దా న</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వో</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r>
              <a:tr h="402336">
                <a:tc>
                  <a:txBody>
                    <a:bodyPr/>
                    <a:lstStyle/>
                    <a:p>
                      <a:pPr algn="l" indent="0" marL="0">
                        <a:buNone/>
                      </a:pPr>
                      <a:r>
                        <a:rPr lang="en-US" sz="1300" b="1" dirty="0">
                          <a:solidFill>
                            <a:srgbClr val="7B2D43"/>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ద్రే క స్తం</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భ కుఁ గే</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ళి లో ల</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వి ల స</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ద్దృ గ్జా ల</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సం భూ త</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నా</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r>
              <a:tr h="402336">
                <a:tc>
                  <a:txBody>
                    <a:bodyPr/>
                    <a:lstStyle/>
                    <a:p>
                      <a:pPr algn="l" indent="0" marL="0">
                        <a:buNone/>
                      </a:pPr>
                      <a:r>
                        <a:rPr lang="en-US" sz="1300" b="1" dirty="0">
                          <a:solidFill>
                            <a:srgbClr val="7B2D43"/>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నా కం జా</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4EFF1"/>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త భ వాం</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డ కుం భ</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కు మ హా</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నం దాం గ</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నా డిం భ</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192B"/>
                          </a:solidFill>
                          <a:latin typeface="Nirmala UI" pitchFamily="34" charset="0"/>
                          <a:ea typeface="Nirmala UI" pitchFamily="34" charset="-122"/>
                          <a:cs typeface="Nirmala UI" pitchFamily="34" charset="-120"/>
                        </a:rPr>
                        <a:t>కున్</a:t>
                      </a:r>
                      <a:endParaRPr lang="en-US" sz="1300" dirty="0">
                        <a:latin typeface="Nirmala UI" charset="0"/>
                        <a:ea typeface="Nirmala UI" charset="0"/>
                        <a:cs typeface="Nirmala UI" charset="0"/>
                      </a:endParaRPr>
                    </a:p>
                  </a:txBody>
                  <a:tcPr marL="76200" marR="76200" marT="38100" marB="38100" anchor="ctr">
                    <a:lnL w="6350" cap="flat" cmpd="sng" algn="ctr">
                      <a:solidFill>
                        <a:srgbClr val="D9D2D6"/>
                      </a:solidFill>
                      <a:prstDash val="solid"/>
                      <a:round/>
                      <a:headEnd type="none" w="med" len="med"/>
                      <a:tailEnd type="none" w="med" len="med"/>
                    </a:lnL>
                    <a:lnR w="6350" cap="flat" cmpd="sng" algn="ctr">
                      <a:solidFill>
                        <a:srgbClr val="D9D2D6"/>
                      </a:solidFill>
                      <a:prstDash val="solid"/>
                      <a:round/>
                      <a:headEnd type="none" w="med" len="med"/>
                      <a:tailEnd type="none" w="med" len="med"/>
                    </a:lnR>
                    <a:lnT w="6350" cap="flat" cmpd="sng" algn="ctr">
                      <a:solidFill>
                        <a:srgbClr val="D9D2D6"/>
                      </a:solidFill>
                      <a:prstDash val="solid"/>
                      <a:round/>
                      <a:headEnd type="none" w="med" len="med"/>
                      <a:tailEnd type="none" w="med" len="med"/>
                    </a:lnT>
                    <a:lnB w="6350" cap="flat" cmpd="sng" algn="ctr">
                      <a:solidFill>
                        <a:srgbClr val="D9D2D6"/>
                      </a:solidFill>
                      <a:prstDash val="solid"/>
                      <a:round/>
                      <a:headEnd type="none" w="med" len="med"/>
                      <a:tailEnd type="none" w="med" len="med"/>
                    </a:lnB>
                    <a:solidFill>
                      <a:srgbClr val="FFFFFF"/>
                    </a:solidFill>
                  </a:tcPr>
                </a:tc>
              </a:tr>
            </a:tbl>
          </a:graphicData>
        </a:graphic>
      </p:graphicFrame>
      <p:sp>
        <p:nvSpPr>
          <p:cNvPr id="5" name="card metre: śārdūlavikrīḍitamu ✓"/>
          <p:cNvSpPr/>
          <p:nvPr/>
        </p:nvSpPr>
        <p:spPr>
          <a:xfrm>
            <a:off x="548640" y="3474720"/>
            <a:ext cx="3515258" cy="1371600"/>
          </a:xfrm>
          <a:prstGeom prst="roundRect">
            <a:avLst>
              <a:gd name="adj" fmla="val 6667"/>
            </a:avLst>
          </a:prstGeom>
          <a:solidFill>
            <a:schemeClr val="bg2"/>
          </a:solidFill>
          <a:ln w="12700">
            <a:solidFill>
              <a:schemeClr val="bg2"/>
            </a:solidFill>
            <a:prstDash val="solid"/>
          </a:ln>
        </p:spPr>
      </p:sp>
      <p:sp>
        <p:nvSpPr>
          <p:cNvPr id="6" name="Text 2"/>
          <p:cNvSpPr txBox="1"/>
          <p:nvPr/>
        </p:nvSpPr>
        <p:spPr>
          <a:xfrm>
            <a:off x="749808" y="3639312"/>
            <a:ext cx="3131210" cy="384048"/>
          </a:xfrm>
          <a:prstGeom prst="rect">
            <a:avLst/>
          </a:prstGeom>
          <a:noFill/>
          <a:ln/>
        </p:spPr>
        <p:txBody>
          <a:bodyPr wrap="square" lIns="0" tIns="0" rIns="0" bIns="0" rtlCol="0" anchor="t"/>
          <a:lstStyle/>
          <a:p>
            <a:pPr indent="0" marL="0">
              <a:buNone/>
            </a:pPr>
            <a:r>
              <a:rPr lang="en-US" sz="1400" b="1" dirty="0">
                <a:solidFill>
                  <a:schemeClr val="accent1"/>
                </a:solidFill>
              </a:rPr>
              <a:t>metre: śārdūlavikrīḍitamu ✓</a:t>
            </a:r>
            <a:endParaRPr lang="en-US" sz="1400" dirty="0"/>
          </a:p>
        </p:txBody>
      </p:sp>
      <p:sp>
        <p:nvSpPr>
          <p:cNvPr id="7" name="Text 3"/>
          <p:cNvSpPr txBox="1"/>
          <p:nvPr/>
        </p:nvSpPr>
        <p:spPr>
          <a:xfrm>
            <a:off x="749808" y="4059936"/>
            <a:ext cx="3131210" cy="67665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1"/>
                </a:solidFill>
              </a:rPr>
              <a:t>ma sa ja sa ta ta ga, 19 akṣaras</a:t>
            </a:r>
            <a:endParaRPr lang="en-US" sz="1250" dirty="0"/>
          </a:p>
          <a:p>
            <a:pPr marL="342900" indent="-342900">
              <a:spcAft>
                <a:spcPts val="300"/>
              </a:spcAft>
              <a:buSzPct val="100000"/>
              <a:buChar char="•"/>
            </a:pPr>
            <a:r>
              <a:rPr lang="en-US" sz="1250" dirty="0">
                <a:solidFill>
                  <a:schemeClr val="tx1"/>
                </a:solidFill>
              </a:rPr>
              <a:t>pāda-final laghu of line 1 read as guru</a:t>
            </a:r>
            <a:endParaRPr lang="en-US" sz="1250" dirty="0"/>
          </a:p>
        </p:txBody>
      </p:sp>
      <p:sp>
        <p:nvSpPr>
          <p:cNvPr id="8" name="card yati 1 – 13 ✓ in every pāda"/>
          <p:cNvSpPr/>
          <p:nvPr/>
        </p:nvSpPr>
        <p:spPr>
          <a:xfrm>
            <a:off x="4338218" y="3474720"/>
            <a:ext cx="3515258" cy="1371600"/>
          </a:xfrm>
          <a:prstGeom prst="roundRect">
            <a:avLst>
              <a:gd name="adj" fmla="val 6667"/>
            </a:avLst>
          </a:prstGeom>
          <a:solidFill>
            <a:schemeClr val="bg2"/>
          </a:solidFill>
          <a:ln w="12700">
            <a:solidFill>
              <a:schemeClr val="bg2"/>
            </a:solidFill>
            <a:prstDash val="solid"/>
          </a:ln>
        </p:spPr>
      </p:sp>
      <p:sp>
        <p:nvSpPr>
          <p:cNvPr id="9" name="Text 5"/>
          <p:cNvSpPr txBox="1"/>
          <p:nvPr/>
        </p:nvSpPr>
        <p:spPr>
          <a:xfrm>
            <a:off x="4539386" y="3639312"/>
            <a:ext cx="3131210" cy="384048"/>
          </a:xfrm>
          <a:prstGeom prst="rect">
            <a:avLst/>
          </a:prstGeom>
          <a:noFill/>
          <a:ln/>
        </p:spPr>
        <p:txBody>
          <a:bodyPr wrap="square" lIns="0" tIns="0" rIns="0" bIns="0" rtlCol="0" anchor="t"/>
          <a:lstStyle/>
          <a:p>
            <a:pPr indent="0" marL="0">
              <a:buNone/>
            </a:pPr>
            <a:r>
              <a:rPr lang="en-US" sz="1400" b="1" dirty="0">
                <a:solidFill>
                  <a:schemeClr val="accent1"/>
                </a:solidFill>
              </a:rPr>
              <a:t>yati 1 – 13 ✓ in every pāda</a:t>
            </a:r>
            <a:endParaRPr lang="en-US" sz="1400" dirty="0"/>
          </a:p>
        </p:txBody>
      </p:sp>
      <p:sp>
        <p:nvSpPr>
          <p:cNvPr id="10" name="Text 6"/>
          <p:cNvSpPr txBox="1"/>
          <p:nvPr/>
        </p:nvSpPr>
        <p:spPr>
          <a:xfrm>
            <a:off x="4539386" y="4059936"/>
            <a:ext cx="3131210" cy="67665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1"/>
                </a:solidFill>
                <a:latin typeface="Nirmala UI" pitchFamily="34" charset="0"/>
                <a:ea typeface="Nirmala UI" pitchFamily="34" charset="-122"/>
                <a:cs typeface="Nirmala UI" pitchFamily="34" charset="-120"/>
              </a:rPr>
              <a:t>శ్రీ–చిం · క్షై–సం · ద్రే–ద్దృ · నా–నం</a:t>
            </a:r>
            <a:endParaRPr lang="en-US" sz="1250" dirty="0"/>
          </a:p>
          <a:p>
            <a:pPr marL="342900" indent="-342900">
              <a:spcAft>
                <a:spcPts val="300"/>
              </a:spcAft>
              <a:buSzPct val="100000"/>
              <a:buChar char="•"/>
            </a:pPr>
            <a:r>
              <a:rPr lang="en-US" sz="1250" dirty="0">
                <a:solidFill>
                  <a:schemeClr val="tx1"/>
                </a:solidFill>
              </a:rPr>
              <a:t>sound-class matches with the vaḷi</a:t>
            </a:r>
            <a:endParaRPr lang="en-US" sz="1250" dirty="0"/>
          </a:p>
        </p:txBody>
      </p:sp>
      <p:sp>
        <p:nvSpPr>
          <p:cNvPr id="11" name="card prāsa on క ✓"/>
          <p:cNvSpPr/>
          <p:nvPr/>
        </p:nvSpPr>
        <p:spPr>
          <a:xfrm>
            <a:off x="8127797" y="3474720"/>
            <a:ext cx="3515258" cy="1371600"/>
          </a:xfrm>
          <a:prstGeom prst="roundRect">
            <a:avLst>
              <a:gd name="adj" fmla="val 6667"/>
            </a:avLst>
          </a:prstGeom>
          <a:solidFill>
            <a:schemeClr val="bg2"/>
          </a:solidFill>
          <a:ln w="12700">
            <a:solidFill>
              <a:schemeClr val="bg2"/>
            </a:solidFill>
            <a:prstDash val="solid"/>
          </a:ln>
        </p:spPr>
      </p:sp>
      <p:sp>
        <p:nvSpPr>
          <p:cNvPr id="12" name="Text 8"/>
          <p:cNvSpPr txBox="1"/>
          <p:nvPr/>
        </p:nvSpPr>
        <p:spPr>
          <a:xfrm>
            <a:off x="8328965" y="3639312"/>
            <a:ext cx="3131210" cy="384048"/>
          </a:xfrm>
          <a:prstGeom prst="rect">
            <a:avLst/>
          </a:prstGeom>
          <a:noFill/>
          <a:ln/>
        </p:spPr>
        <p:txBody>
          <a:bodyPr wrap="square" lIns="0" tIns="0" rIns="0" bIns="0" rtlCol="0" anchor="t"/>
          <a:lstStyle/>
          <a:p>
            <a:pPr indent="0" marL="0">
              <a:buNone/>
            </a:pPr>
            <a:r>
              <a:rPr lang="en-US" sz="1400" b="1" dirty="0">
                <a:solidFill>
                  <a:schemeClr val="accent1"/>
                </a:solidFill>
              </a:rPr>
              <a:t>prāsa on క ✓</a:t>
            </a:r>
            <a:endParaRPr lang="en-US" sz="1400" dirty="0"/>
          </a:p>
        </p:txBody>
      </p:sp>
      <p:sp>
        <p:nvSpPr>
          <p:cNvPr id="13" name="Text 9"/>
          <p:cNvSpPr txBox="1"/>
          <p:nvPr/>
        </p:nvSpPr>
        <p:spPr>
          <a:xfrm>
            <a:off x="8328965" y="4059936"/>
            <a:ext cx="3131210" cy="67665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1"/>
                </a:solidFill>
                <a:latin typeface="Nirmala UI" pitchFamily="34" charset="0"/>
                <a:ea typeface="Nirmala UI" pitchFamily="34" charset="-122"/>
                <a:cs typeface="Nirmala UI" pitchFamily="34" charset="-120"/>
              </a:rPr>
              <a:t>second akṣara of each pāda: కై · కా · క · కం</a:t>
            </a:r>
            <a:endParaRPr lang="en-US" sz="1250" dirty="0"/>
          </a:p>
        </p:txBody>
      </p:sp>
      <p:sp>
        <p:nvSpPr>
          <p:cNvPr id="14" name="Shape 10"/>
          <p:cNvSpPr/>
          <p:nvPr/>
        </p:nvSpPr>
        <p:spPr>
          <a:xfrm>
            <a:off x="548640" y="5029200"/>
            <a:ext cx="11094415" cy="1234440"/>
          </a:xfrm>
          <a:prstGeom prst="roundRect">
            <a:avLst>
              <a:gd name="adj" fmla="val 7407"/>
            </a:avLst>
          </a:prstGeom>
          <a:solidFill>
            <a:schemeClr val="tx1"/>
          </a:solidFill>
          <a:ln w="12700">
            <a:solidFill>
              <a:schemeClr val="tx1"/>
            </a:solidFill>
            <a:prstDash val="solid"/>
          </a:ln>
        </p:spPr>
      </p:sp>
      <p:sp>
        <p:nvSpPr>
          <p:cNvPr id="15" name="Text 11"/>
          <p:cNvSpPr txBox="1"/>
          <p:nvPr/>
        </p:nvSpPr>
        <p:spPr>
          <a:xfrm>
            <a:off x="822960" y="5120640"/>
            <a:ext cx="10545775" cy="1051560"/>
          </a:xfrm>
          <a:prstGeom prst="rect">
            <a:avLst/>
          </a:prstGeom>
          <a:noFill/>
          <a:ln/>
        </p:spPr>
        <p:txBody>
          <a:bodyPr wrap="square" lIns="0" tIns="0" rIns="0" bIns="0" rtlCol="0" anchor="ctr"/>
          <a:lstStyle/>
          <a:p>
            <a:pPr indent="0" marL="0">
              <a:buNone/>
            </a:pPr>
            <a:r>
              <a:rPr lang="en-US" sz="1250" dirty="0">
                <a:solidFill>
                  <a:schemeClr val="accent2"/>
                </a:solidFill>
                <a:latin typeface="Courier New" pitchFamily="34" charset="0"/>
                <a:ea typeface="Courier New" pitchFamily="34" charset="-122"/>
                <a:cs typeface="Courier New" pitchFamily="34" charset="-120"/>
              </a:rPr>
              <a:t>$ python3 -m chandohasam --file poem.txt</a:t>
            </a:r>
            <a:endParaRPr lang="en-US" sz="1250" dirty="0"/>
          </a:p>
          <a:p>
            <a:pPr indent="0" marL="0">
              <a:buNone/>
            </a:pPr>
            <a:r>
              <a:rPr lang="en-US" sz="1250" dirty="0">
                <a:solidFill>
                  <a:schemeClr val="bg1"/>
                </a:solidFill>
                <a:latin typeface="Nirmala UI" pitchFamily="34" charset="0"/>
                <a:ea typeface="Nirmala UI" pitchFamily="34" charset="-122"/>
                <a:cs typeface="Nirmala UI" pitchFamily="34" charset="-120"/>
              </a:rPr>
              <a:t>metre: శార్దూలవిక్రీడితము (sardulavikriditamu)   ప్రాస ✓   యతి ✓   profile strict</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 python3 -m indic_meter_dawg prefix UUUI</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kandamu/even, kandamu/odd, madhuragati_ragada/all, sardulavikriditamu/all      (28 → 14 → 7 → 4 → 3 → 1 as the prefix grows)</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097280"/>
          </a:xfrm>
          <a:prstGeom prst="rect">
            <a:avLst/>
          </a:prstGeom>
          <a:noFill/>
          <a:ln/>
        </p:spPr>
        <p:txBody>
          <a:bodyPr wrap="square" lIns="0" tIns="0" rIns="0" bIns="0" rtlCol="0"/>
          <a:lstStyle/>
          <a:p>
            <a:pPr algn="l" indent="0" marL="0">
              <a:buNone/>
            </a:pPr>
            <a:r>
              <a:rPr lang="en-US" sz="4800" b="1" dirty="0">
                <a:solidFill>
                  <a:schemeClr val="bg1"/>
                </a:solidFill>
              </a:rPr>
              <a:t>Thank you</a:t>
            </a:r>
            <a:endParaRPr lang="en-US" sz="4800" dirty="0"/>
          </a:p>
        </p:txBody>
      </p:sp>
      <p:sp>
        <p:nvSpPr>
          <p:cNvPr id="3" name="Text 0"/>
          <p:cNvSpPr/>
          <p:nvPr>
            <p:ph idx="101" type="body" hasCustomPrompt="1"/>
          </p:nvPr>
        </p:nvSpPr>
        <p:spPr>
          <a:xfrm>
            <a:off x="731520" y="3383280"/>
            <a:ext cx="10515600" cy="1828800"/>
          </a:xfrm>
          <a:prstGeom prst="rect">
            <a:avLst/>
          </a:prstGeom>
          <a:noFill/>
          <a:ln/>
        </p:spPr>
        <p:txBody>
          <a:bodyPr wrap="square" lIns="0" tIns="0" rIns="0" bIns="0" rtlCol="0"/>
          <a:lstStyle/>
          <a:p>
            <a:pPr algn="l" indent="0" marL="0">
              <a:buNone/>
            </a:pPr>
            <a:r>
              <a:rPr lang="en-US" sz="1800" b="1" dirty="0">
                <a:solidFill>
                  <a:schemeClr val="accent2"/>
                </a:solidFill>
              </a:rPr>
              <a:t>Questions and discussion</a:t>
            </a:r>
            <a:endParaRPr lang="en-US" sz="1800" dirty="0"/>
          </a:p>
          <a:p>
            <a:pPr algn="l" indent="0" marL="0">
              <a:buNone/>
            </a:pPr>
            <a:r>
              <a:rPr lang="en-US" sz="1800" dirty="0">
                <a:solidFill>
                  <a:schemeClr val="accent6"/>
                </a:solidFill>
              </a:rPr>
              <a:t>samvaran.rallabandi · mahesh.emani · radheshyam.s  @research.iiit.ac.in</a:t>
            </a:r>
            <a:endParaRPr lang="en-US" sz="1800" dirty="0"/>
          </a:p>
          <a:p>
            <a:pPr algn="l" indent="0" marL="0">
              <a:buNone/>
            </a:pPr>
            <a:r>
              <a:rPr lang="en-US" sz="1400" dirty="0">
                <a:solidFill>
                  <a:schemeClr val="accent5"/>
                </a:solidFill>
              </a:rPr>
              <a:t>Chandohasam: a deterministic metrical controller, a curated benchmark, a poetry evaluation suite, and a diffusion model that writes one akṣara at a time.</a:t>
            </a:r>
            <a:endParaRPr lang="en-US" sz="1800" dirty="0"/>
          </a:p>
        </p:txBody>
      </p:sp>
      <p:sp>
        <p:nvSpPr>
          <p:cNvPr id="4" name="Text 2"/>
          <p:cNvSpPr txBox="1"/>
          <p:nvPr/>
        </p:nvSpPr>
        <p:spPr>
          <a:xfrm>
            <a:off x="731520" y="1463040"/>
            <a:ext cx="10058400" cy="457200"/>
          </a:xfrm>
          <a:prstGeom prst="rect">
            <a:avLst/>
          </a:prstGeom>
          <a:noFill/>
          <a:ln/>
        </p:spPr>
        <p:txBody>
          <a:bodyPr wrap="square" lIns="0" tIns="0" rIns="0" bIns="0" rtlCol="0" anchor="t"/>
          <a:lstStyle/>
          <a:p>
            <a:pPr indent="0" marL="0">
              <a:buNone/>
            </a:pPr>
            <a:r>
              <a:rPr lang="en-US" sz="2000" spc="400" kern="0" dirty="0">
                <a:solidFill>
                  <a:schemeClr val="accent2"/>
                </a:solidFill>
                <a:latin typeface="Cambria" pitchFamily="34" charset="0"/>
                <a:ea typeface="Cambria" pitchFamily="34" charset="-122"/>
                <a:cs typeface="Cambria" pitchFamily="34" charset="-120"/>
              </a:rPr>
              <a:t>U U U  I I U  I U I  I I U  U U I  U U I  U</a:t>
            </a:r>
            <a:endParaRPr lang="en-US" sz="2000" dirty="0"/>
          </a:p>
        </p:txBody>
      </p:sp>
    </p:spTree>
  </p:cSld>
  <p:clrMapOvr>
    <a:masterClrMapping/>
  </p:clrMapOvr>
</p:sld>
</file>

<file path=ppt/theme/theme1.xml><?xml version="1.0" encoding="utf-8"?>
<a:theme xmlns:a="http://schemas.openxmlformats.org/drawingml/2006/main" name="Chandohasam">
  <a:themeElements>
    <a:clrScheme name="Chandohasam">
      <a:dk1>
        <a:srgbClr val="22192B"/>
      </a:dk1>
      <a:lt1>
        <a:srgbClr val="FFFFFF"/>
      </a:lt1>
      <a:dk2>
        <a:srgbClr val="5C5366"/>
      </a:dk2>
      <a:lt2>
        <a:srgbClr val="F4EFF1"/>
      </a:lt2>
      <a:accent1>
        <a:srgbClr val="7B2D43"/>
      </a:accent1>
      <a:accent2>
        <a:srgbClr val="C8962E"/>
      </a:accent2>
      <a:accent3>
        <a:srgbClr val="2D6E73"/>
      </a:accent3>
      <a:accent4>
        <a:srgbClr val="B9607A"/>
      </a:accent4>
      <a:accent5>
        <a:srgbClr val="8E8797"/>
      </a:accent5>
      <a:accent6>
        <a:srgbClr val="E9D9DF"/>
      </a:accent6>
      <a:hlink>
        <a:srgbClr val="2D6E73"/>
      </a:hlink>
      <a:folHlink>
        <a:srgbClr val="7B2D43"/>
      </a:folHlink>
    </a:clrScheme>
    <a:fontScheme name="Chandohasa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Chandohasam: progress seminar</dc:title>
  <dc:subject>PptxGenJS Presentation</dc:subject>
  <dc:creator>Samvaran Kashyap Rallabandi</dc:creator>
  <cp:lastModifiedBy>Samvaran Kashyap Rallabandi</cp:lastModifiedBy>
  <cp:revision>1</cp:revision>
  <dcterms:created xsi:type="dcterms:W3CDTF">2026-10-06T05:50:13Z</dcterms:created>
  <dcterms:modified xsi:type="dcterms:W3CDTF">2026-10-06T05:50:13Z</dcterms:modified>
</cp:coreProperties>
</file>